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84" r:id="rId3"/>
    <p:sldId id="285" r:id="rId4"/>
    <p:sldId id="257" r:id="rId5"/>
    <p:sldId id="302" r:id="rId6"/>
    <p:sldId id="286" r:id="rId7"/>
    <p:sldId id="258" r:id="rId8"/>
    <p:sldId id="259" r:id="rId9"/>
    <p:sldId id="260" r:id="rId10"/>
    <p:sldId id="261" r:id="rId11"/>
    <p:sldId id="289" r:id="rId12"/>
    <p:sldId id="290" r:id="rId13"/>
    <p:sldId id="291" r:id="rId14"/>
    <p:sldId id="292" r:id="rId15"/>
    <p:sldId id="297" r:id="rId16"/>
    <p:sldId id="287" r:id="rId17"/>
    <p:sldId id="293" r:id="rId18"/>
    <p:sldId id="298" r:id="rId19"/>
    <p:sldId id="294" r:id="rId20"/>
    <p:sldId id="299" r:id="rId21"/>
    <p:sldId id="295" r:id="rId22"/>
    <p:sldId id="301" r:id="rId23"/>
    <p:sldId id="300" r:id="rId24"/>
    <p:sldId id="296" r:id="rId25"/>
    <p:sldId id="288" r:id="rId26"/>
    <p:sldId id="264" r:id="rId27"/>
    <p:sldId id="270" r:id="rId28"/>
    <p:sldId id="271" r:id="rId29"/>
    <p:sldId id="274" r:id="rId30"/>
    <p:sldId id="275" r:id="rId31"/>
    <p:sldId id="276" r:id="rId32"/>
    <p:sldId id="272" r:id="rId33"/>
    <p:sldId id="277" r:id="rId34"/>
    <p:sldId id="278" r:id="rId35"/>
    <p:sldId id="279" r:id="rId36"/>
    <p:sldId id="273" r:id="rId37"/>
    <p:sldId id="280" r:id="rId38"/>
    <p:sldId id="281" r:id="rId39"/>
    <p:sldId id="282" r:id="rId40"/>
    <p:sldId id="269" r:id="rId41"/>
    <p:sldId id="283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AB2516-5919-3341-B172-52782DD1B01E}" type="datetimeFigureOut">
              <a:rPr lang="en-US" smtClean="0"/>
              <a:t>11/11/19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6F51C4-479D-E14A-9888-CB1EFC3F8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831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F51C4-479D-E14A-9888-CB1EFC3F86F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0202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F51C4-479D-E14A-9888-CB1EFC3F86F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37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7E493-83FA-C44D-9C46-DF77ABBA2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CD7B51-D619-1E48-AFA9-81576E327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FA177-4551-754F-987E-92D1B2FA3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FB0E-9E39-1F4B-B1CA-999922E9CF1A}" type="datetimeFigureOut">
              <a:rPr lang="en-US" smtClean="0"/>
              <a:t>11/11/19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8A5E1-8F72-9F4D-97C8-129FA0261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80D06-89AA-E74F-814C-ED982723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91C8-C74F-2A48-8F3A-5D6B6F80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321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5A8C8-5205-6B4B-8683-9DBBD3AF1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2627E-9BFE-AF44-948A-5BBFE20CE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8D3CE-7031-BC4D-83F9-C82C9FA68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FB0E-9E39-1F4B-B1CA-999922E9CF1A}" type="datetimeFigureOut">
              <a:rPr lang="en-US" smtClean="0"/>
              <a:t>11/11/19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9193A-901C-BD44-992D-9EFB6C333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04E1E-E546-3F40-88A7-A18504528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91C8-C74F-2A48-8F3A-5D6B6F80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86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541EE-8AE4-5D47-A54C-1429FBE3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CDFD1-166C-614C-936F-03A66D5D3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5E2D1-5143-334D-A2BD-362DB0E48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FB0E-9E39-1F4B-B1CA-999922E9CF1A}" type="datetimeFigureOut">
              <a:rPr lang="en-US" smtClean="0"/>
              <a:t>11/11/19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90448-069A-394D-999C-E0157C952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8D0D6-8292-FA4F-9E3F-F1E42401E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91C8-C74F-2A48-8F3A-5D6B6F80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537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2E608-5656-B348-888D-82E092F6E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EE14F-6B8A-B541-93A3-AE244799E2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750483-6782-0A45-88C1-6DDB46B1A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0A159-1FBA-2543-BB5C-697069258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FB0E-9E39-1F4B-B1CA-999922E9CF1A}" type="datetimeFigureOut">
              <a:rPr lang="en-US" smtClean="0"/>
              <a:t>11/11/19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8B602-EE08-C248-B93C-CA4129BE9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0DD0B-A713-AC48-81E6-0DD1AFED7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91C8-C74F-2A48-8F3A-5D6B6F80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17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0D8C0-43FC-1D48-88DD-F8BF3A807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D8E3B-2D97-5446-9223-B3B352D99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C4FF3-042E-6B42-90EB-68AD0CE52A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65501B-2717-2142-A6A4-F2B2A0FECD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AE23F-A75F-5047-9328-5A6C01BDAF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D3159C-069F-514B-8E9D-5824EAD9A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FB0E-9E39-1F4B-B1CA-999922E9CF1A}" type="datetimeFigureOut">
              <a:rPr lang="en-US" smtClean="0"/>
              <a:t>11/11/19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0FAE9-500F-D441-9A97-4EB6C55A5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8FB320-5715-254E-B874-DB6A69D0F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91C8-C74F-2A48-8F3A-5D6B6F80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31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82F28-0DDB-D240-A3D9-41625A9E7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929725-7FB5-0747-A662-0551B6C62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FB0E-9E39-1F4B-B1CA-999922E9CF1A}" type="datetimeFigureOut">
              <a:rPr lang="en-US" smtClean="0"/>
              <a:t>11/11/19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FE0FE-1E8B-534C-93AF-7BDEC3DF0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30DEFB-8213-2F42-8304-D3D294636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91C8-C74F-2A48-8F3A-5D6B6F80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67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0BC38E-C4C9-8145-8F11-4FCFFB04E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FB0E-9E39-1F4B-B1CA-999922E9CF1A}" type="datetimeFigureOut">
              <a:rPr lang="en-US" smtClean="0"/>
              <a:t>11/11/19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9D3D2C-D08E-DC42-A19D-42A53E397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4E2A6-F89C-DC4A-A3FE-94A38CBBA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91C8-C74F-2A48-8F3A-5D6B6F80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14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D6D61-9900-1149-8938-7FF4E1B7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E6FDF-6D88-F44F-A8C7-EE5787D9F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E228A7-38C2-D84F-82D8-82EA55A530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455587-E978-7D42-8504-96EA4AB53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FB0E-9E39-1F4B-B1CA-999922E9CF1A}" type="datetimeFigureOut">
              <a:rPr lang="en-US" smtClean="0"/>
              <a:t>11/11/19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235E9A-9B2D-6F47-9EB3-6175A6568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E0664-2947-8349-8AA8-BD2AD3C8D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91C8-C74F-2A48-8F3A-5D6B6F80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399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F9188-8845-3B49-933D-9A61D6EB5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9B1C7B-D363-E447-AE4D-4054F1E4F6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67EEB4-62E1-1D4F-B7F9-06FD45EF2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60CC4-A457-154B-920A-109C40272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FB0E-9E39-1F4B-B1CA-999922E9CF1A}" type="datetimeFigureOut">
              <a:rPr lang="en-US" smtClean="0"/>
              <a:t>11/11/19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0A8BC-B78C-F54E-A664-8B675D356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9632D1-A66D-E940-9542-341E676F4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91C8-C74F-2A48-8F3A-5D6B6F80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924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D3725-EE50-9245-B0B6-FAABFCED2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0E8517-340F-2144-BC4B-5A3275992E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74BD4-2F7D-D147-870A-A2F731579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FB0E-9E39-1F4B-B1CA-999922E9CF1A}" type="datetimeFigureOut">
              <a:rPr lang="en-US" smtClean="0"/>
              <a:t>11/11/19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DFAA7-4132-9E45-AD7E-1A9C33E6B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4270F-6F5D-514E-BDC9-B759D8A50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91C8-C74F-2A48-8F3A-5D6B6F80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527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0FA73E-91D8-9B4C-9DBC-17406257ED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156BF6-ACB3-6E4F-AF18-799F2EA8C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3B4FD-12D7-5B49-9CC9-B33EE7E34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FB0E-9E39-1F4B-B1CA-999922E9CF1A}" type="datetimeFigureOut">
              <a:rPr lang="en-US" smtClean="0"/>
              <a:t>11/11/19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D7825-E983-C94C-A135-A32E8E35C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D170C-A2B9-D64C-AA08-E10429D2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91C8-C74F-2A48-8F3A-5D6B6F80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378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195210-3E35-2446-81D1-D553ECB0B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B25BE-1434-BD4C-BF7A-C9E5B0F06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6C37A-6DFA-E940-A84C-78FCF26FB8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1FB0E-9E39-1F4B-B1CA-999922E9CF1A}" type="datetimeFigureOut">
              <a:rPr lang="en-US" smtClean="0"/>
              <a:t>11/11/19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6CD46-BA29-FF48-8173-0B2AF21E6D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ED81B-AEFE-0A4E-8110-D69B8252BF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291C8-C74F-2A48-8F3A-5D6B6F80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375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technology.optum.com/landscape=container-management,orchestration-engine,container-platform,paa-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technology.optum.com/landscape=container-management,orchestration-engine,container-platform,paa-s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A5163-1076-704F-A0FC-A14ECDFEB3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Cloud</a:t>
            </a:r>
            <a:br>
              <a:rPr lang="en-US" dirty="0"/>
            </a:br>
            <a:r>
              <a:rPr lang="en-US" dirty="0"/>
              <a:t>at 30,000 ft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B3E44A-C026-7E4D-A862-E75FD839CD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721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Eric Starr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838200" y="1391069"/>
            <a:ext cx="5287473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DevOps Architect &amp; </a:t>
            </a:r>
          </a:p>
          <a:p>
            <a:r>
              <a:rPr lang="en-US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	</a:t>
            </a:r>
            <a:r>
              <a:rPr lang="en-U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DevOps Evangelist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05C00C-A31E-4843-9415-3F7E7F3984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6323" y="3008649"/>
            <a:ext cx="1891226" cy="2520132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9BBEB1-C236-4E43-9ECF-CB882DD585BA}"/>
              </a:ext>
            </a:extLst>
          </p:cNvPr>
          <p:cNvSpPr/>
          <p:nvPr/>
        </p:nvSpPr>
        <p:spPr>
          <a:xfrm>
            <a:off x="4702539" y="3008649"/>
            <a:ext cx="5907258" cy="31085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Senior Principal Engineer (TLCP)</a:t>
            </a:r>
          </a:p>
          <a:p>
            <a:endParaRPr lang="en-US" sz="2800" dirty="0"/>
          </a:p>
          <a:p>
            <a:r>
              <a:rPr lang="en-US" sz="2800" dirty="0"/>
              <a:t>Primary Focus:</a:t>
            </a:r>
          </a:p>
          <a:p>
            <a:pPr lvl="1"/>
            <a:r>
              <a:rPr lang="en-US" sz="2800" dirty="0"/>
              <a:t>To help Agile Coaches learn DevOps </a:t>
            </a:r>
          </a:p>
          <a:p>
            <a:pPr lvl="1"/>
            <a:r>
              <a:rPr lang="en-US" sz="2800" dirty="0"/>
              <a:t>Basics and how to help their</a:t>
            </a:r>
          </a:p>
          <a:p>
            <a:pPr lvl="1"/>
            <a:r>
              <a:rPr lang="en-US" sz="2800" dirty="0"/>
              <a:t>Application teams achieve maturity </a:t>
            </a:r>
          </a:p>
          <a:p>
            <a:pPr lvl="1"/>
            <a:r>
              <a:rPr lang="en-US" sz="2800" dirty="0"/>
              <a:t>in their CICD pipelines.</a:t>
            </a:r>
          </a:p>
        </p:txBody>
      </p:sp>
    </p:spTree>
    <p:extLst>
      <p:ext uri="{BB962C8B-B14F-4D97-AF65-F5344CB8AC3E}">
        <p14:creationId xmlns:p14="http://schemas.microsoft.com/office/powerpoint/2010/main" val="426433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at 30k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003B-62D4-254F-AF2B-432C77BA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	</a:t>
            </a:r>
          </a:p>
          <a:p>
            <a:r>
              <a:rPr lang="en-US" dirty="0"/>
              <a:t>DevOpsAt50k.pptx</a:t>
            </a:r>
          </a:p>
          <a:p>
            <a:endParaRPr lang="en-US" dirty="0"/>
          </a:p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Other</a:t>
            </a:r>
          </a:p>
          <a:p>
            <a:pPr lvl="1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DevOps-SecurityAt30k.pptx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838200" y="1229023"/>
            <a:ext cx="41971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Pre-Requisites</a:t>
            </a:r>
          </a:p>
        </p:txBody>
      </p:sp>
    </p:spTree>
    <p:extLst>
      <p:ext uri="{BB962C8B-B14F-4D97-AF65-F5344CB8AC3E}">
        <p14:creationId xmlns:p14="http://schemas.microsoft.com/office/powerpoint/2010/main" val="2414517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30155-D26A-A044-B15B-420E301CE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Agree?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C091A-A73C-EF4E-966B-E7B2AED7A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Premise #1</a:t>
            </a:r>
            <a:r>
              <a:rPr lang="en-US" sz="7200" dirty="0"/>
              <a:t>:</a:t>
            </a:r>
          </a:p>
          <a:p>
            <a:pPr marL="0" indent="0">
              <a:buNone/>
            </a:pPr>
            <a:r>
              <a:rPr lang="en-US" sz="7200" dirty="0"/>
              <a:t>	</a:t>
            </a:r>
            <a:r>
              <a:rPr lang="en-US" sz="6000" i="1" dirty="0">
                <a:latin typeface="Cambria" panose="02040503050406030204" pitchFamily="18" charset="0"/>
                <a:ea typeface="Ayuthaya" pitchFamily="2" charset="-34"/>
                <a:cs typeface="Ayuthaya" pitchFamily="2" charset="-34"/>
              </a:rPr>
              <a:t>Continuously Delivering Applications to servers that often crash should be avoided!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61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30155-D26A-A044-B15B-420E301CE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Agree?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C091A-A73C-EF4E-966B-E7B2AED7A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Premise #2</a:t>
            </a:r>
            <a:r>
              <a:rPr lang="en-US" sz="7200" dirty="0"/>
              <a:t>:</a:t>
            </a:r>
          </a:p>
          <a:p>
            <a:pPr marL="0" indent="0">
              <a:buNone/>
            </a:pPr>
            <a:r>
              <a:rPr lang="en-US" sz="7200" dirty="0"/>
              <a:t>	</a:t>
            </a:r>
            <a:r>
              <a:rPr lang="en-US" sz="6000" i="1" dirty="0">
                <a:latin typeface="Cambria" panose="02040503050406030204" pitchFamily="18" charset="0"/>
                <a:ea typeface="Ayuthaya" pitchFamily="2" charset="-34"/>
                <a:cs typeface="Ayuthaya" pitchFamily="2" charset="-34"/>
              </a:rPr>
              <a:t>Everything is Going to the Cloud!</a:t>
            </a:r>
          </a:p>
        </p:txBody>
      </p:sp>
    </p:spTree>
    <p:extLst>
      <p:ext uri="{BB962C8B-B14F-4D97-AF65-F5344CB8AC3E}">
        <p14:creationId xmlns:p14="http://schemas.microsoft.com/office/powerpoint/2010/main" val="410406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at 30k –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003B-62D4-254F-AF2B-432C77BA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	</a:t>
            </a:r>
          </a:p>
          <a:p>
            <a:r>
              <a:rPr lang="en-US" dirty="0"/>
              <a:t>Reminder of a Pipeline</a:t>
            </a:r>
          </a:p>
          <a:p>
            <a:r>
              <a:rPr lang="en-US" dirty="0"/>
              <a:t>Infrastructure</a:t>
            </a:r>
          </a:p>
          <a:p>
            <a:r>
              <a:rPr lang="en-US" dirty="0"/>
              <a:t>Our Data Center or Theirs</a:t>
            </a:r>
          </a:p>
          <a:p>
            <a:r>
              <a:rPr lang="en-US" dirty="0"/>
              <a:t>Enterprise PADU</a:t>
            </a:r>
          </a:p>
          <a:p>
            <a:r>
              <a:rPr lang="en-US" dirty="0"/>
              <a:t>Azure Over AWS Over Google</a:t>
            </a:r>
          </a:p>
          <a:p>
            <a:r>
              <a:rPr lang="en-US" dirty="0"/>
              <a:t>What is Kubernetes</a:t>
            </a:r>
          </a:p>
          <a:p>
            <a:r>
              <a:rPr lang="en-US" dirty="0"/>
              <a:t>What is OpenShift</a:t>
            </a:r>
          </a:p>
          <a:p>
            <a:r>
              <a:rPr lang="en-US" dirty="0"/>
              <a:t>Kubernetes Over OpenShift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838200" y="1229023"/>
            <a:ext cx="23092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02942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003B-62D4-254F-AF2B-432C77BA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“The Shortest Distance Between Any Two Points is a Straight Line”</a:t>
            </a:r>
          </a:p>
          <a:p>
            <a:pPr marL="0" indent="0">
              <a:buNone/>
            </a:pPr>
            <a:r>
              <a:rPr lang="en-US" dirty="0"/>
              <a:t>Archimedes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ECC3A49-B4AD-1549-965B-ACDA39B42790}"/>
              </a:ext>
            </a:extLst>
          </p:cNvPr>
          <p:cNvGrpSpPr/>
          <p:nvPr/>
        </p:nvGrpSpPr>
        <p:grpSpPr>
          <a:xfrm>
            <a:off x="1626927" y="3902440"/>
            <a:ext cx="914400" cy="2538207"/>
            <a:chOff x="1849348" y="3544094"/>
            <a:chExt cx="914400" cy="253820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7736FB1-1665-1D40-A9A0-8E4818576D88}"/>
                </a:ext>
              </a:extLst>
            </p:cNvPr>
            <p:cNvSpPr/>
            <p:nvPr/>
          </p:nvSpPr>
          <p:spPr>
            <a:xfrm>
              <a:off x="1849348" y="3544094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4F6FB02-B7FB-CD45-B7B2-B6DBA3F3A7EE}"/>
                </a:ext>
              </a:extLst>
            </p:cNvPr>
            <p:cNvCxnSpPr>
              <a:stCxn id="4" idx="4"/>
            </p:cNvCxnSpPr>
            <p:nvPr/>
          </p:nvCxnSpPr>
          <p:spPr>
            <a:xfrm>
              <a:off x="2306548" y="4458494"/>
              <a:ext cx="5137" cy="9559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886C4D3-7A54-FB44-BCD9-FE49EDD31C5E}"/>
                </a:ext>
              </a:extLst>
            </p:cNvPr>
            <p:cNvCxnSpPr/>
            <p:nvPr/>
          </p:nvCxnSpPr>
          <p:spPr>
            <a:xfrm>
              <a:off x="2306548" y="5414481"/>
              <a:ext cx="375007" cy="6678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D3EEA3A-93D9-0849-9888-3032A2E92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6678" y="5415578"/>
              <a:ext cx="354886" cy="6667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7FE54D-70A9-A24F-8753-1352F2DF3D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907" y="4829197"/>
              <a:ext cx="6346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7E955C8-B846-C741-B5CC-018616DC9188}"/>
                </a:ext>
              </a:extLst>
            </p:cNvPr>
            <p:cNvSpPr/>
            <p:nvPr/>
          </p:nvSpPr>
          <p:spPr>
            <a:xfrm>
              <a:off x="202268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9FCEF9E-FC7B-0049-8401-459D91E6DDDB}"/>
                </a:ext>
              </a:extLst>
            </p:cNvPr>
            <p:cNvSpPr/>
            <p:nvPr/>
          </p:nvSpPr>
          <p:spPr>
            <a:xfrm>
              <a:off x="240261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6BE06BA-9B19-674A-8B56-9B50F8C9A807}"/>
                </a:ext>
              </a:extLst>
            </p:cNvPr>
            <p:cNvSpPr/>
            <p:nvPr/>
          </p:nvSpPr>
          <p:spPr>
            <a:xfrm>
              <a:off x="197696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E35833F-303F-D546-B497-417AA4DFC346}"/>
                </a:ext>
              </a:extLst>
            </p:cNvPr>
            <p:cNvSpPr/>
            <p:nvPr/>
          </p:nvSpPr>
          <p:spPr>
            <a:xfrm>
              <a:off x="235689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FCC1284-DB95-DB4B-864C-A3397B158561}"/>
                </a:ext>
              </a:extLst>
            </p:cNvPr>
            <p:cNvCxnSpPr>
              <a:stCxn id="15" idx="6"/>
              <a:endCxn id="16" idx="2"/>
            </p:cNvCxnSpPr>
            <p:nvPr/>
          </p:nvCxnSpPr>
          <p:spPr>
            <a:xfrm>
              <a:off x="2251281" y="3909854"/>
              <a:ext cx="10561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754CA2E-0404-A74A-BA8A-04610367E8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8107" y="3818414"/>
              <a:ext cx="108714" cy="77811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5DE3327-2E10-0040-B79E-E5A5DC9A6468}"/>
                </a:ext>
              </a:extLst>
            </p:cNvPr>
            <p:cNvCxnSpPr>
              <a:cxnSpLocks/>
            </p:cNvCxnSpPr>
            <p:nvPr/>
          </p:nvCxnSpPr>
          <p:spPr>
            <a:xfrm>
              <a:off x="1861057" y="3793841"/>
              <a:ext cx="115904" cy="9143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095FF9B-696F-7540-A8E8-58433FB2781D}"/>
                </a:ext>
              </a:extLst>
            </p:cNvPr>
            <p:cNvSpPr/>
            <p:nvPr/>
          </p:nvSpPr>
          <p:spPr>
            <a:xfrm>
              <a:off x="2431057" y="3869216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F685CD7-A056-5D42-8CD1-10B73AEBEB6D}"/>
                </a:ext>
              </a:extLst>
            </p:cNvPr>
            <p:cNvSpPr/>
            <p:nvPr/>
          </p:nvSpPr>
          <p:spPr>
            <a:xfrm>
              <a:off x="2062706" y="388528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761289" y="3065849"/>
            <a:ext cx="30775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Developer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F4E97DD-61C5-0149-BE48-D235C3271EA1}"/>
              </a:ext>
            </a:extLst>
          </p:cNvPr>
          <p:cNvSpPr/>
          <p:nvPr/>
        </p:nvSpPr>
        <p:spPr>
          <a:xfrm>
            <a:off x="8612658" y="4225726"/>
            <a:ext cx="2496065" cy="20861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Most Amazing Application in the World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7A5AA5-B012-5B44-84EA-D045B855CCA9}"/>
              </a:ext>
            </a:extLst>
          </p:cNvPr>
          <p:cNvSpPr/>
          <p:nvPr/>
        </p:nvSpPr>
        <p:spPr>
          <a:xfrm>
            <a:off x="8174951" y="3065849"/>
            <a:ext cx="32801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Production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F22A553-4A07-5D47-A50B-9D715B55E833}"/>
              </a:ext>
            </a:extLst>
          </p:cNvPr>
          <p:cNvCxnSpPr>
            <a:cxnSpLocks/>
          </p:cNvCxnSpPr>
          <p:nvPr/>
        </p:nvCxnSpPr>
        <p:spPr>
          <a:xfrm>
            <a:off x="2891481" y="5029200"/>
            <a:ext cx="1322173" cy="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5F6F197-8CD8-AA4E-A0CE-45DDCD6DBB35}"/>
              </a:ext>
            </a:extLst>
          </p:cNvPr>
          <p:cNvSpPr txBox="1"/>
          <p:nvPr/>
        </p:nvSpPr>
        <p:spPr>
          <a:xfrm>
            <a:off x="2891481" y="4407734"/>
            <a:ext cx="5066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delivering</a:t>
            </a:r>
          </a:p>
        </p:txBody>
      </p:sp>
    </p:spTree>
    <p:extLst>
      <p:ext uri="{BB962C8B-B14F-4D97-AF65-F5344CB8AC3E}">
        <p14:creationId xmlns:p14="http://schemas.microsoft.com/office/powerpoint/2010/main" val="3179475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003B-62D4-254F-AF2B-432C77BA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“The Shortest Distance Between Any Two Points is a Straight Line”</a:t>
            </a:r>
          </a:p>
          <a:p>
            <a:pPr marL="0" indent="0">
              <a:buNone/>
            </a:pPr>
            <a:r>
              <a:rPr lang="en-US" dirty="0"/>
              <a:t>Archimedes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ECC3A49-B4AD-1549-965B-ACDA39B42790}"/>
              </a:ext>
            </a:extLst>
          </p:cNvPr>
          <p:cNvGrpSpPr/>
          <p:nvPr/>
        </p:nvGrpSpPr>
        <p:grpSpPr>
          <a:xfrm>
            <a:off x="1626927" y="3902440"/>
            <a:ext cx="914400" cy="2538207"/>
            <a:chOff x="1849348" y="3544094"/>
            <a:chExt cx="914400" cy="253820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7736FB1-1665-1D40-A9A0-8E4818576D88}"/>
                </a:ext>
              </a:extLst>
            </p:cNvPr>
            <p:cNvSpPr/>
            <p:nvPr/>
          </p:nvSpPr>
          <p:spPr>
            <a:xfrm>
              <a:off x="1849348" y="3544094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4F6FB02-B7FB-CD45-B7B2-B6DBA3F3A7EE}"/>
                </a:ext>
              </a:extLst>
            </p:cNvPr>
            <p:cNvCxnSpPr>
              <a:stCxn id="4" idx="4"/>
            </p:cNvCxnSpPr>
            <p:nvPr/>
          </p:nvCxnSpPr>
          <p:spPr>
            <a:xfrm>
              <a:off x="2306548" y="4458494"/>
              <a:ext cx="5137" cy="9559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886C4D3-7A54-FB44-BCD9-FE49EDD31C5E}"/>
                </a:ext>
              </a:extLst>
            </p:cNvPr>
            <p:cNvCxnSpPr/>
            <p:nvPr/>
          </p:nvCxnSpPr>
          <p:spPr>
            <a:xfrm>
              <a:off x="2306548" y="5414481"/>
              <a:ext cx="375007" cy="6678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D3EEA3A-93D9-0849-9888-3032A2E92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6678" y="5415578"/>
              <a:ext cx="354886" cy="6667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7FE54D-70A9-A24F-8753-1352F2DF3D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907" y="4829197"/>
              <a:ext cx="6346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7E955C8-B846-C741-B5CC-018616DC9188}"/>
                </a:ext>
              </a:extLst>
            </p:cNvPr>
            <p:cNvSpPr/>
            <p:nvPr/>
          </p:nvSpPr>
          <p:spPr>
            <a:xfrm>
              <a:off x="202268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9FCEF9E-FC7B-0049-8401-459D91E6DDDB}"/>
                </a:ext>
              </a:extLst>
            </p:cNvPr>
            <p:cNvSpPr/>
            <p:nvPr/>
          </p:nvSpPr>
          <p:spPr>
            <a:xfrm>
              <a:off x="240261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6BE06BA-9B19-674A-8B56-9B50F8C9A807}"/>
                </a:ext>
              </a:extLst>
            </p:cNvPr>
            <p:cNvSpPr/>
            <p:nvPr/>
          </p:nvSpPr>
          <p:spPr>
            <a:xfrm>
              <a:off x="197696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E35833F-303F-D546-B497-417AA4DFC346}"/>
                </a:ext>
              </a:extLst>
            </p:cNvPr>
            <p:cNvSpPr/>
            <p:nvPr/>
          </p:nvSpPr>
          <p:spPr>
            <a:xfrm>
              <a:off x="235689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FCC1284-DB95-DB4B-864C-A3397B158561}"/>
                </a:ext>
              </a:extLst>
            </p:cNvPr>
            <p:cNvCxnSpPr>
              <a:stCxn id="15" idx="6"/>
              <a:endCxn id="16" idx="2"/>
            </p:cNvCxnSpPr>
            <p:nvPr/>
          </p:nvCxnSpPr>
          <p:spPr>
            <a:xfrm>
              <a:off x="2251281" y="3909854"/>
              <a:ext cx="10561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754CA2E-0404-A74A-BA8A-04610367E8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8107" y="3818414"/>
              <a:ext cx="108714" cy="77811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5DE3327-2E10-0040-B79E-E5A5DC9A6468}"/>
                </a:ext>
              </a:extLst>
            </p:cNvPr>
            <p:cNvCxnSpPr>
              <a:cxnSpLocks/>
            </p:cNvCxnSpPr>
            <p:nvPr/>
          </p:nvCxnSpPr>
          <p:spPr>
            <a:xfrm>
              <a:off x="1861057" y="3793841"/>
              <a:ext cx="115904" cy="9143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095FF9B-696F-7540-A8E8-58433FB2781D}"/>
                </a:ext>
              </a:extLst>
            </p:cNvPr>
            <p:cNvSpPr/>
            <p:nvPr/>
          </p:nvSpPr>
          <p:spPr>
            <a:xfrm>
              <a:off x="2431057" y="3869216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F685CD7-A056-5D42-8CD1-10B73AEBEB6D}"/>
                </a:ext>
              </a:extLst>
            </p:cNvPr>
            <p:cNvSpPr/>
            <p:nvPr/>
          </p:nvSpPr>
          <p:spPr>
            <a:xfrm>
              <a:off x="2062706" y="388528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761289" y="3065849"/>
            <a:ext cx="30775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Developer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F4E97DD-61C5-0149-BE48-D235C3271EA1}"/>
              </a:ext>
            </a:extLst>
          </p:cNvPr>
          <p:cNvSpPr/>
          <p:nvPr/>
        </p:nvSpPr>
        <p:spPr>
          <a:xfrm>
            <a:off x="8612658" y="4225726"/>
            <a:ext cx="2496065" cy="20861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Most Amazing Application in the World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7A5AA5-B012-5B44-84EA-D045B855CCA9}"/>
              </a:ext>
            </a:extLst>
          </p:cNvPr>
          <p:cNvSpPr/>
          <p:nvPr/>
        </p:nvSpPr>
        <p:spPr>
          <a:xfrm>
            <a:off x="8174951" y="3065849"/>
            <a:ext cx="32801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Production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F22A553-4A07-5D47-A50B-9D715B55E833}"/>
              </a:ext>
            </a:extLst>
          </p:cNvPr>
          <p:cNvCxnSpPr>
            <a:cxnSpLocks/>
          </p:cNvCxnSpPr>
          <p:nvPr/>
        </p:nvCxnSpPr>
        <p:spPr>
          <a:xfrm>
            <a:off x="2891481" y="5029200"/>
            <a:ext cx="2656703" cy="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4244DCB-A93C-994C-BA61-E0FB1B8ED647}"/>
              </a:ext>
            </a:extLst>
          </p:cNvPr>
          <p:cNvSpPr txBox="1"/>
          <p:nvPr/>
        </p:nvSpPr>
        <p:spPr>
          <a:xfrm>
            <a:off x="2891481" y="4407734"/>
            <a:ext cx="5066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delivering application</a:t>
            </a:r>
          </a:p>
        </p:txBody>
      </p:sp>
    </p:spTree>
    <p:extLst>
      <p:ext uri="{BB962C8B-B14F-4D97-AF65-F5344CB8AC3E}">
        <p14:creationId xmlns:p14="http://schemas.microsoft.com/office/powerpoint/2010/main" val="3386965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003B-62D4-254F-AF2B-432C77BA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“The Shortest Distance Between Any Two Points is a Straight Line”</a:t>
            </a:r>
          </a:p>
          <a:p>
            <a:pPr marL="0" indent="0">
              <a:buNone/>
            </a:pPr>
            <a:r>
              <a:rPr lang="en-US" dirty="0"/>
              <a:t>Archimedes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ECC3A49-B4AD-1549-965B-ACDA39B42790}"/>
              </a:ext>
            </a:extLst>
          </p:cNvPr>
          <p:cNvGrpSpPr/>
          <p:nvPr/>
        </p:nvGrpSpPr>
        <p:grpSpPr>
          <a:xfrm>
            <a:off x="1626927" y="3902440"/>
            <a:ext cx="914400" cy="2538207"/>
            <a:chOff x="1849348" y="3544094"/>
            <a:chExt cx="914400" cy="253820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7736FB1-1665-1D40-A9A0-8E4818576D88}"/>
                </a:ext>
              </a:extLst>
            </p:cNvPr>
            <p:cNvSpPr/>
            <p:nvPr/>
          </p:nvSpPr>
          <p:spPr>
            <a:xfrm>
              <a:off x="1849348" y="3544094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4F6FB02-B7FB-CD45-B7B2-B6DBA3F3A7EE}"/>
                </a:ext>
              </a:extLst>
            </p:cNvPr>
            <p:cNvCxnSpPr>
              <a:stCxn id="4" idx="4"/>
            </p:cNvCxnSpPr>
            <p:nvPr/>
          </p:nvCxnSpPr>
          <p:spPr>
            <a:xfrm>
              <a:off x="2306548" y="4458494"/>
              <a:ext cx="5137" cy="9559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886C4D3-7A54-FB44-BCD9-FE49EDD31C5E}"/>
                </a:ext>
              </a:extLst>
            </p:cNvPr>
            <p:cNvCxnSpPr/>
            <p:nvPr/>
          </p:nvCxnSpPr>
          <p:spPr>
            <a:xfrm>
              <a:off x="2306548" y="5414481"/>
              <a:ext cx="375007" cy="6678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D3EEA3A-93D9-0849-9888-3032A2E92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6678" y="5415578"/>
              <a:ext cx="354886" cy="6667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7FE54D-70A9-A24F-8753-1352F2DF3D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907" y="4829197"/>
              <a:ext cx="6346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7E955C8-B846-C741-B5CC-018616DC9188}"/>
                </a:ext>
              </a:extLst>
            </p:cNvPr>
            <p:cNvSpPr/>
            <p:nvPr/>
          </p:nvSpPr>
          <p:spPr>
            <a:xfrm>
              <a:off x="202268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9FCEF9E-FC7B-0049-8401-459D91E6DDDB}"/>
                </a:ext>
              </a:extLst>
            </p:cNvPr>
            <p:cNvSpPr/>
            <p:nvPr/>
          </p:nvSpPr>
          <p:spPr>
            <a:xfrm>
              <a:off x="240261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6BE06BA-9B19-674A-8B56-9B50F8C9A807}"/>
                </a:ext>
              </a:extLst>
            </p:cNvPr>
            <p:cNvSpPr/>
            <p:nvPr/>
          </p:nvSpPr>
          <p:spPr>
            <a:xfrm>
              <a:off x="197696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E35833F-303F-D546-B497-417AA4DFC346}"/>
                </a:ext>
              </a:extLst>
            </p:cNvPr>
            <p:cNvSpPr/>
            <p:nvPr/>
          </p:nvSpPr>
          <p:spPr>
            <a:xfrm>
              <a:off x="235689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FCC1284-DB95-DB4B-864C-A3397B158561}"/>
                </a:ext>
              </a:extLst>
            </p:cNvPr>
            <p:cNvCxnSpPr>
              <a:stCxn id="15" idx="6"/>
              <a:endCxn id="16" idx="2"/>
            </p:cNvCxnSpPr>
            <p:nvPr/>
          </p:nvCxnSpPr>
          <p:spPr>
            <a:xfrm>
              <a:off x="2251281" y="3909854"/>
              <a:ext cx="10561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754CA2E-0404-A74A-BA8A-04610367E8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8107" y="3818414"/>
              <a:ext cx="108714" cy="77811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5DE3327-2E10-0040-B79E-E5A5DC9A6468}"/>
                </a:ext>
              </a:extLst>
            </p:cNvPr>
            <p:cNvCxnSpPr>
              <a:cxnSpLocks/>
            </p:cNvCxnSpPr>
            <p:nvPr/>
          </p:nvCxnSpPr>
          <p:spPr>
            <a:xfrm>
              <a:off x="1861057" y="3793841"/>
              <a:ext cx="115904" cy="9143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095FF9B-696F-7540-A8E8-58433FB2781D}"/>
                </a:ext>
              </a:extLst>
            </p:cNvPr>
            <p:cNvSpPr/>
            <p:nvPr/>
          </p:nvSpPr>
          <p:spPr>
            <a:xfrm>
              <a:off x="2431057" y="3869216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F685CD7-A056-5D42-8CD1-10B73AEBEB6D}"/>
                </a:ext>
              </a:extLst>
            </p:cNvPr>
            <p:cNvSpPr/>
            <p:nvPr/>
          </p:nvSpPr>
          <p:spPr>
            <a:xfrm>
              <a:off x="2062706" y="388528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761289" y="3065849"/>
            <a:ext cx="30775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Developer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F4E97DD-61C5-0149-BE48-D235C3271EA1}"/>
              </a:ext>
            </a:extLst>
          </p:cNvPr>
          <p:cNvSpPr/>
          <p:nvPr/>
        </p:nvSpPr>
        <p:spPr>
          <a:xfrm>
            <a:off x="8612658" y="4225726"/>
            <a:ext cx="2496065" cy="20861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Most Amazing Application in the World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7A5AA5-B012-5B44-84EA-D045B855CCA9}"/>
              </a:ext>
            </a:extLst>
          </p:cNvPr>
          <p:cNvSpPr/>
          <p:nvPr/>
        </p:nvSpPr>
        <p:spPr>
          <a:xfrm>
            <a:off x="8174951" y="3065849"/>
            <a:ext cx="32801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Production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F22A553-4A07-5D47-A50B-9D715B55E833}"/>
              </a:ext>
            </a:extLst>
          </p:cNvPr>
          <p:cNvCxnSpPr>
            <a:cxnSpLocks/>
          </p:cNvCxnSpPr>
          <p:nvPr/>
        </p:nvCxnSpPr>
        <p:spPr>
          <a:xfrm>
            <a:off x="2891481" y="5029200"/>
            <a:ext cx="3991233" cy="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E35A8DA-FFDD-2646-AD55-F389E3142816}"/>
              </a:ext>
            </a:extLst>
          </p:cNvPr>
          <p:cNvSpPr txBox="1"/>
          <p:nvPr/>
        </p:nvSpPr>
        <p:spPr>
          <a:xfrm>
            <a:off x="2891481" y="4407734"/>
            <a:ext cx="5066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delivering application all the way</a:t>
            </a:r>
          </a:p>
        </p:txBody>
      </p:sp>
    </p:spTree>
    <p:extLst>
      <p:ext uri="{BB962C8B-B14F-4D97-AF65-F5344CB8AC3E}">
        <p14:creationId xmlns:p14="http://schemas.microsoft.com/office/powerpoint/2010/main" val="1659120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003B-62D4-254F-AF2B-432C77BA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“The Shortest Distance Between Any Two Points is a Straight Line”</a:t>
            </a:r>
          </a:p>
          <a:p>
            <a:pPr marL="0" indent="0">
              <a:buNone/>
            </a:pPr>
            <a:r>
              <a:rPr lang="en-US" dirty="0"/>
              <a:t>Archimedes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ECC3A49-B4AD-1549-965B-ACDA39B42790}"/>
              </a:ext>
            </a:extLst>
          </p:cNvPr>
          <p:cNvGrpSpPr/>
          <p:nvPr/>
        </p:nvGrpSpPr>
        <p:grpSpPr>
          <a:xfrm>
            <a:off x="1626927" y="3902440"/>
            <a:ext cx="914400" cy="2538207"/>
            <a:chOff x="1849348" y="3544094"/>
            <a:chExt cx="914400" cy="253820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7736FB1-1665-1D40-A9A0-8E4818576D88}"/>
                </a:ext>
              </a:extLst>
            </p:cNvPr>
            <p:cNvSpPr/>
            <p:nvPr/>
          </p:nvSpPr>
          <p:spPr>
            <a:xfrm>
              <a:off x="1849348" y="3544094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4F6FB02-B7FB-CD45-B7B2-B6DBA3F3A7EE}"/>
                </a:ext>
              </a:extLst>
            </p:cNvPr>
            <p:cNvCxnSpPr>
              <a:stCxn id="4" idx="4"/>
            </p:cNvCxnSpPr>
            <p:nvPr/>
          </p:nvCxnSpPr>
          <p:spPr>
            <a:xfrm>
              <a:off x="2306548" y="4458494"/>
              <a:ext cx="5137" cy="9559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886C4D3-7A54-FB44-BCD9-FE49EDD31C5E}"/>
                </a:ext>
              </a:extLst>
            </p:cNvPr>
            <p:cNvCxnSpPr/>
            <p:nvPr/>
          </p:nvCxnSpPr>
          <p:spPr>
            <a:xfrm>
              <a:off x="2306548" y="5414481"/>
              <a:ext cx="375007" cy="6678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D3EEA3A-93D9-0849-9888-3032A2E92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6678" y="5415578"/>
              <a:ext cx="354886" cy="6667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7FE54D-70A9-A24F-8753-1352F2DF3D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907" y="4829197"/>
              <a:ext cx="6346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7E955C8-B846-C741-B5CC-018616DC9188}"/>
                </a:ext>
              </a:extLst>
            </p:cNvPr>
            <p:cNvSpPr/>
            <p:nvPr/>
          </p:nvSpPr>
          <p:spPr>
            <a:xfrm>
              <a:off x="202268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9FCEF9E-FC7B-0049-8401-459D91E6DDDB}"/>
                </a:ext>
              </a:extLst>
            </p:cNvPr>
            <p:cNvSpPr/>
            <p:nvPr/>
          </p:nvSpPr>
          <p:spPr>
            <a:xfrm>
              <a:off x="240261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6BE06BA-9B19-674A-8B56-9B50F8C9A807}"/>
                </a:ext>
              </a:extLst>
            </p:cNvPr>
            <p:cNvSpPr/>
            <p:nvPr/>
          </p:nvSpPr>
          <p:spPr>
            <a:xfrm>
              <a:off x="197696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E35833F-303F-D546-B497-417AA4DFC346}"/>
                </a:ext>
              </a:extLst>
            </p:cNvPr>
            <p:cNvSpPr/>
            <p:nvPr/>
          </p:nvSpPr>
          <p:spPr>
            <a:xfrm>
              <a:off x="235689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FCC1284-DB95-DB4B-864C-A3397B158561}"/>
                </a:ext>
              </a:extLst>
            </p:cNvPr>
            <p:cNvCxnSpPr>
              <a:stCxn id="15" idx="6"/>
              <a:endCxn id="16" idx="2"/>
            </p:cNvCxnSpPr>
            <p:nvPr/>
          </p:nvCxnSpPr>
          <p:spPr>
            <a:xfrm>
              <a:off x="2251281" y="3909854"/>
              <a:ext cx="10561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754CA2E-0404-A74A-BA8A-04610367E8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8107" y="3818414"/>
              <a:ext cx="108714" cy="77811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5DE3327-2E10-0040-B79E-E5A5DC9A6468}"/>
                </a:ext>
              </a:extLst>
            </p:cNvPr>
            <p:cNvCxnSpPr>
              <a:cxnSpLocks/>
            </p:cNvCxnSpPr>
            <p:nvPr/>
          </p:nvCxnSpPr>
          <p:spPr>
            <a:xfrm>
              <a:off x="1861057" y="3793841"/>
              <a:ext cx="115904" cy="9143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095FF9B-696F-7540-A8E8-58433FB2781D}"/>
                </a:ext>
              </a:extLst>
            </p:cNvPr>
            <p:cNvSpPr/>
            <p:nvPr/>
          </p:nvSpPr>
          <p:spPr>
            <a:xfrm>
              <a:off x="2431057" y="3869216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F685CD7-A056-5D42-8CD1-10B73AEBEB6D}"/>
                </a:ext>
              </a:extLst>
            </p:cNvPr>
            <p:cNvSpPr/>
            <p:nvPr/>
          </p:nvSpPr>
          <p:spPr>
            <a:xfrm>
              <a:off x="2062706" y="388528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761289" y="3065849"/>
            <a:ext cx="30775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Developer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F4E97DD-61C5-0149-BE48-D235C3271EA1}"/>
              </a:ext>
            </a:extLst>
          </p:cNvPr>
          <p:cNvSpPr/>
          <p:nvPr/>
        </p:nvSpPr>
        <p:spPr>
          <a:xfrm>
            <a:off x="8612658" y="4225726"/>
            <a:ext cx="2496065" cy="20861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Most Amazing Application in the World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7A5AA5-B012-5B44-84EA-D045B855CCA9}"/>
              </a:ext>
            </a:extLst>
          </p:cNvPr>
          <p:cNvSpPr/>
          <p:nvPr/>
        </p:nvSpPr>
        <p:spPr>
          <a:xfrm>
            <a:off x="8174951" y="3065849"/>
            <a:ext cx="32801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Production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F22A553-4A07-5D47-A50B-9D715B55E833}"/>
              </a:ext>
            </a:extLst>
          </p:cNvPr>
          <p:cNvCxnSpPr/>
          <p:nvPr/>
        </p:nvCxnSpPr>
        <p:spPr>
          <a:xfrm>
            <a:off x="2891481" y="5029200"/>
            <a:ext cx="5535827" cy="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AEC26AF-DAC2-8D4F-9838-4BAA17D83B6A}"/>
              </a:ext>
            </a:extLst>
          </p:cNvPr>
          <p:cNvSpPr txBox="1"/>
          <p:nvPr/>
        </p:nvSpPr>
        <p:spPr>
          <a:xfrm>
            <a:off x="2891481" y="4407734"/>
            <a:ext cx="5066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delivering application all the way to production</a:t>
            </a:r>
          </a:p>
        </p:txBody>
      </p:sp>
    </p:spTree>
    <p:extLst>
      <p:ext uri="{BB962C8B-B14F-4D97-AF65-F5344CB8AC3E}">
        <p14:creationId xmlns:p14="http://schemas.microsoft.com/office/powerpoint/2010/main" val="1998901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Infrastructure - Environments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ECC3A49-B4AD-1549-965B-ACDA39B42790}"/>
              </a:ext>
            </a:extLst>
          </p:cNvPr>
          <p:cNvGrpSpPr/>
          <p:nvPr/>
        </p:nvGrpSpPr>
        <p:grpSpPr>
          <a:xfrm>
            <a:off x="2448729" y="2395699"/>
            <a:ext cx="914400" cy="2538207"/>
            <a:chOff x="1849348" y="3544094"/>
            <a:chExt cx="914400" cy="253820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7736FB1-1665-1D40-A9A0-8E4818576D88}"/>
                </a:ext>
              </a:extLst>
            </p:cNvPr>
            <p:cNvSpPr/>
            <p:nvPr/>
          </p:nvSpPr>
          <p:spPr>
            <a:xfrm>
              <a:off x="1849348" y="3544094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4F6FB02-B7FB-CD45-B7B2-B6DBA3F3A7EE}"/>
                </a:ext>
              </a:extLst>
            </p:cNvPr>
            <p:cNvCxnSpPr>
              <a:stCxn id="4" idx="4"/>
            </p:cNvCxnSpPr>
            <p:nvPr/>
          </p:nvCxnSpPr>
          <p:spPr>
            <a:xfrm>
              <a:off x="2306548" y="4458494"/>
              <a:ext cx="5137" cy="9559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886C4D3-7A54-FB44-BCD9-FE49EDD31C5E}"/>
                </a:ext>
              </a:extLst>
            </p:cNvPr>
            <p:cNvCxnSpPr/>
            <p:nvPr/>
          </p:nvCxnSpPr>
          <p:spPr>
            <a:xfrm>
              <a:off x="2306548" y="5414481"/>
              <a:ext cx="375007" cy="6678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D3EEA3A-93D9-0849-9888-3032A2E92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6678" y="5415578"/>
              <a:ext cx="354886" cy="6667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7FE54D-70A9-A24F-8753-1352F2DF3D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907" y="4829197"/>
              <a:ext cx="6346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7E955C8-B846-C741-B5CC-018616DC9188}"/>
                </a:ext>
              </a:extLst>
            </p:cNvPr>
            <p:cNvSpPr/>
            <p:nvPr/>
          </p:nvSpPr>
          <p:spPr>
            <a:xfrm>
              <a:off x="202268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9FCEF9E-FC7B-0049-8401-459D91E6DDDB}"/>
                </a:ext>
              </a:extLst>
            </p:cNvPr>
            <p:cNvSpPr/>
            <p:nvPr/>
          </p:nvSpPr>
          <p:spPr>
            <a:xfrm>
              <a:off x="240261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6BE06BA-9B19-674A-8B56-9B50F8C9A807}"/>
                </a:ext>
              </a:extLst>
            </p:cNvPr>
            <p:cNvSpPr/>
            <p:nvPr/>
          </p:nvSpPr>
          <p:spPr>
            <a:xfrm>
              <a:off x="197696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E35833F-303F-D546-B497-417AA4DFC346}"/>
                </a:ext>
              </a:extLst>
            </p:cNvPr>
            <p:cNvSpPr/>
            <p:nvPr/>
          </p:nvSpPr>
          <p:spPr>
            <a:xfrm>
              <a:off x="235689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FCC1284-DB95-DB4B-864C-A3397B158561}"/>
                </a:ext>
              </a:extLst>
            </p:cNvPr>
            <p:cNvCxnSpPr>
              <a:stCxn id="15" idx="6"/>
              <a:endCxn id="16" idx="2"/>
            </p:cNvCxnSpPr>
            <p:nvPr/>
          </p:nvCxnSpPr>
          <p:spPr>
            <a:xfrm>
              <a:off x="2251281" y="3909854"/>
              <a:ext cx="10561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754CA2E-0404-A74A-BA8A-04610367E8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8107" y="3818414"/>
              <a:ext cx="108714" cy="77811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5DE3327-2E10-0040-B79E-E5A5DC9A6468}"/>
                </a:ext>
              </a:extLst>
            </p:cNvPr>
            <p:cNvCxnSpPr>
              <a:cxnSpLocks/>
            </p:cNvCxnSpPr>
            <p:nvPr/>
          </p:nvCxnSpPr>
          <p:spPr>
            <a:xfrm>
              <a:off x="1861057" y="3793841"/>
              <a:ext cx="115904" cy="9143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095FF9B-696F-7540-A8E8-58433FB2781D}"/>
                </a:ext>
              </a:extLst>
            </p:cNvPr>
            <p:cNvSpPr/>
            <p:nvPr/>
          </p:nvSpPr>
          <p:spPr>
            <a:xfrm>
              <a:off x="2431057" y="3869216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F685CD7-A056-5D42-8CD1-10B73AEBEB6D}"/>
                </a:ext>
              </a:extLst>
            </p:cNvPr>
            <p:cNvSpPr/>
            <p:nvPr/>
          </p:nvSpPr>
          <p:spPr>
            <a:xfrm>
              <a:off x="2062706" y="388528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1583091" y="1559108"/>
            <a:ext cx="30775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Developer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F4E97DD-61C5-0149-BE48-D235C3271EA1}"/>
              </a:ext>
            </a:extLst>
          </p:cNvPr>
          <p:cNvSpPr/>
          <p:nvPr/>
        </p:nvSpPr>
        <p:spPr>
          <a:xfrm>
            <a:off x="7709833" y="4597695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Production </a:t>
            </a:r>
            <a:r>
              <a:rPr lang="en-US" sz="2400" dirty="0" err="1"/>
              <a:t>Env</a:t>
            </a:r>
            <a:endParaRPr lang="en-US" sz="2400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6CE4BC8-1BC6-2148-9BDB-319C2C83CECA}"/>
              </a:ext>
            </a:extLst>
          </p:cNvPr>
          <p:cNvSpPr/>
          <p:nvPr/>
        </p:nvSpPr>
        <p:spPr>
          <a:xfrm>
            <a:off x="7709832" y="3774724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Staging </a:t>
            </a:r>
            <a:r>
              <a:rPr lang="en-US" sz="2400" dirty="0" err="1"/>
              <a:t>Env</a:t>
            </a:r>
            <a:endParaRPr lang="en-US" sz="2400"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C9878D8-0BF9-6A4F-911B-72FE2DC8F00B}"/>
              </a:ext>
            </a:extLst>
          </p:cNvPr>
          <p:cNvSpPr/>
          <p:nvPr/>
        </p:nvSpPr>
        <p:spPr>
          <a:xfrm>
            <a:off x="7709831" y="2951753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QA </a:t>
            </a:r>
            <a:r>
              <a:rPr lang="en-US" sz="2400" dirty="0" err="1"/>
              <a:t>Env</a:t>
            </a:r>
            <a:endParaRPr lang="en-US" sz="2400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14779BA-FEAC-8848-9A64-0F1FC0599A19}"/>
              </a:ext>
            </a:extLst>
          </p:cNvPr>
          <p:cNvSpPr/>
          <p:nvPr/>
        </p:nvSpPr>
        <p:spPr>
          <a:xfrm>
            <a:off x="7709831" y="2125658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DEV </a:t>
            </a:r>
            <a:r>
              <a:rPr lang="en-US" sz="2400" dirty="0" err="1"/>
              <a:t>Env</a:t>
            </a:r>
            <a:endParaRPr lang="en-US" sz="2400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599134B-6BA9-5E4C-801B-B880257177A5}"/>
              </a:ext>
            </a:extLst>
          </p:cNvPr>
          <p:cNvSpPr/>
          <p:nvPr/>
        </p:nvSpPr>
        <p:spPr>
          <a:xfrm>
            <a:off x="7709831" y="1279124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Build </a:t>
            </a:r>
            <a:r>
              <a:rPr lang="en-US" sz="2400" dirty="0" err="1"/>
              <a:t>Env</a:t>
            </a:r>
            <a:endParaRPr lang="en-US" sz="2400" dirty="0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30F2688D-721D-7042-868A-B1FDEBE06087}"/>
              </a:ext>
            </a:extLst>
          </p:cNvPr>
          <p:cNvSpPr/>
          <p:nvPr/>
        </p:nvSpPr>
        <p:spPr>
          <a:xfrm>
            <a:off x="3719131" y="3175345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Developer Environment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1126A5E-C383-F84D-8E3D-815D75D4BC78}"/>
              </a:ext>
            </a:extLst>
          </p:cNvPr>
          <p:cNvSpPr/>
          <p:nvPr/>
        </p:nvSpPr>
        <p:spPr>
          <a:xfrm>
            <a:off x="7709830" y="5444229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Env</a:t>
            </a:r>
            <a:r>
              <a:rPr lang="en-US" sz="2400" dirty="0"/>
              <a:t> X</a:t>
            </a:r>
          </a:p>
        </p:txBody>
      </p:sp>
    </p:spTree>
    <p:extLst>
      <p:ext uri="{BB962C8B-B14F-4D97-AF65-F5344CB8AC3E}">
        <p14:creationId xmlns:p14="http://schemas.microsoft.com/office/powerpoint/2010/main" val="506809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Infrastructure – Environments - Local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ECC3A49-B4AD-1549-965B-ACDA39B42790}"/>
              </a:ext>
            </a:extLst>
          </p:cNvPr>
          <p:cNvGrpSpPr/>
          <p:nvPr/>
        </p:nvGrpSpPr>
        <p:grpSpPr>
          <a:xfrm>
            <a:off x="932401" y="2177069"/>
            <a:ext cx="717356" cy="2049235"/>
            <a:chOff x="1849348" y="3544094"/>
            <a:chExt cx="914400" cy="253820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7736FB1-1665-1D40-A9A0-8E4818576D88}"/>
                </a:ext>
              </a:extLst>
            </p:cNvPr>
            <p:cNvSpPr/>
            <p:nvPr/>
          </p:nvSpPr>
          <p:spPr>
            <a:xfrm>
              <a:off x="1849348" y="3544094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4F6FB02-B7FB-CD45-B7B2-B6DBA3F3A7EE}"/>
                </a:ext>
              </a:extLst>
            </p:cNvPr>
            <p:cNvCxnSpPr>
              <a:stCxn id="4" idx="4"/>
            </p:cNvCxnSpPr>
            <p:nvPr/>
          </p:nvCxnSpPr>
          <p:spPr>
            <a:xfrm>
              <a:off x="2306548" y="4458494"/>
              <a:ext cx="5137" cy="9559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886C4D3-7A54-FB44-BCD9-FE49EDD31C5E}"/>
                </a:ext>
              </a:extLst>
            </p:cNvPr>
            <p:cNvCxnSpPr/>
            <p:nvPr/>
          </p:nvCxnSpPr>
          <p:spPr>
            <a:xfrm>
              <a:off x="2306548" y="5414481"/>
              <a:ext cx="375007" cy="6678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D3EEA3A-93D9-0849-9888-3032A2E92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6678" y="5415578"/>
              <a:ext cx="354886" cy="6667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7FE54D-70A9-A24F-8753-1352F2DF3D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907" y="4829197"/>
              <a:ext cx="6346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7E955C8-B846-C741-B5CC-018616DC9188}"/>
                </a:ext>
              </a:extLst>
            </p:cNvPr>
            <p:cNvSpPr/>
            <p:nvPr/>
          </p:nvSpPr>
          <p:spPr>
            <a:xfrm>
              <a:off x="202268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9FCEF9E-FC7B-0049-8401-459D91E6DDDB}"/>
                </a:ext>
              </a:extLst>
            </p:cNvPr>
            <p:cNvSpPr/>
            <p:nvPr/>
          </p:nvSpPr>
          <p:spPr>
            <a:xfrm>
              <a:off x="240261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6BE06BA-9B19-674A-8B56-9B50F8C9A807}"/>
                </a:ext>
              </a:extLst>
            </p:cNvPr>
            <p:cNvSpPr/>
            <p:nvPr/>
          </p:nvSpPr>
          <p:spPr>
            <a:xfrm>
              <a:off x="197696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E35833F-303F-D546-B497-417AA4DFC346}"/>
                </a:ext>
              </a:extLst>
            </p:cNvPr>
            <p:cNvSpPr/>
            <p:nvPr/>
          </p:nvSpPr>
          <p:spPr>
            <a:xfrm>
              <a:off x="235689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FCC1284-DB95-DB4B-864C-A3397B158561}"/>
                </a:ext>
              </a:extLst>
            </p:cNvPr>
            <p:cNvCxnSpPr>
              <a:stCxn id="15" idx="6"/>
              <a:endCxn id="16" idx="2"/>
            </p:cNvCxnSpPr>
            <p:nvPr/>
          </p:nvCxnSpPr>
          <p:spPr>
            <a:xfrm>
              <a:off x="2251281" y="3909854"/>
              <a:ext cx="10561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754CA2E-0404-A74A-BA8A-04610367E8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8107" y="3818414"/>
              <a:ext cx="108714" cy="77811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5DE3327-2E10-0040-B79E-E5A5DC9A6468}"/>
                </a:ext>
              </a:extLst>
            </p:cNvPr>
            <p:cNvCxnSpPr>
              <a:cxnSpLocks/>
            </p:cNvCxnSpPr>
            <p:nvPr/>
          </p:nvCxnSpPr>
          <p:spPr>
            <a:xfrm>
              <a:off x="1861057" y="3793841"/>
              <a:ext cx="115904" cy="9143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095FF9B-696F-7540-A8E8-58433FB2781D}"/>
                </a:ext>
              </a:extLst>
            </p:cNvPr>
            <p:cNvSpPr/>
            <p:nvPr/>
          </p:nvSpPr>
          <p:spPr>
            <a:xfrm>
              <a:off x="2431057" y="3869216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F685CD7-A056-5D42-8CD1-10B73AEBEB6D}"/>
                </a:ext>
              </a:extLst>
            </p:cNvPr>
            <p:cNvSpPr/>
            <p:nvPr/>
          </p:nvSpPr>
          <p:spPr>
            <a:xfrm>
              <a:off x="2062706" y="388528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663850" y="1479067"/>
            <a:ext cx="254242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Developer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30F2688D-721D-7042-868A-B1FDEBE06087}"/>
              </a:ext>
            </a:extLst>
          </p:cNvPr>
          <p:cNvSpPr/>
          <p:nvPr/>
        </p:nvSpPr>
        <p:spPr>
          <a:xfrm>
            <a:off x="1672996" y="2861055"/>
            <a:ext cx="1222772" cy="6429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Developer Laptop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E2B36C4-42F2-B149-9D00-0BA372B97491}"/>
              </a:ext>
            </a:extLst>
          </p:cNvPr>
          <p:cNvSpPr/>
          <p:nvPr/>
        </p:nvSpPr>
        <p:spPr>
          <a:xfrm>
            <a:off x="3564955" y="1855982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GitHub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6792CFF-C209-8646-86B7-18B71F98B358}"/>
              </a:ext>
            </a:extLst>
          </p:cNvPr>
          <p:cNvSpPr/>
          <p:nvPr/>
        </p:nvSpPr>
        <p:spPr>
          <a:xfrm>
            <a:off x="3564955" y="2692301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Jenkins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6BA2F9A-AB4E-BD4E-BA67-DABE44316E26}"/>
              </a:ext>
            </a:extLst>
          </p:cNvPr>
          <p:cNvSpPr/>
          <p:nvPr/>
        </p:nvSpPr>
        <p:spPr>
          <a:xfrm>
            <a:off x="3564955" y="3528620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Sonar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BC4BBD1-87BD-CA4E-BFBE-607B5F8E11B7}"/>
              </a:ext>
            </a:extLst>
          </p:cNvPr>
          <p:cNvSpPr/>
          <p:nvPr/>
        </p:nvSpPr>
        <p:spPr>
          <a:xfrm>
            <a:off x="3564955" y="4364939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Fortify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FAC1E325-1219-E44E-A461-78A22C469104}"/>
              </a:ext>
            </a:extLst>
          </p:cNvPr>
          <p:cNvSpPr/>
          <p:nvPr/>
        </p:nvSpPr>
        <p:spPr>
          <a:xfrm>
            <a:off x="5625251" y="1855981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Artifactory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C8D1CAB-E25C-FA42-9F7F-13C3FBF02BA9}"/>
              </a:ext>
            </a:extLst>
          </p:cNvPr>
          <p:cNvSpPr/>
          <p:nvPr/>
        </p:nvSpPr>
        <p:spPr>
          <a:xfrm>
            <a:off x="5623296" y="2721338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OpenShift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A96D2B9-7ED9-6C42-A141-4AE318B181AB}"/>
              </a:ext>
            </a:extLst>
          </p:cNvPr>
          <p:cNvSpPr/>
          <p:nvPr/>
        </p:nvSpPr>
        <p:spPr>
          <a:xfrm>
            <a:off x="5625250" y="3586695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Kubernetes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4A0479C-AC6C-0845-9001-A48B2EB94976}"/>
              </a:ext>
            </a:extLst>
          </p:cNvPr>
          <p:cNvSpPr/>
          <p:nvPr/>
        </p:nvSpPr>
        <p:spPr>
          <a:xfrm>
            <a:off x="5625251" y="4452053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Contrast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325F97A6-9EA6-1647-8F6F-D9962181620E}"/>
              </a:ext>
            </a:extLst>
          </p:cNvPr>
          <p:cNvSpPr/>
          <p:nvPr/>
        </p:nvSpPr>
        <p:spPr>
          <a:xfrm>
            <a:off x="7685546" y="1855981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VMs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B54DD326-0363-FE43-85EF-26E9A08321FE}"/>
              </a:ext>
            </a:extLst>
          </p:cNvPr>
          <p:cNvSpPr/>
          <p:nvPr/>
        </p:nvSpPr>
        <p:spPr>
          <a:xfrm>
            <a:off x="7681637" y="2721338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Azure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EF2202C3-CB39-F342-B3B5-2A200ECD8261}"/>
              </a:ext>
            </a:extLst>
          </p:cNvPr>
          <p:cNvSpPr/>
          <p:nvPr/>
        </p:nvSpPr>
        <p:spPr>
          <a:xfrm>
            <a:off x="7685546" y="3586695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AWS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1A88A722-A9BE-7B45-902C-2ED9E41137E9}"/>
              </a:ext>
            </a:extLst>
          </p:cNvPr>
          <p:cNvSpPr/>
          <p:nvPr/>
        </p:nvSpPr>
        <p:spPr>
          <a:xfrm>
            <a:off x="7685546" y="4452052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Sauce Labs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78CCA8F3-06B3-C746-9AEA-0BC06AB16F16}"/>
              </a:ext>
            </a:extLst>
          </p:cNvPr>
          <p:cNvSpPr/>
          <p:nvPr/>
        </p:nvSpPr>
        <p:spPr>
          <a:xfrm>
            <a:off x="6711316" y="5317409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Many more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B43FC3-39FA-9949-8800-57A4AE0A497D}"/>
              </a:ext>
            </a:extLst>
          </p:cNvPr>
          <p:cNvSpPr txBox="1"/>
          <p:nvPr/>
        </p:nvSpPr>
        <p:spPr>
          <a:xfrm>
            <a:off x="2407534" y="6169306"/>
            <a:ext cx="8224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Developer Must Connect with Numerous Servers/Services to Perform Their Work 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EF461B34-A7B8-2C45-BA95-5F0F9AED3630}"/>
              </a:ext>
            </a:extLst>
          </p:cNvPr>
          <p:cNvSpPr/>
          <p:nvPr/>
        </p:nvSpPr>
        <p:spPr>
          <a:xfrm>
            <a:off x="9752581" y="1855981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Rally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ABA5040-2831-8E42-A311-16A047CB58C2}"/>
              </a:ext>
            </a:extLst>
          </p:cNvPr>
          <p:cNvSpPr/>
          <p:nvPr/>
        </p:nvSpPr>
        <p:spPr>
          <a:xfrm>
            <a:off x="9748672" y="2721338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FlowDock</a:t>
            </a:r>
            <a:endParaRPr lang="en-US" sz="2400" dirty="0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491D5465-7004-5649-A802-D1B4EC438ABE}"/>
              </a:ext>
            </a:extLst>
          </p:cNvPr>
          <p:cNvSpPr/>
          <p:nvPr/>
        </p:nvSpPr>
        <p:spPr>
          <a:xfrm>
            <a:off x="9752581" y="3586695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HubConnect</a:t>
            </a:r>
            <a:endParaRPr lang="en-US" sz="2000" dirty="0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C5249D35-B9C5-1543-953F-44CDEBE721E6}"/>
              </a:ext>
            </a:extLst>
          </p:cNvPr>
          <p:cNvSpPr/>
          <p:nvPr/>
        </p:nvSpPr>
        <p:spPr>
          <a:xfrm>
            <a:off x="9752581" y="4452052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WIKI</a:t>
            </a:r>
          </a:p>
        </p:txBody>
      </p:sp>
    </p:spTree>
    <p:extLst>
      <p:ext uri="{BB962C8B-B14F-4D97-AF65-F5344CB8AC3E}">
        <p14:creationId xmlns:p14="http://schemas.microsoft.com/office/powerpoint/2010/main" val="466633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Infrastructure – Environments – Build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ECC3A49-B4AD-1549-965B-ACDA39B42790}"/>
              </a:ext>
            </a:extLst>
          </p:cNvPr>
          <p:cNvGrpSpPr/>
          <p:nvPr/>
        </p:nvGrpSpPr>
        <p:grpSpPr>
          <a:xfrm>
            <a:off x="838200" y="2227293"/>
            <a:ext cx="914400" cy="2538207"/>
            <a:chOff x="1849348" y="3544094"/>
            <a:chExt cx="914400" cy="253820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7736FB1-1665-1D40-A9A0-8E4818576D88}"/>
                </a:ext>
              </a:extLst>
            </p:cNvPr>
            <p:cNvSpPr/>
            <p:nvPr/>
          </p:nvSpPr>
          <p:spPr>
            <a:xfrm>
              <a:off x="1849348" y="3544094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4F6FB02-B7FB-CD45-B7B2-B6DBA3F3A7EE}"/>
                </a:ext>
              </a:extLst>
            </p:cNvPr>
            <p:cNvCxnSpPr>
              <a:stCxn id="4" idx="4"/>
            </p:cNvCxnSpPr>
            <p:nvPr/>
          </p:nvCxnSpPr>
          <p:spPr>
            <a:xfrm>
              <a:off x="2306548" y="4458494"/>
              <a:ext cx="5137" cy="9559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886C4D3-7A54-FB44-BCD9-FE49EDD31C5E}"/>
                </a:ext>
              </a:extLst>
            </p:cNvPr>
            <p:cNvCxnSpPr/>
            <p:nvPr/>
          </p:nvCxnSpPr>
          <p:spPr>
            <a:xfrm>
              <a:off x="2306548" y="5414481"/>
              <a:ext cx="375007" cy="6678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D3EEA3A-93D9-0849-9888-3032A2E92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6678" y="5415578"/>
              <a:ext cx="354886" cy="6667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7FE54D-70A9-A24F-8753-1352F2DF3D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907" y="4829197"/>
              <a:ext cx="6346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7E955C8-B846-C741-B5CC-018616DC9188}"/>
                </a:ext>
              </a:extLst>
            </p:cNvPr>
            <p:cNvSpPr/>
            <p:nvPr/>
          </p:nvSpPr>
          <p:spPr>
            <a:xfrm>
              <a:off x="202268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9FCEF9E-FC7B-0049-8401-459D91E6DDDB}"/>
                </a:ext>
              </a:extLst>
            </p:cNvPr>
            <p:cNvSpPr/>
            <p:nvPr/>
          </p:nvSpPr>
          <p:spPr>
            <a:xfrm>
              <a:off x="240261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6BE06BA-9B19-674A-8B56-9B50F8C9A807}"/>
                </a:ext>
              </a:extLst>
            </p:cNvPr>
            <p:cNvSpPr/>
            <p:nvPr/>
          </p:nvSpPr>
          <p:spPr>
            <a:xfrm>
              <a:off x="197696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E35833F-303F-D546-B497-417AA4DFC346}"/>
                </a:ext>
              </a:extLst>
            </p:cNvPr>
            <p:cNvSpPr/>
            <p:nvPr/>
          </p:nvSpPr>
          <p:spPr>
            <a:xfrm>
              <a:off x="235689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FCC1284-DB95-DB4B-864C-A3397B158561}"/>
                </a:ext>
              </a:extLst>
            </p:cNvPr>
            <p:cNvCxnSpPr>
              <a:stCxn id="15" idx="6"/>
              <a:endCxn id="16" idx="2"/>
            </p:cNvCxnSpPr>
            <p:nvPr/>
          </p:nvCxnSpPr>
          <p:spPr>
            <a:xfrm>
              <a:off x="2251281" y="3909854"/>
              <a:ext cx="10561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754CA2E-0404-A74A-BA8A-04610367E8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8107" y="3818414"/>
              <a:ext cx="108714" cy="77811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5DE3327-2E10-0040-B79E-E5A5DC9A6468}"/>
                </a:ext>
              </a:extLst>
            </p:cNvPr>
            <p:cNvCxnSpPr>
              <a:cxnSpLocks/>
            </p:cNvCxnSpPr>
            <p:nvPr/>
          </p:nvCxnSpPr>
          <p:spPr>
            <a:xfrm>
              <a:off x="1861057" y="3793841"/>
              <a:ext cx="115904" cy="9143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095FF9B-696F-7540-A8E8-58433FB2781D}"/>
                </a:ext>
              </a:extLst>
            </p:cNvPr>
            <p:cNvSpPr/>
            <p:nvPr/>
          </p:nvSpPr>
          <p:spPr>
            <a:xfrm>
              <a:off x="2431057" y="3869216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F685CD7-A056-5D42-8CD1-10B73AEBEB6D}"/>
                </a:ext>
              </a:extLst>
            </p:cNvPr>
            <p:cNvSpPr/>
            <p:nvPr/>
          </p:nvSpPr>
          <p:spPr>
            <a:xfrm>
              <a:off x="2062706" y="388528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838200" y="1457852"/>
            <a:ext cx="254242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Developer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F4E97DD-61C5-0149-BE48-D235C3271EA1}"/>
              </a:ext>
            </a:extLst>
          </p:cNvPr>
          <p:cNvSpPr/>
          <p:nvPr/>
        </p:nvSpPr>
        <p:spPr>
          <a:xfrm>
            <a:off x="9119694" y="3526318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Fortify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6CE4BC8-1BC6-2148-9BDB-319C2C83CECA}"/>
              </a:ext>
            </a:extLst>
          </p:cNvPr>
          <p:cNvSpPr/>
          <p:nvPr/>
        </p:nvSpPr>
        <p:spPr>
          <a:xfrm>
            <a:off x="9141703" y="2659919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Sonar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C9878D8-0BF9-6A4F-911B-72FE2DC8F00B}"/>
              </a:ext>
            </a:extLst>
          </p:cNvPr>
          <p:cNvSpPr/>
          <p:nvPr/>
        </p:nvSpPr>
        <p:spPr>
          <a:xfrm>
            <a:off x="6197198" y="3577193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Jenkins Build Slave/Agent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14779BA-FEAC-8848-9A64-0F1FC0599A19}"/>
              </a:ext>
            </a:extLst>
          </p:cNvPr>
          <p:cNvSpPr/>
          <p:nvPr/>
        </p:nvSpPr>
        <p:spPr>
          <a:xfrm>
            <a:off x="6211419" y="2133738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Jenkins Master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599134B-6BA9-5E4C-801B-B880257177A5}"/>
              </a:ext>
            </a:extLst>
          </p:cNvPr>
          <p:cNvSpPr/>
          <p:nvPr/>
        </p:nvSpPr>
        <p:spPr>
          <a:xfrm>
            <a:off x="3658653" y="2420610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GitHub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30F2688D-721D-7042-868A-B1FDEBE06087}"/>
              </a:ext>
            </a:extLst>
          </p:cNvPr>
          <p:cNvSpPr/>
          <p:nvPr/>
        </p:nvSpPr>
        <p:spPr>
          <a:xfrm>
            <a:off x="1752600" y="3459476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Developer Laptop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0255129-1113-3C40-8CEF-9F81C345EDD2}"/>
              </a:ext>
            </a:extLst>
          </p:cNvPr>
          <p:cNvCxnSpPr>
            <a:stCxn id="36" idx="3"/>
            <a:endCxn id="34" idx="1"/>
          </p:cNvCxnSpPr>
          <p:nvPr/>
        </p:nvCxnSpPr>
        <p:spPr>
          <a:xfrm flipV="1">
            <a:off x="3452985" y="2763912"/>
            <a:ext cx="205668" cy="10388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84B7D8E-09EA-9A4D-8006-D9EA3C826BD8}"/>
              </a:ext>
            </a:extLst>
          </p:cNvPr>
          <p:cNvCxnSpPr>
            <a:cxnSpLocks/>
            <a:stCxn id="33" idx="2"/>
            <a:endCxn id="31" idx="0"/>
          </p:cNvCxnSpPr>
          <p:nvPr/>
        </p:nvCxnSpPr>
        <p:spPr>
          <a:xfrm flipH="1">
            <a:off x="7047391" y="2820341"/>
            <a:ext cx="14221" cy="756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BA394AC-ED7E-DB40-9C37-7071E4E406F1}"/>
              </a:ext>
            </a:extLst>
          </p:cNvPr>
          <p:cNvCxnSpPr>
            <a:cxnSpLocks/>
            <a:stCxn id="31" idx="3"/>
            <a:endCxn id="24" idx="1"/>
          </p:cNvCxnSpPr>
          <p:nvPr/>
        </p:nvCxnSpPr>
        <p:spPr>
          <a:xfrm flipV="1">
            <a:off x="7897583" y="3003221"/>
            <a:ext cx="1244120" cy="917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A551DDF-3F00-6148-AB6E-447D2B49D2A2}"/>
              </a:ext>
            </a:extLst>
          </p:cNvPr>
          <p:cNvCxnSpPr>
            <a:cxnSpLocks/>
            <a:stCxn id="31" idx="3"/>
            <a:endCxn id="29" idx="1"/>
          </p:cNvCxnSpPr>
          <p:nvPr/>
        </p:nvCxnSpPr>
        <p:spPr>
          <a:xfrm flipV="1">
            <a:off x="7897583" y="3869620"/>
            <a:ext cx="1222111" cy="50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5730C3E-FE67-7043-8F3E-7CAC4F8A7B6B}"/>
              </a:ext>
            </a:extLst>
          </p:cNvPr>
          <p:cNvCxnSpPr>
            <a:cxnSpLocks/>
            <a:stCxn id="34" idx="3"/>
            <a:endCxn id="31" idx="1"/>
          </p:cNvCxnSpPr>
          <p:nvPr/>
        </p:nvCxnSpPr>
        <p:spPr>
          <a:xfrm>
            <a:off x="5359038" y="2763912"/>
            <a:ext cx="838160" cy="1156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72812BB-AA72-F642-8FAF-A5E2EFE14830}"/>
              </a:ext>
            </a:extLst>
          </p:cNvPr>
          <p:cNvCxnSpPr>
            <a:cxnSpLocks/>
            <a:stCxn id="34" idx="3"/>
            <a:endCxn id="33" idx="1"/>
          </p:cNvCxnSpPr>
          <p:nvPr/>
        </p:nvCxnSpPr>
        <p:spPr>
          <a:xfrm flipV="1">
            <a:off x="5359038" y="2477040"/>
            <a:ext cx="852381" cy="286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66BCC48C-6BE2-D144-8CDD-BC6CD23AE77E}"/>
              </a:ext>
            </a:extLst>
          </p:cNvPr>
          <p:cNvSpPr/>
          <p:nvPr/>
        </p:nvSpPr>
        <p:spPr>
          <a:xfrm>
            <a:off x="9076493" y="4392717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Artifactory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A4B6B87B-096E-694B-9D69-8BC48982DCBF}"/>
              </a:ext>
            </a:extLst>
          </p:cNvPr>
          <p:cNvSpPr/>
          <p:nvPr/>
        </p:nvSpPr>
        <p:spPr>
          <a:xfrm>
            <a:off x="9076493" y="5259116"/>
            <a:ext cx="1700385" cy="11622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Deployment Servers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/>
              <a:t>Dev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/>
              <a:t>QA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/>
              <a:t>Stage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/>
              <a:t>Prod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83E8AC6-67BD-3E49-A165-DBED9DBB8F60}"/>
              </a:ext>
            </a:extLst>
          </p:cNvPr>
          <p:cNvCxnSpPr>
            <a:cxnSpLocks/>
            <a:stCxn id="31" idx="3"/>
            <a:endCxn id="87" idx="1"/>
          </p:cNvCxnSpPr>
          <p:nvPr/>
        </p:nvCxnSpPr>
        <p:spPr>
          <a:xfrm>
            <a:off x="7897583" y="3920495"/>
            <a:ext cx="1178910" cy="815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3EB16CA-9229-DC45-BCB8-B0CA60F95820}"/>
              </a:ext>
            </a:extLst>
          </p:cNvPr>
          <p:cNvCxnSpPr>
            <a:cxnSpLocks/>
            <a:stCxn id="31" idx="3"/>
            <a:endCxn id="88" idx="1"/>
          </p:cNvCxnSpPr>
          <p:nvPr/>
        </p:nvCxnSpPr>
        <p:spPr>
          <a:xfrm>
            <a:off x="7897583" y="3920495"/>
            <a:ext cx="1178910" cy="19197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9888FEE0-B469-A74C-A273-AC4C18A7CE50}"/>
              </a:ext>
            </a:extLst>
          </p:cNvPr>
          <p:cNvSpPr/>
          <p:nvPr/>
        </p:nvSpPr>
        <p:spPr>
          <a:xfrm>
            <a:off x="3036767" y="2887575"/>
            <a:ext cx="457200" cy="457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D0B1259A-3ABA-1742-8EEE-1B56C55AED42}"/>
              </a:ext>
            </a:extLst>
          </p:cNvPr>
          <p:cNvSpPr/>
          <p:nvPr/>
        </p:nvSpPr>
        <p:spPr>
          <a:xfrm>
            <a:off x="5510285" y="2090809"/>
            <a:ext cx="457200" cy="457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EAB42DEF-3AEF-9C48-A9DB-4E6730EC1CEE}"/>
              </a:ext>
            </a:extLst>
          </p:cNvPr>
          <p:cNvSpPr/>
          <p:nvPr/>
        </p:nvSpPr>
        <p:spPr>
          <a:xfrm>
            <a:off x="6526571" y="2985317"/>
            <a:ext cx="457200" cy="457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16E31789-F123-E944-94E0-BA239D95CECB}"/>
              </a:ext>
            </a:extLst>
          </p:cNvPr>
          <p:cNvSpPr/>
          <p:nvPr/>
        </p:nvSpPr>
        <p:spPr>
          <a:xfrm>
            <a:off x="5364206" y="3424997"/>
            <a:ext cx="457200" cy="457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05A0CBF-79A8-0B45-9848-9F3306C8863A}"/>
              </a:ext>
            </a:extLst>
          </p:cNvPr>
          <p:cNvSpPr txBox="1"/>
          <p:nvPr/>
        </p:nvSpPr>
        <p:spPr>
          <a:xfrm>
            <a:off x="6319777" y="4392717"/>
            <a:ext cx="1655634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- </a:t>
            </a:r>
            <a:r>
              <a:rPr lang="en-US" dirty="0" err="1"/>
              <a:t>Jenkinsfile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Dockerfile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Optumfile.yml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pom.xml</a:t>
            </a:r>
            <a:endParaRPr lang="en-US" dirty="0"/>
          </a:p>
          <a:p>
            <a:r>
              <a:rPr lang="en-US" dirty="0"/>
              <a:t>/</a:t>
            </a:r>
            <a:r>
              <a:rPr lang="en-US" dirty="0" err="1"/>
              <a:t>src</a:t>
            </a:r>
            <a:endParaRPr lang="en-US" dirty="0"/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5D321309-8543-EC44-8C49-EE7D37DFF7A7}"/>
              </a:ext>
            </a:extLst>
          </p:cNvPr>
          <p:cNvSpPr/>
          <p:nvPr/>
        </p:nvSpPr>
        <p:spPr>
          <a:xfrm>
            <a:off x="9141702" y="1900593"/>
            <a:ext cx="2296413" cy="54709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Steps 5 –&gt; Prod deploy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7166DF1-02BE-7148-AD7B-A006847204D5}"/>
              </a:ext>
            </a:extLst>
          </p:cNvPr>
          <p:cNvSpPr txBox="1"/>
          <p:nvPr/>
        </p:nvSpPr>
        <p:spPr>
          <a:xfrm>
            <a:off x="2322433" y="4362913"/>
            <a:ext cx="104835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git push</a:t>
            </a:r>
          </a:p>
        </p:txBody>
      </p: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335D265D-6B7A-8D49-8676-12643F4ADF41}"/>
              </a:ext>
            </a:extLst>
          </p:cNvPr>
          <p:cNvSpPr/>
          <p:nvPr/>
        </p:nvSpPr>
        <p:spPr>
          <a:xfrm>
            <a:off x="739690" y="4876002"/>
            <a:ext cx="4825940" cy="18720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Developer pushes changes to </a:t>
            </a:r>
            <a:r>
              <a:rPr lang="en-US" dirty="0" err="1">
                <a:solidFill>
                  <a:schemeClr val="accent1"/>
                </a:solidFill>
              </a:rPr>
              <a:t>github</a:t>
            </a:r>
            <a:endParaRPr lang="en-US" dirty="0">
              <a:solidFill>
                <a:schemeClr val="accent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GitHub tells (triggers) Jenkins Master to kick off build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Jenkins Master sends build instructions to Jenkins Slave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Jenkins Slave pulls files from GitHub &amp; runs instructions in </a:t>
            </a:r>
            <a:r>
              <a:rPr lang="en-US" dirty="0" err="1">
                <a:solidFill>
                  <a:schemeClr val="accent1"/>
                </a:solidFill>
              </a:rPr>
              <a:t>Jenkinsfile</a:t>
            </a:r>
            <a:endParaRPr lang="en-US" dirty="0">
              <a:solidFill>
                <a:schemeClr val="accent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Steps 5 –&gt; Prod deploy</a:t>
            </a:r>
          </a:p>
        </p:txBody>
      </p:sp>
    </p:spTree>
    <p:extLst>
      <p:ext uri="{BB962C8B-B14F-4D97-AF65-F5344CB8AC3E}">
        <p14:creationId xmlns:p14="http://schemas.microsoft.com/office/powerpoint/2010/main" val="2245201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Infrastructure – Environments – Deployment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ECC3A49-B4AD-1549-965B-ACDA39B42790}"/>
              </a:ext>
            </a:extLst>
          </p:cNvPr>
          <p:cNvGrpSpPr/>
          <p:nvPr/>
        </p:nvGrpSpPr>
        <p:grpSpPr>
          <a:xfrm>
            <a:off x="838200" y="2227293"/>
            <a:ext cx="914400" cy="2538207"/>
            <a:chOff x="1849348" y="3544094"/>
            <a:chExt cx="914400" cy="253820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7736FB1-1665-1D40-A9A0-8E4818576D88}"/>
                </a:ext>
              </a:extLst>
            </p:cNvPr>
            <p:cNvSpPr/>
            <p:nvPr/>
          </p:nvSpPr>
          <p:spPr>
            <a:xfrm>
              <a:off x="1849348" y="3544094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4F6FB02-B7FB-CD45-B7B2-B6DBA3F3A7EE}"/>
                </a:ext>
              </a:extLst>
            </p:cNvPr>
            <p:cNvCxnSpPr>
              <a:stCxn id="4" idx="4"/>
            </p:cNvCxnSpPr>
            <p:nvPr/>
          </p:nvCxnSpPr>
          <p:spPr>
            <a:xfrm>
              <a:off x="2306548" y="4458494"/>
              <a:ext cx="5137" cy="9559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886C4D3-7A54-FB44-BCD9-FE49EDD31C5E}"/>
                </a:ext>
              </a:extLst>
            </p:cNvPr>
            <p:cNvCxnSpPr/>
            <p:nvPr/>
          </p:nvCxnSpPr>
          <p:spPr>
            <a:xfrm>
              <a:off x="2306548" y="5414481"/>
              <a:ext cx="375007" cy="6678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D3EEA3A-93D9-0849-9888-3032A2E92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6678" y="5415578"/>
              <a:ext cx="354886" cy="6667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7FE54D-70A9-A24F-8753-1352F2DF3D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907" y="4829197"/>
              <a:ext cx="6346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7E955C8-B846-C741-B5CC-018616DC9188}"/>
                </a:ext>
              </a:extLst>
            </p:cNvPr>
            <p:cNvSpPr/>
            <p:nvPr/>
          </p:nvSpPr>
          <p:spPr>
            <a:xfrm>
              <a:off x="202268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9FCEF9E-FC7B-0049-8401-459D91E6DDDB}"/>
                </a:ext>
              </a:extLst>
            </p:cNvPr>
            <p:cNvSpPr/>
            <p:nvPr/>
          </p:nvSpPr>
          <p:spPr>
            <a:xfrm>
              <a:off x="240261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6BE06BA-9B19-674A-8B56-9B50F8C9A807}"/>
                </a:ext>
              </a:extLst>
            </p:cNvPr>
            <p:cNvSpPr/>
            <p:nvPr/>
          </p:nvSpPr>
          <p:spPr>
            <a:xfrm>
              <a:off x="197696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E35833F-303F-D546-B497-417AA4DFC346}"/>
                </a:ext>
              </a:extLst>
            </p:cNvPr>
            <p:cNvSpPr/>
            <p:nvPr/>
          </p:nvSpPr>
          <p:spPr>
            <a:xfrm>
              <a:off x="235689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FCC1284-DB95-DB4B-864C-A3397B158561}"/>
                </a:ext>
              </a:extLst>
            </p:cNvPr>
            <p:cNvCxnSpPr>
              <a:stCxn id="15" idx="6"/>
              <a:endCxn id="16" idx="2"/>
            </p:cNvCxnSpPr>
            <p:nvPr/>
          </p:nvCxnSpPr>
          <p:spPr>
            <a:xfrm>
              <a:off x="2251281" y="3909854"/>
              <a:ext cx="10561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754CA2E-0404-A74A-BA8A-04610367E8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8107" y="3818414"/>
              <a:ext cx="108714" cy="77811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5DE3327-2E10-0040-B79E-E5A5DC9A6468}"/>
                </a:ext>
              </a:extLst>
            </p:cNvPr>
            <p:cNvCxnSpPr>
              <a:cxnSpLocks/>
            </p:cNvCxnSpPr>
            <p:nvPr/>
          </p:nvCxnSpPr>
          <p:spPr>
            <a:xfrm>
              <a:off x="1861057" y="3793841"/>
              <a:ext cx="115904" cy="9143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095FF9B-696F-7540-A8E8-58433FB2781D}"/>
                </a:ext>
              </a:extLst>
            </p:cNvPr>
            <p:cNvSpPr/>
            <p:nvPr/>
          </p:nvSpPr>
          <p:spPr>
            <a:xfrm>
              <a:off x="2431057" y="3869216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F685CD7-A056-5D42-8CD1-10B73AEBEB6D}"/>
                </a:ext>
              </a:extLst>
            </p:cNvPr>
            <p:cNvSpPr/>
            <p:nvPr/>
          </p:nvSpPr>
          <p:spPr>
            <a:xfrm>
              <a:off x="2062706" y="388528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838200" y="1457852"/>
            <a:ext cx="254242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Developer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F4E97DD-61C5-0149-BE48-D235C3271EA1}"/>
              </a:ext>
            </a:extLst>
          </p:cNvPr>
          <p:cNvSpPr/>
          <p:nvPr/>
        </p:nvSpPr>
        <p:spPr>
          <a:xfrm>
            <a:off x="9119694" y="3526318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QA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6CE4BC8-1BC6-2148-9BDB-319C2C83CECA}"/>
              </a:ext>
            </a:extLst>
          </p:cNvPr>
          <p:cNvSpPr/>
          <p:nvPr/>
        </p:nvSpPr>
        <p:spPr>
          <a:xfrm>
            <a:off x="9141703" y="2659919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Dev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C9878D8-0BF9-6A4F-911B-72FE2DC8F00B}"/>
              </a:ext>
            </a:extLst>
          </p:cNvPr>
          <p:cNvSpPr/>
          <p:nvPr/>
        </p:nvSpPr>
        <p:spPr>
          <a:xfrm>
            <a:off x="5469584" y="2197216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Jenkins Build Slave/Agent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599134B-6BA9-5E4C-801B-B880257177A5}"/>
              </a:ext>
            </a:extLst>
          </p:cNvPr>
          <p:cNvSpPr/>
          <p:nvPr/>
        </p:nvSpPr>
        <p:spPr>
          <a:xfrm>
            <a:off x="3416754" y="2179457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GitHub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30F2688D-721D-7042-868A-B1FDEBE06087}"/>
              </a:ext>
            </a:extLst>
          </p:cNvPr>
          <p:cNvSpPr/>
          <p:nvPr/>
        </p:nvSpPr>
        <p:spPr>
          <a:xfrm>
            <a:off x="1752600" y="3459476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Developer Laptop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BA394AC-ED7E-DB40-9C37-7071E4E406F1}"/>
              </a:ext>
            </a:extLst>
          </p:cNvPr>
          <p:cNvCxnSpPr>
            <a:cxnSpLocks/>
            <a:stCxn id="31" idx="3"/>
            <a:endCxn id="24" idx="1"/>
          </p:cNvCxnSpPr>
          <p:nvPr/>
        </p:nvCxnSpPr>
        <p:spPr>
          <a:xfrm>
            <a:off x="7169969" y="2540518"/>
            <a:ext cx="1971734" cy="462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A551DDF-3F00-6148-AB6E-447D2B49D2A2}"/>
              </a:ext>
            </a:extLst>
          </p:cNvPr>
          <p:cNvCxnSpPr>
            <a:cxnSpLocks/>
            <a:stCxn id="31" idx="3"/>
            <a:endCxn id="29" idx="1"/>
          </p:cNvCxnSpPr>
          <p:nvPr/>
        </p:nvCxnSpPr>
        <p:spPr>
          <a:xfrm>
            <a:off x="7169969" y="2540518"/>
            <a:ext cx="1949725" cy="1329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5730C3E-FE67-7043-8F3E-7CAC4F8A7B6B}"/>
              </a:ext>
            </a:extLst>
          </p:cNvPr>
          <p:cNvCxnSpPr>
            <a:cxnSpLocks/>
            <a:stCxn id="34" idx="3"/>
            <a:endCxn id="31" idx="1"/>
          </p:cNvCxnSpPr>
          <p:nvPr/>
        </p:nvCxnSpPr>
        <p:spPr>
          <a:xfrm>
            <a:off x="5117139" y="2522759"/>
            <a:ext cx="352445" cy="177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66BCC48C-6BE2-D144-8CDD-BC6CD23AE77E}"/>
              </a:ext>
            </a:extLst>
          </p:cNvPr>
          <p:cNvSpPr/>
          <p:nvPr/>
        </p:nvSpPr>
        <p:spPr>
          <a:xfrm>
            <a:off x="9076493" y="4392717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Stage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83E8AC6-67BD-3E49-A165-DBED9DBB8F60}"/>
              </a:ext>
            </a:extLst>
          </p:cNvPr>
          <p:cNvCxnSpPr>
            <a:cxnSpLocks/>
            <a:stCxn id="31" idx="3"/>
            <a:endCxn id="87" idx="1"/>
          </p:cNvCxnSpPr>
          <p:nvPr/>
        </p:nvCxnSpPr>
        <p:spPr>
          <a:xfrm>
            <a:off x="7169969" y="2540518"/>
            <a:ext cx="1906524" cy="21955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3EB16CA-9229-DC45-BCB8-B0CA60F95820}"/>
              </a:ext>
            </a:extLst>
          </p:cNvPr>
          <p:cNvCxnSpPr>
            <a:cxnSpLocks/>
            <a:stCxn id="31" idx="3"/>
            <a:endCxn id="69" idx="1"/>
          </p:cNvCxnSpPr>
          <p:nvPr/>
        </p:nvCxnSpPr>
        <p:spPr>
          <a:xfrm>
            <a:off x="7169969" y="2540518"/>
            <a:ext cx="1906523" cy="3067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17166DF1-02BE-7148-AD7B-A006847204D5}"/>
              </a:ext>
            </a:extLst>
          </p:cNvPr>
          <p:cNvSpPr txBox="1"/>
          <p:nvPr/>
        </p:nvSpPr>
        <p:spPr>
          <a:xfrm>
            <a:off x="2022661" y="2468267"/>
            <a:ext cx="104835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git push</a:t>
            </a:r>
          </a:p>
        </p:txBody>
      </p: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335D265D-6B7A-8D49-8676-12643F4ADF41}"/>
              </a:ext>
            </a:extLst>
          </p:cNvPr>
          <p:cNvSpPr/>
          <p:nvPr/>
        </p:nvSpPr>
        <p:spPr>
          <a:xfrm>
            <a:off x="838199" y="5744919"/>
            <a:ext cx="7842814" cy="9076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Developer pushes changes to </a:t>
            </a:r>
            <a:r>
              <a:rPr lang="en-US" dirty="0" err="1">
                <a:solidFill>
                  <a:schemeClr val="accent1"/>
                </a:solidFill>
              </a:rPr>
              <a:t>github</a:t>
            </a:r>
            <a:endParaRPr lang="en-US" dirty="0">
              <a:solidFill>
                <a:schemeClr val="accent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Question:  Are these Deployment Servers in our Data Center or Theirs?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0BCD6ADE-E7F8-A742-9218-896CB93EB490}"/>
              </a:ext>
            </a:extLst>
          </p:cNvPr>
          <p:cNvSpPr/>
          <p:nvPr/>
        </p:nvSpPr>
        <p:spPr>
          <a:xfrm>
            <a:off x="9076492" y="5264456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Prod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80AD6CE-5157-3049-AC5C-2F2B7B622BA2}"/>
              </a:ext>
            </a:extLst>
          </p:cNvPr>
          <p:cNvCxnSpPr>
            <a:cxnSpLocks/>
            <a:stCxn id="36" idx="0"/>
            <a:endCxn id="34" idx="1"/>
          </p:cNvCxnSpPr>
          <p:nvPr/>
        </p:nvCxnSpPr>
        <p:spPr>
          <a:xfrm flipV="1">
            <a:off x="2602793" y="2522759"/>
            <a:ext cx="813961" cy="936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832492A-3A26-0A41-9937-CC982D894857}"/>
              </a:ext>
            </a:extLst>
          </p:cNvPr>
          <p:cNvSpPr txBox="1"/>
          <p:nvPr/>
        </p:nvSpPr>
        <p:spPr>
          <a:xfrm>
            <a:off x="7642712" y="2383813"/>
            <a:ext cx="1317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2960622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Infrastructure – Environments – Deployment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ECC3A49-B4AD-1549-965B-ACDA39B42790}"/>
              </a:ext>
            </a:extLst>
          </p:cNvPr>
          <p:cNvGrpSpPr/>
          <p:nvPr/>
        </p:nvGrpSpPr>
        <p:grpSpPr>
          <a:xfrm>
            <a:off x="838200" y="2227293"/>
            <a:ext cx="914400" cy="2538207"/>
            <a:chOff x="1849348" y="3544094"/>
            <a:chExt cx="914400" cy="253820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7736FB1-1665-1D40-A9A0-8E4818576D88}"/>
                </a:ext>
              </a:extLst>
            </p:cNvPr>
            <p:cNvSpPr/>
            <p:nvPr/>
          </p:nvSpPr>
          <p:spPr>
            <a:xfrm>
              <a:off x="1849348" y="3544094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4F6FB02-B7FB-CD45-B7B2-B6DBA3F3A7EE}"/>
                </a:ext>
              </a:extLst>
            </p:cNvPr>
            <p:cNvCxnSpPr>
              <a:stCxn id="4" idx="4"/>
            </p:cNvCxnSpPr>
            <p:nvPr/>
          </p:nvCxnSpPr>
          <p:spPr>
            <a:xfrm>
              <a:off x="2306548" y="4458494"/>
              <a:ext cx="5137" cy="9559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886C4D3-7A54-FB44-BCD9-FE49EDD31C5E}"/>
                </a:ext>
              </a:extLst>
            </p:cNvPr>
            <p:cNvCxnSpPr/>
            <p:nvPr/>
          </p:nvCxnSpPr>
          <p:spPr>
            <a:xfrm>
              <a:off x="2306548" y="5414481"/>
              <a:ext cx="375007" cy="6678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D3EEA3A-93D9-0849-9888-3032A2E92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6678" y="5415578"/>
              <a:ext cx="354886" cy="6667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7FE54D-70A9-A24F-8753-1352F2DF3D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907" y="4829197"/>
              <a:ext cx="6346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7E955C8-B846-C741-B5CC-018616DC9188}"/>
                </a:ext>
              </a:extLst>
            </p:cNvPr>
            <p:cNvSpPr/>
            <p:nvPr/>
          </p:nvSpPr>
          <p:spPr>
            <a:xfrm>
              <a:off x="202268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9FCEF9E-FC7B-0049-8401-459D91E6DDDB}"/>
                </a:ext>
              </a:extLst>
            </p:cNvPr>
            <p:cNvSpPr/>
            <p:nvPr/>
          </p:nvSpPr>
          <p:spPr>
            <a:xfrm>
              <a:off x="240261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6BE06BA-9B19-674A-8B56-9B50F8C9A807}"/>
                </a:ext>
              </a:extLst>
            </p:cNvPr>
            <p:cNvSpPr/>
            <p:nvPr/>
          </p:nvSpPr>
          <p:spPr>
            <a:xfrm>
              <a:off x="197696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E35833F-303F-D546-B497-417AA4DFC346}"/>
                </a:ext>
              </a:extLst>
            </p:cNvPr>
            <p:cNvSpPr/>
            <p:nvPr/>
          </p:nvSpPr>
          <p:spPr>
            <a:xfrm>
              <a:off x="235689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FCC1284-DB95-DB4B-864C-A3397B158561}"/>
                </a:ext>
              </a:extLst>
            </p:cNvPr>
            <p:cNvCxnSpPr>
              <a:stCxn id="15" idx="6"/>
              <a:endCxn id="16" idx="2"/>
            </p:cNvCxnSpPr>
            <p:nvPr/>
          </p:nvCxnSpPr>
          <p:spPr>
            <a:xfrm>
              <a:off x="2251281" y="3909854"/>
              <a:ext cx="10561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754CA2E-0404-A74A-BA8A-04610367E8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8107" y="3818414"/>
              <a:ext cx="108714" cy="77811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5DE3327-2E10-0040-B79E-E5A5DC9A6468}"/>
                </a:ext>
              </a:extLst>
            </p:cNvPr>
            <p:cNvCxnSpPr>
              <a:cxnSpLocks/>
            </p:cNvCxnSpPr>
            <p:nvPr/>
          </p:nvCxnSpPr>
          <p:spPr>
            <a:xfrm>
              <a:off x="1861057" y="3793841"/>
              <a:ext cx="115904" cy="9143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095FF9B-696F-7540-A8E8-58433FB2781D}"/>
                </a:ext>
              </a:extLst>
            </p:cNvPr>
            <p:cNvSpPr/>
            <p:nvPr/>
          </p:nvSpPr>
          <p:spPr>
            <a:xfrm>
              <a:off x="2431057" y="3869216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F685CD7-A056-5D42-8CD1-10B73AEBEB6D}"/>
                </a:ext>
              </a:extLst>
            </p:cNvPr>
            <p:cNvSpPr/>
            <p:nvPr/>
          </p:nvSpPr>
          <p:spPr>
            <a:xfrm>
              <a:off x="2062706" y="388528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838200" y="1457852"/>
            <a:ext cx="254242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Developer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F4E97DD-61C5-0149-BE48-D235C3271EA1}"/>
              </a:ext>
            </a:extLst>
          </p:cNvPr>
          <p:cNvSpPr/>
          <p:nvPr/>
        </p:nvSpPr>
        <p:spPr>
          <a:xfrm>
            <a:off x="9119694" y="3526318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QA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6CE4BC8-1BC6-2148-9BDB-319C2C83CECA}"/>
              </a:ext>
            </a:extLst>
          </p:cNvPr>
          <p:cNvSpPr/>
          <p:nvPr/>
        </p:nvSpPr>
        <p:spPr>
          <a:xfrm>
            <a:off x="9141703" y="2659919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Dev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C9878D8-0BF9-6A4F-911B-72FE2DC8F00B}"/>
              </a:ext>
            </a:extLst>
          </p:cNvPr>
          <p:cNvSpPr/>
          <p:nvPr/>
        </p:nvSpPr>
        <p:spPr>
          <a:xfrm>
            <a:off x="5469584" y="2197216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Jenkins Build Slave/Agent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599134B-6BA9-5E4C-801B-B880257177A5}"/>
              </a:ext>
            </a:extLst>
          </p:cNvPr>
          <p:cNvSpPr/>
          <p:nvPr/>
        </p:nvSpPr>
        <p:spPr>
          <a:xfrm>
            <a:off x="3416754" y="2179457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GitHub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30F2688D-721D-7042-868A-B1FDEBE06087}"/>
              </a:ext>
            </a:extLst>
          </p:cNvPr>
          <p:cNvSpPr/>
          <p:nvPr/>
        </p:nvSpPr>
        <p:spPr>
          <a:xfrm>
            <a:off x="1752600" y="3459476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Developer Laptop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BA394AC-ED7E-DB40-9C37-7071E4E406F1}"/>
              </a:ext>
            </a:extLst>
          </p:cNvPr>
          <p:cNvCxnSpPr>
            <a:cxnSpLocks/>
            <a:stCxn id="31" idx="3"/>
            <a:endCxn id="24" idx="1"/>
          </p:cNvCxnSpPr>
          <p:nvPr/>
        </p:nvCxnSpPr>
        <p:spPr>
          <a:xfrm>
            <a:off x="7169969" y="2540518"/>
            <a:ext cx="1971734" cy="462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A551DDF-3F00-6148-AB6E-447D2B49D2A2}"/>
              </a:ext>
            </a:extLst>
          </p:cNvPr>
          <p:cNvCxnSpPr>
            <a:cxnSpLocks/>
            <a:stCxn id="31" idx="3"/>
            <a:endCxn id="29" idx="1"/>
          </p:cNvCxnSpPr>
          <p:nvPr/>
        </p:nvCxnSpPr>
        <p:spPr>
          <a:xfrm>
            <a:off x="7169969" y="2540518"/>
            <a:ext cx="1949725" cy="1329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5730C3E-FE67-7043-8F3E-7CAC4F8A7B6B}"/>
              </a:ext>
            </a:extLst>
          </p:cNvPr>
          <p:cNvCxnSpPr>
            <a:cxnSpLocks/>
            <a:stCxn id="34" idx="3"/>
            <a:endCxn id="31" idx="1"/>
          </p:cNvCxnSpPr>
          <p:nvPr/>
        </p:nvCxnSpPr>
        <p:spPr>
          <a:xfrm>
            <a:off x="5117139" y="2522759"/>
            <a:ext cx="352445" cy="177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66BCC48C-6BE2-D144-8CDD-BC6CD23AE77E}"/>
              </a:ext>
            </a:extLst>
          </p:cNvPr>
          <p:cNvSpPr/>
          <p:nvPr/>
        </p:nvSpPr>
        <p:spPr>
          <a:xfrm>
            <a:off x="9076493" y="4392717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Stage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83E8AC6-67BD-3E49-A165-DBED9DBB8F60}"/>
              </a:ext>
            </a:extLst>
          </p:cNvPr>
          <p:cNvCxnSpPr>
            <a:cxnSpLocks/>
            <a:stCxn id="31" idx="3"/>
            <a:endCxn id="87" idx="1"/>
          </p:cNvCxnSpPr>
          <p:nvPr/>
        </p:nvCxnSpPr>
        <p:spPr>
          <a:xfrm>
            <a:off x="7169969" y="2540518"/>
            <a:ext cx="1906524" cy="21955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3EB16CA-9229-DC45-BCB8-B0CA60F95820}"/>
              </a:ext>
            </a:extLst>
          </p:cNvPr>
          <p:cNvCxnSpPr>
            <a:cxnSpLocks/>
            <a:stCxn id="31" idx="3"/>
            <a:endCxn id="69" idx="1"/>
          </p:cNvCxnSpPr>
          <p:nvPr/>
        </p:nvCxnSpPr>
        <p:spPr>
          <a:xfrm>
            <a:off x="7169969" y="2540518"/>
            <a:ext cx="1906523" cy="3067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17166DF1-02BE-7148-AD7B-A006847204D5}"/>
              </a:ext>
            </a:extLst>
          </p:cNvPr>
          <p:cNvSpPr txBox="1"/>
          <p:nvPr/>
        </p:nvSpPr>
        <p:spPr>
          <a:xfrm>
            <a:off x="2022661" y="2468267"/>
            <a:ext cx="104835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git push</a:t>
            </a:r>
          </a:p>
        </p:txBody>
      </p: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335D265D-6B7A-8D49-8676-12643F4ADF41}"/>
              </a:ext>
            </a:extLst>
          </p:cNvPr>
          <p:cNvSpPr/>
          <p:nvPr/>
        </p:nvSpPr>
        <p:spPr>
          <a:xfrm>
            <a:off x="838199" y="5744919"/>
            <a:ext cx="7842814" cy="9076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Developer never deploys directly to any environment.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Question:  Are there ever exceptions to this rule?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3DC7855-6820-6F49-AC19-8740C115AE64}"/>
              </a:ext>
            </a:extLst>
          </p:cNvPr>
          <p:cNvCxnSpPr>
            <a:cxnSpLocks/>
            <a:stCxn id="36" idx="3"/>
            <a:endCxn id="24" idx="1"/>
          </p:cNvCxnSpPr>
          <p:nvPr/>
        </p:nvCxnSpPr>
        <p:spPr>
          <a:xfrm flipV="1">
            <a:off x="3452985" y="3003221"/>
            <a:ext cx="5688718" cy="79955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0BCD6ADE-E7F8-A742-9218-896CB93EB490}"/>
              </a:ext>
            </a:extLst>
          </p:cNvPr>
          <p:cNvSpPr/>
          <p:nvPr/>
        </p:nvSpPr>
        <p:spPr>
          <a:xfrm>
            <a:off x="9076492" y="5264456"/>
            <a:ext cx="1700385" cy="686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Prod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80AD6CE-5157-3049-AC5C-2F2B7B622BA2}"/>
              </a:ext>
            </a:extLst>
          </p:cNvPr>
          <p:cNvCxnSpPr>
            <a:cxnSpLocks/>
            <a:stCxn id="36" idx="0"/>
            <a:endCxn id="34" idx="1"/>
          </p:cNvCxnSpPr>
          <p:nvPr/>
        </p:nvCxnSpPr>
        <p:spPr>
          <a:xfrm flipV="1">
            <a:off x="2602793" y="2522759"/>
            <a:ext cx="813961" cy="936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03EA599-65AE-464B-AE9F-2B00C5855A70}"/>
              </a:ext>
            </a:extLst>
          </p:cNvPr>
          <p:cNvCxnSpPr>
            <a:cxnSpLocks/>
            <a:stCxn id="36" idx="3"/>
            <a:endCxn id="29" idx="1"/>
          </p:cNvCxnSpPr>
          <p:nvPr/>
        </p:nvCxnSpPr>
        <p:spPr>
          <a:xfrm>
            <a:off x="3452985" y="3802778"/>
            <a:ext cx="5666709" cy="6684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6B676C9-986D-BC46-8CAB-F29CA6B8A0BD}"/>
              </a:ext>
            </a:extLst>
          </p:cNvPr>
          <p:cNvCxnSpPr>
            <a:cxnSpLocks/>
            <a:stCxn id="36" idx="3"/>
            <a:endCxn id="87" idx="1"/>
          </p:cNvCxnSpPr>
          <p:nvPr/>
        </p:nvCxnSpPr>
        <p:spPr>
          <a:xfrm>
            <a:off x="3452985" y="3802778"/>
            <a:ext cx="5623508" cy="93324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E118323-3518-0544-A38B-F2669282DF3D}"/>
              </a:ext>
            </a:extLst>
          </p:cNvPr>
          <p:cNvCxnSpPr>
            <a:cxnSpLocks/>
            <a:stCxn id="36" idx="3"/>
            <a:endCxn id="69" idx="1"/>
          </p:cNvCxnSpPr>
          <p:nvPr/>
        </p:nvCxnSpPr>
        <p:spPr>
          <a:xfrm>
            <a:off x="3452985" y="3802778"/>
            <a:ext cx="5623507" cy="180498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AC774B49-E50F-1841-8D2B-C270D11E50AE}"/>
              </a:ext>
            </a:extLst>
          </p:cNvPr>
          <p:cNvSpPr/>
          <p:nvPr/>
        </p:nvSpPr>
        <p:spPr>
          <a:xfrm>
            <a:off x="4621427" y="2966577"/>
            <a:ext cx="2286000" cy="2286000"/>
          </a:xfrm>
          <a:prstGeom prst="ellipse">
            <a:avLst/>
          </a:prstGeom>
          <a:solidFill>
            <a:schemeClr val="bg1">
              <a:alpha val="76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3B8A3E-B73E-8C40-99DE-F24ADB7A871C}"/>
              </a:ext>
            </a:extLst>
          </p:cNvPr>
          <p:cNvCxnSpPr>
            <a:stCxn id="3" idx="1"/>
            <a:endCxn id="3" idx="5"/>
          </p:cNvCxnSpPr>
          <p:nvPr/>
        </p:nvCxnSpPr>
        <p:spPr>
          <a:xfrm>
            <a:off x="4956204" y="3301354"/>
            <a:ext cx="1616446" cy="1616446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DDC1F9B-5B91-A04E-956C-8BE8D868311E}"/>
              </a:ext>
            </a:extLst>
          </p:cNvPr>
          <p:cNvCxnSpPr>
            <a:cxnSpLocks/>
            <a:stCxn id="3" idx="3"/>
            <a:endCxn id="3" idx="7"/>
          </p:cNvCxnSpPr>
          <p:nvPr/>
        </p:nvCxnSpPr>
        <p:spPr>
          <a:xfrm flipV="1">
            <a:off x="4956204" y="3301354"/>
            <a:ext cx="1616446" cy="1616446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5332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74594-473A-1649-BB11-3E9AA895A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Center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364FB-F9F1-8245-B2FE-C170B0B50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a Data Center as just a bunch of servers in a huge warehouse</a:t>
            </a:r>
          </a:p>
          <a:p>
            <a:r>
              <a:rPr lang="en-US" dirty="0"/>
              <a:t>Optum Data Centers</a:t>
            </a:r>
          </a:p>
          <a:p>
            <a:pPr lvl="1"/>
            <a:r>
              <a:rPr lang="en-US" dirty="0"/>
              <a:t>ELK River, MN: VMs + Containers</a:t>
            </a:r>
          </a:p>
          <a:p>
            <a:pPr lvl="1"/>
            <a:r>
              <a:rPr lang="en-US" dirty="0"/>
              <a:t>Chaska, MN: VMs + Containers</a:t>
            </a:r>
          </a:p>
          <a:p>
            <a:pPr lvl="1"/>
            <a:r>
              <a:rPr lang="en-US" dirty="0"/>
              <a:t>Plymouth, MN: VMs + Containers</a:t>
            </a:r>
          </a:p>
          <a:p>
            <a:r>
              <a:rPr lang="en-US" dirty="0"/>
              <a:t>Optum M&amp;A Data Centers: could be anywhere</a:t>
            </a:r>
          </a:p>
          <a:p>
            <a:r>
              <a:rPr lang="en-US" dirty="0"/>
              <a:t>Azure, AWS and Google Cloud</a:t>
            </a:r>
          </a:p>
          <a:p>
            <a:pPr lvl="1"/>
            <a:r>
              <a:rPr lang="en-US" dirty="0"/>
              <a:t>Everywhere: VMs + Containers</a:t>
            </a:r>
          </a:p>
        </p:txBody>
      </p:sp>
    </p:spTree>
    <p:extLst>
      <p:ext uri="{BB962C8B-B14F-4D97-AF65-F5344CB8AC3E}">
        <p14:creationId xmlns:p14="http://schemas.microsoft.com/office/powerpoint/2010/main" val="3933198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74594-473A-1649-BB11-3E9AA895A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Center – VMs versus 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364FB-F9F1-8245-B2FE-C170B0B50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VM:  Virtual Machine</a:t>
            </a:r>
          </a:p>
          <a:p>
            <a:pPr lvl="1"/>
            <a:r>
              <a:rPr lang="en-US" dirty="0"/>
              <a:t>heavier</a:t>
            </a:r>
          </a:p>
          <a:p>
            <a:pPr lvl="1"/>
            <a:r>
              <a:rPr lang="en-US" dirty="0"/>
              <a:t>less flexible</a:t>
            </a:r>
          </a:p>
          <a:p>
            <a:pPr lvl="1"/>
            <a:r>
              <a:rPr lang="en-US" dirty="0"/>
              <a:t>less secure</a:t>
            </a:r>
          </a:p>
          <a:p>
            <a:pPr lvl="1"/>
            <a:r>
              <a:rPr lang="en-US" dirty="0"/>
              <a:t>more difficult to maintain</a:t>
            </a:r>
          </a:p>
          <a:p>
            <a:pPr lvl="1"/>
            <a:r>
              <a:rPr lang="en-US" dirty="0"/>
              <a:t>more difficult to scale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Container (Docker + Kubernetes)</a:t>
            </a:r>
          </a:p>
          <a:p>
            <a:pPr lvl="1"/>
            <a:r>
              <a:rPr lang="en-US" dirty="0"/>
              <a:t>lighter</a:t>
            </a:r>
          </a:p>
          <a:p>
            <a:pPr lvl="1"/>
            <a:r>
              <a:rPr lang="en-US" dirty="0"/>
              <a:t>more flexible</a:t>
            </a:r>
          </a:p>
          <a:p>
            <a:pPr lvl="1"/>
            <a:r>
              <a:rPr lang="en-US" dirty="0"/>
              <a:t>more secure</a:t>
            </a:r>
          </a:p>
          <a:p>
            <a:pPr lvl="1"/>
            <a:r>
              <a:rPr lang="en-US" dirty="0"/>
              <a:t>easier to maintain</a:t>
            </a:r>
          </a:p>
          <a:p>
            <a:pPr lvl="1"/>
            <a:r>
              <a:rPr lang="en-US" dirty="0"/>
              <a:t>easier to scale</a:t>
            </a:r>
          </a:p>
        </p:txBody>
      </p:sp>
    </p:spTree>
    <p:extLst>
      <p:ext uri="{BB962C8B-B14F-4D97-AF65-F5344CB8AC3E}">
        <p14:creationId xmlns:p14="http://schemas.microsoft.com/office/powerpoint/2010/main" val="1812209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74594-473A-1649-BB11-3E9AA895A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Center – VM &amp; Container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364FB-F9F1-8245-B2FE-C170B0B50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long would it take you to spin up a brand new Environment?</a:t>
            </a:r>
          </a:p>
          <a:p>
            <a:pPr lvl="1"/>
            <a:r>
              <a:rPr lang="en-US" dirty="0"/>
              <a:t>If the answer is more than 15 minutes, you probably have some improvements that could be made</a:t>
            </a:r>
          </a:p>
          <a:p>
            <a:r>
              <a:rPr lang="en-US" dirty="0"/>
              <a:t>Is it possible to switch to a Docker Container?</a:t>
            </a:r>
          </a:p>
          <a:p>
            <a:r>
              <a:rPr lang="en-US" dirty="0"/>
              <a:t>What is the level of effort to switch?</a:t>
            </a:r>
          </a:p>
          <a:p>
            <a:r>
              <a:rPr lang="en-US" dirty="0"/>
              <a:t>What is OpenShift and what is Kubernetes?</a:t>
            </a:r>
          </a:p>
          <a:p>
            <a:r>
              <a:rPr lang="en-US" dirty="0"/>
              <a:t>I’m on OpenShift, Is that Good Enough?</a:t>
            </a:r>
          </a:p>
          <a:p>
            <a:pPr lvl="1"/>
            <a:r>
              <a:rPr lang="en-US" dirty="0"/>
              <a:t>See next slide.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42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PADU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564E8D-E61C-4E43-B090-D9491136A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37654"/>
            <a:ext cx="10515600" cy="566994"/>
          </a:xfrm>
        </p:spPr>
        <p:txBody>
          <a:bodyPr wrap="none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B0F0"/>
                </a:solidFill>
                <a:hlinkClick r:id="rId2"/>
              </a:rPr>
              <a:t>http://technology.optum.com/landscape=container-management,orchestration-engine,container-platform,paa-s</a:t>
            </a:r>
            <a:endParaRPr lang="en-US" sz="1600" dirty="0">
              <a:solidFill>
                <a:srgbClr val="00B0F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62A764-7201-0946-8413-5F347A85F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82057"/>
            <a:ext cx="8204085" cy="2760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FD46000-04FC-3044-A896-FEA30B553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758156"/>
            <a:ext cx="8216214" cy="487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147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PADU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564E8D-E61C-4E43-B090-D9491136A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dirty="0"/>
              <a:t>Public Cloud vs Private Cloud</a:t>
            </a:r>
          </a:p>
          <a:p>
            <a:pPr lvl="1"/>
            <a:r>
              <a:rPr lang="en-US" dirty="0"/>
              <a:t>Azure</a:t>
            </a:r>
          </a:p>
          <a:p>
            <a:pPr lvl="1"/>
            <a:r>
              <a:rPr lang="en-US" dirty="0"/>
              <a:t>AWS</a:t>
            </a:r>
          </a:p>
          <a:p>
            <a:pPr lvl="1"/>
            <a:r>
              <a:rPr lang="en-US" dirty="0"/>
              <a:t>Google</a:t>
            </a:r>
          </a:p>
          <a:p>
            <a:r>
              <a:rPr lang="en-US" dirty="0"/>
              <a:t>Kubernetes vs OpenShift</a:t>
            </a:r>
          </a:p>
          <a:p>
            <a:pPr lvl="1"/>
            <a:r>
              <a:rPr lang="en-US" dirty="0"/>
              <a:t>Kubernetes</a:t>
            </a:r>
          </a:p>
          <a:p>
            <a:pPr lvl="1"/>
            <a:r>
              <a:rPr lang="en-US" dirty="0" err="1"/>
              <a:t>Openshift</a:t>
            </a:r>
            <a:r>
              <a:rPr lang="en-US" dirty="0"/>
              <a:t> Origin</a:t>
            </a:r>
          </a:p>
          <a:p>
            <a:pPr lvl="1"/>
            <a:r>
              <a:rPr lang="en-US" dirty="0"/>
              <a:t>OpenShift OCP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>
                <a:solidFill>
                  <a:srgbClr val="00B0F0"/>
                </a:solidFill>
                <a:hlinkClick r:id="rId2"/>
              </a:rPr>
              <a:t>http://</a:t>
            </a:r>
            <a:r>
              <a:rPr lang="en-US" dirty="0" err="1">
                <a:solidFill>
                  <a:srgbClr val="00B0F0"/>
                </a:solidFill>
                <a:hlinkClick r:id="rId2"/>
              </a:rPr>
              <a:t>technology.optum.com</a:t>
            </a:r>
            <a:r>
              <a:rPr lang="en-US" dirty="0">
                <a:solidFill>
                  <a:srgbClr val="00B0F0"/>
                </a:solidFill>
                <a:hlinkClick r:id="rId2"/>
              </a:rPr>
              <a:t>/landscape=container-management,orchestration-engine,container-platform,paa-s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62A764-7201-0946-8413-5F347A85F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82057"/>
            <a:ext cx="8204085" cy="27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295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Cloud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838200" y="1229023"/>
            <a:ext cx="746249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4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Azure over AWS over Google Cloud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564E8D-E61C-4E43-B090-D9491136A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Azure</a:t>
            </a:r>
          </a:p>
          <a:p>
            <a:pPr lvl="1"/>
            <a:r>
              <a:rPr lang="en-US" dirty="0"/>
              <a:t>Containers over VMs</a:t>
            </a:r>
          </a:p>
          <a:p>
            <a:pPr lvl="1"/>
            <a:r>
              <a:rPr lang="en-US" dirty="0"/>
              <a:t>Kubernetes</a:t>
            </a:r>
          </a:p>
          <a:p>
            <a:r>
              <a:rPr lang="en-US" dirty="0"/>
              <a:t>AWS</a:t>
            </a:r>
          </a:p>
          <a:p>
            <a:pPr lvl="1"/>
            <a:r>
              <a:rPr lang="en-US" dirty="0"/>
              <a:t>Containers over VMs</a:t>
            </a:r>
          </a:p>
          <a:p>
            <a:pPr lvl="1"/>
            <a:r>
              <a:rPr lang="en-US" dirty="0"/>
              <a:t>Kubernetes</a:t>
            </a:r>
          </a:p>
          <a:p>
            <a:r>
              <a:rPr lang="en-US" dirty="0"/>
              <a:t>Google Cloud</a:t>
            </a:r>
          </a:p>
          <a:p>
            <a:pPr lvl="1"/>
            <a:r>
              <a:rPr lang="en-US" dirty="0"/>
              <a:t>Containers over VMs</a:t>
            </a:r>
          </a:p>
          <a:p>
            <a:pPr lvl="1"/>
            <a:r>
              <a:rPr lang="en-US" dirty="0"/>
              <a:t>Kubernetes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667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A2376-5257-4248-B395-F163FFAC8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7E4FD-3A28-E048-8695-66D0967A4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468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003B-62D4-254F-AF2B-432C77BA2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9491"/>
            <a:ext cx="10515600" cy="394747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Developers Can</a:t>
            </a:r>
          </a:p>
          <a:p>
            <a:pPr lvl="1"/>
            <a:r>
              <a:rPr lang="en-US" dirty="0"/>
              <a:t>Join the relevant technology </a:t>
            </a:r>
            <a:r>
              <a:rPr lang="en-US" dirty="0" err="1"/>
              <a:t>FlowDock</a:t>
            </a:r>
            <a:r>
              <a:rPr lang="en-US" dirty="0"/>
              <a:t> Flows</a:t>
            </a:r>
          </a:p>
          <a:p>
            <a:pPr lvl="1"/>
            <a:r>
              <a:rPr lang="en-US" dirty="0"/>
              <a:t>Join the Communities</a:t>
            </a:r>
          </a:p>
          <a:p>
            <a:pPr lvl="1"/>
            <a:r>
              <a:rPr lang="en-US" dirty="0"/>
              <a:t>Join the Office Hours</a:t>
            </a:r>
          </a:p>
          <a:p>
            <a:pPr lvl="1"/>
            <a:r>
              <a:rPr lang="en-US" dirty="0"/>
              <a:t>Contribute to Inner-Source CICD Efforts (</a:t>
            </a:r>
            <a:r>
              <a:rPr lang="en-US" dirty="0" err="1"/>
              <a:t>JPaC</a:t>
            </a:r>
            <a:r>
              <a:rPr lang="en-US" dirty="0"/>
              <a:t> GPL)</a:t>
            </a:r>
          </a:p>
          <a:p>
            <a:r>
              <a:rPr lang="en-US" dirty="0"/>
              <a:t>Agile Coaches Can</a:t>
            </a:r>
          </a:p>
          <a:p>
            <a:pPr lvl="1"/>
            <a:r>
              <a:rPr lang="en-US" dirty="0"/>
              <a:t>Join the </a:t>
            </a:r>
            <a:r>
              <a:rPr lang="en-US" dirty="0" err="1"/>
              <a:t>FlowDock</a:t>
            </a:r>
            <a:r>
              <a:rPr lang="en-US" dirty="0"/>
              <a:t> Flow </a:t>
            </a:r>
            <a:r>
              <a:rPr lang="en-US" dirty="0">
                <a:solidFill>
                  <a:srgbClr val="C00000"/>
                </a:solidFill>
              </a:rPr>
              <a:t>???</a:t>
            </a:r>
          </a:p>
          <a:p>
            <a:pPr lvl="1"/>
            <a:r>
              <a:rPr lang="en-US" dirty="0"/>
              <a:t>Join the DevOps Office Hours for Agile Coaches</a:t>
            </a:r>
          </a:p>
          <a:p>
            <a:pPr lvl="1"/>
            <a:r>
              <a:rPr lang="en-US" dirty="0"/>
              <a:t>Learn the various DevOps presentations created by Eric Starr</a:t>
            </a:r>
          </a:p>
          <a:p>
            <a:pPr lvl="1"/>
            <a:r>
              <a:rPr lang="en-US" dirty="0"/>
              <a:t>Present this DevOps presentations to others (Eric can back you up)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838200" y="1229023"/>
            <a:ext cx="63085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Where To Learn More</a:t>
            </a:r>
          </a:p>
        </p:txBody>
      </p:sp>
    </p:spTree>
    <p:extLst>
      <p:ext uri="{BB962C8B-B14F-4D97-AF65-F5344CB8AC3E}">
        <p14:creationId xmlns:p14="http://schemas.microsoft.com/office/powerpoint/2010/main" val="3017848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49731-5771-0C43-A770-78471F3C9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STOP – OLD SLIDES BELOW THIS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C250A-D5EB-5140-B177-D0EE10CC5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809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4A1B-D3BA-7046-8520-186E81D92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E678D-261D-364A-AAD7-709902A24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619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Delivery with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003B-62D4-254F-AF2B-432C77BA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ECC3A49-B4AD-1549-965B-ACDA39B42790}"/>
              </a:ext>
            </a:extLst>
          </p:cNvPr>
          <p:cNvGrpSpPr/>
          <p:nvPr/>
        </p:nvGrpSpPr>
        <p:grpSpPr>
          <a:xfrm>
            <a:off x="1626927" y="3902440"/>
            <a:ext cx="914400" cy="2538207"/>
            <a:chOff x="1849348" y="3544094"/>
            <a:chExt cx="914400" cy="253820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7736FB1-1665-1D40-A9A0-8E4818576D88}"/>
                </a:ext>
              </a:extLst>
            </p:cNvPr>
            <p:cNvSpPr/>
            <p:nvPr/>
          </p:nvSpPr>
          <p:spPr>
            <a:xfrm>
              <a:off x="1849348" y="3544094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4F6FB02-B7FB-CD45-B7B2-B6DBA3F3A7EE}"/>
                </a:ext>
              </a:extLst>
            </p:cNvPr>
            <p:cNvCxnSpPr>
              <a:stCxn id="4" idx="4"/>
            </p:cNvCxnSpPr>
            <p:nvPr/>
          </p:nvCxnSpPr>
          <p:spPr>
            <a:xfrm>
              <a:off x="2306548" y="4458494"/>
              <a:ext cx="5137" cy="9559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886C4D3-7A54-FB44-BCD9-FE49EDD31C5E}"/>
                </a:ext>
              </a:extLst>
            </p:cNvPr>
            <p:cNvCxnSpPr/>
            <p:nvPr/>
          </p:nvCxnSpPr>
          <p:spPr>
            <a:xfrm>
              <a:off x="2306548" y="5414481"/>
              <a:ext cx="375007" cy="6678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D3EEA3A-93D9-0849-9888-3032A2E92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6678" y="5415578"/>
              <a:ext cx="354886" cy="6667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7FE54D-70A9-A24F-8753-1352F2DF3D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907" y="4829197"/>
              <a:ext cx="6346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7E955C8-B846-C741-B5CC-018616DC9188}"/>
                </a:ext>
              </a:extLst>
            </p:cNvPr>
            <p:cNvSpPr/>
            <p:nvPr/>
          </p:nvSpPr>
          <p:spPr>
            <a:xfrm>
              <a:off x="202268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9FCEF9E-FC7B-0049-8401-459D91E6DDDB}"/>
                </a:ext>
              </a:extLst>
            </p:cNvPr>
            <p:cNvSpPr/>
            <p:nvPr/>
          </p:nvSpPr>
          <p:spPr>
            <a:xfrm>
              <a:off x="240261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6BE06BA-9B19-674A-8B56-9B50F8C9A807}"/>
                </a:ext>
              </a:extLst>
            </p:cNvPr>
            <p:cNvSpPr/>
            <p:nvPr/>
          </p:nvSpPr>
          <p:spPr>
            <a:xfrm>
              <a:off x="197696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E35833F-303F-D546-B497-417AA4DFC346}"/>
                </a:ext>
              </a:extLst>
            </p:cNvPr>
            <p:cNvSpPr/>
            <p:nvPr/>
          </p:nvSpPr>
          <p:spPr>
            <a:xfrm>
              <a:off x="235689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FCC1284-DB95-DB4B-864C-A3397B158561}"/>
                </a:ext>
              </a:extLst>
            </p:cNvPr>
            <p:cNvCxnSpPr>
              <a:stCxn id="15" idx="6"/>
              <a:endCxn id="16" idx="2"/>
            </p:cNvCxnSpPr>
            <p:nvPr/>
          </p:nvCxnSpPr>
          <p:spPr>
            <a:xfrm>
              <a:off x="2251281" y="3909854"/>
              <a:ext cx="10561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754CA2E-0404-A74A-BA8A-04610367E8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8107" y="3818414"/>
              <a:ext cx="108714" cy="77811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5DE3327-2E10-0040-B79E-E5A5DC9A6468}"/>
                </a:ext>
              </a:extLst>
            </p:cNvPr>
            <p:cNvCxnSpPr>
              <a:cxnSpLocks/>
            </p:cNvCxnSpPr>
            <p:nvPr/>
          </p:nvCxnSpPr>
          <p:spPr>
            <a:xfrm>
              <a:off x="1861057" y="3793841"/>
              <a:ext cx="115904" cy="9143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095FF9B-696F-7540-A8E8-58433FB2781D}"/>
                </a:ext>
              </a:extLst>
            </p:cNvPr>
            <p:cNvSpPr/>
            <p:nvPr/>
          </p:nvSpPr>
          <p:spPr>
            <a:xfrm>
              <a:off x="2431057" y="3869216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F685CD7-A056-5D42-8CD1-10B73AEBEB6D}"/>
                </a:ext>
              </a:extLst>
            </p:cNvPr>
            <p:cNvSpPr/>
            <p:nvPr/>
          </p:nvSpPr>
          <p:spPr>
            <a:xfrm>
              <a:off x="2062706" y="388528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761289" y="3065849"/>
            <a:ext cx="30775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Developer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F4E97DD-61C5-0149-BE48-D235C3271EA1}"/>
              </a:ext>
            </a:extLst>
          </p:cNvPr>
          <p:cNvSpPr/>
          <p:nvPr/>
        </p:nvSpPr>
        <p:spPr>
          <a:xfrm>
            <a:off x="8612658" y="4225726"/>
            <a:ext cx="2496065" cy="20861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Most Amazing Application in the World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7A5AA5-B012-5B44-84EA-D045B855CCA9}"/>
              </a:ext>
            </a:extLst>
          </p:cNvPr>
          <p:cNvSpPr/>
          <p:nvPr/>
        </p:nvSpPr>
        <p:spPr>
          <a:xfrm>
            <a:off x="8174951" y="3065849"/>
            <a:ext cx="32801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Production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F22A553-4A07-5D47-A50B-9D715B55E833}"/>
              </a:ext>
            </a:extLst>
          </p:cNvPr>
          <p:cNvCxnSpPr/>
          <p:nvPr/>
        </p:nvCxnSpPr>
        <p:spPr>
          <a:xfrm>
            <a:off x="2891481" y="5029200"/>
            <a:ext cx="5535827" cy="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AEC26AF-DAC2-8D4F-9838-4BAA17D83B6A}"/>
              </a:ext>
            </a:extLst>
          </p:cNvPr>
          <p:cNvSpPr txBox="1"/>
          <p:nvPr/>
        </p:nvSpPr>
        <p:spPr>
          <a:xfrm>
            <a:off x="2891481" y="4407734"/>
            <a:ext cx="5066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Injecting security checks into the pipeline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2D5D938-73B1-A24F-A7C0-1A50317D232C}"/>
              </a:ext>
            </a:extLst>
          </p:cNvPr>
          <p:cNvCxnSpPr/>
          <p:nvPr/>
        </p:nvCxnSpPr>
        <p:spPr>
          <a:xfrm flipV="1">
            <a:off x="4458074" y="5178393"/>
            <a:ext cx="630195" cy="11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3A910C2-30B6-294C-8BC1-23AD9644BD1E}"/>
              </a:ext>
            </a:extLst>
          </p:cNvPr>
          <p:cNvCxnSpPr/>
          <p:nvPr/>
        </p:nvCxnSpPr>
        <p:spPr>
          <a:xfrm flipV="1">
            <a:off x="5260578" y="5187543"/>
            <a:ext cx="630195" cy="11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335FB5D-2B29-DF44-928F-010C8F4DCA89}"/>
              </a:ext>
            </a:extLst>
          </p:cNvPr>
          <p:cNvCxnSpPr/>
          <p:nvPr/>
        </p:nvCxnSpPr>
        <p:spPr>
          <a:xfrm flipV="1">
            <a:off x="4833536" y="5182968"/>
            <a:ext cx="630195" cy="11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1776C76-FD0D-8A46-9F42-A41C974423B6}"/>
              </a:ext>
            </a:extLst>
          </p:cNvPr>
          <p:cNvSpPr txBox="1"/>
          <p:nvPr/>
        </p:nvSpPr>
        <p:spPr>
          <a:xfrm rot="18002108">
            <a:off x="4169890" y="5551437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security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26A835-D529-CB40-BD8A-CB5AEA5D3B6B}"/>
              </a:ext>
            </a:extLst>
          </p:cNvPr>
          <p:cNvSpPr txBox="1"/>
          <p:nvPr/>
        </p:nvSpPr>
        <p:spPr>
          <a:xfrm rot="18002108">
            <a:off x="4522580" y="5594760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security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B1EEA4-5DED-8943-A5D2-403F090C4182}"/>
              </a:ext>
            </a:extLst>
          </p:cNvPr>
          <p:cNvSpPr txBox="1"/>
          <p:nvPr/>
        </p:nvSpPr>
        <p:spPr>
          <a:xfrm rot="18002108">
            <a:off x="4976320" y="5603911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787221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003B-62D4-254F-AF2B-432C77BA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Source Code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Container Build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Runtime (Pre-Production Environment)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ECC3A49-B4AD-1549-965B-ACDA39B42790}"/>
              </a:ext>
            </a:extLst>
          </p:cNvPr>
          <p:cNvGrpSpPr/>
          <p:nvPr/>
        </p:nvGrpSpPr>
        <p:grpSpPr>
          <a:xfrm>
            <a:off x="1626927" y="3902440"/>
            <a:ext cx="914400" cy="2538207"/>
            <a:chOff x="1849348" y="3544094"/>
            <a:chExt cx="914400" cy="253820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7736FB1-1665-1D40-A9A0-8E4818576D88}"/>
                </a:ext>
              </a:extLst>
            </p:cNvPr>
            <p:cNvSpPr/>
            <p:nvPr/>
          </p:nvSpPr>
          <p:spPr>
            <a:xfrm>
              <a:off x="1849348" y="3544094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4F6FB02-B7FB-CD45-B7B2-B6DBA3F3A7EE}"/>
                </a:ext>
              </a:extLst>
            </p:cNvPr>
            <p:cNvCxnSpPr>
              <a:stCxn id="4" idx="4"/>
            </p:cNvCxnSpPr>
            <p:nvPr/>
          </p:nvCxnSpPr>
          <p:spPr>
            <a:xfrm>
              <a:off x="2306548" y="4458494"/>
              <a:ext cx="5137" cy="9559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886C4D3-7A54-FB44-BCD9-FE49EDD31C5E}"/>
                </a:ext>
              </a:extLst>
            </p:cNvPr>
            <p:cNvCxnSpPr/>
            <p:nvPr/>
          </p:nvCxnSpPr>
          <p:spPr>
            <a:xfrm>
              <a:off x="2306548" y="5414481"/>
              <a:ext cx="375007" cy="6678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D3EEA3A-93D9-0849-9888-3032A2E92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6678" y="5415578"/>
              <a:ext cx="354886" cy="6667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7FE54D-70A9-A24F-8753-1352F2DF3D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907" y="4829197"/>
              <a:ext cx="6346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7E955C8-B846-C741-B5CC-018616DC9188}"/>
                </a:ext>
              </a:extLst>
            </p:cNvPr>
            <p:cNvSpPr/>
            <p:nvPr/>
          </p:nvSpPr>
          <p:spPr>
            <a:xfrm>
              <a:off x="202268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9FCEF9E-FC7B-0049-8401-459D91E6DDDB}"/>
                </a:ext>
              </a:extLst>
            </p:cNvPr>
            <p:cNvSpPr/>
            <p:nvPr/>
          </p:nvSpPr>
          <p:spPr>
            <a:xfrm>
              <a:off x="240261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6BE06BA-9B19-674A-8B56-9B50F8C9A807}"/>
                </a:ext>
              </a:extLst>
            </p:cNvPr>
            <p:cNvSpPr/>
            <p:nvPr/>
          </p:nvSpPr>
          <p:spPr>
            <a:xfrm>
              <a:off x="197696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E35833F-303F-D546-B497-417AA4DFC346}"/>
                </a:ext>
              </a:extLst>
            </p:cNvPr>
            <p:cNvSpPr/>
            <p:nvPr/>
          </p:nvSpPr>
          <p:spPr>
            <a:xfrm>
              <a:off x="235689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FCC1284-DB95-DB4B-864C-A3397B158561}"/>
                </a:ext>
              </a:extLst>
            </p:cNvPr>
            <p:cNvCxnSpPr>
              <a:stCxn id="15" idx="6"/>
              <a:endCxn id="16" idx="2"/>
            </p:cNvCxnSpPr>
            <p:nvPr/>
          </p:nvCxnSpPr>
          <p:spPr>
            <a:xfrm>
              <a:off x="2251281" y="3909854"/>
              <a:ext cx="10561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754CA2E-0404-A74A-BA8A-04610367E8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8107" y="3818414"/>
              <a:ext cx="108714" cy="77811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5DE3327-2E10-0040-B79E-E5A5DC9A6468}"/>
                </a:ext>
              </a:extLst>
            </p:cNvPr>
            <p:cNvCxnSpPr>
              <a:cxnSpLocks/>
            </p:cNvCxnSpPr>
            <p:nvPr/>
          </p:nvCxnSpPr>
          <p:spPr>
            <a:xfrm>
              <a:off x="1861057" y="3793841"/>
              <a:ext cx="115904" cy="9143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095FF9B-696F-7540-A8E8-58433FB2781D}"/>
                </a:ext>
              </a:extLst>
            </p:cNvPr>
            <p:cNvSpPr/>
            <p:nvPr/>
          </p:nvSpPr>
          <p:spPr>
            <a:xfrm>
              <a:off x="2431057" y="3869216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F685CD7-A056-5D42-8CD1-10B73AEBEB6D}"/>
                </a:ext>
              </a:extLst>
            </p:cNvPr>
            <p:cNvSpPr/>
            <p:nvPr/>
          </p:nvSpPr>
          <p:spPr>
            <a:xfrm>
              <a:off x="2062706" y="388528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761289" y="3065849"/>
            <a:ext cx="30775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Developer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F4E97DD-61C5-0149-BE48-D235C3271EA1}"/>
              </a:ext>
            </a:extLst>
          </p:cNvPr>
          <p:cNvSpPr/>
          <p:nvPr/>
        </p:nvSpPr>
        <p:spPr>
          <a:xfrm>
            <a:off x="8612658" y="4225726"/>
            <a:ext cx="2496065" cy="20861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Most Amazing Application in the World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7A5AA5-B012-5B44-84EA-D045B855CCA9}"/>
              </a:ext>
            </a:extLst>
          </p:cNvPr>
          <p:cNvSpPr/>
          <p:nvPr/>
        </p:nvSpPr>
        <p:spPr>
          <a:xfrm>
            <a:off x="8174951" y="3065849"/>
            <a:ext cx="32801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Production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F22A553-4A07-5D47-A50B-9D715B55E833}"/>
              </a:ext>
            </a:extLst>
          </p:cNvPr>
          <p:cNvCxnSpPr/>
          <p:nvPr/>
        </p:nvCxnSpPr>
        <p:spPr>
          <a:xfrm>
            <a:off x="2891481" y="5029200"/>
            <a:ext cx="5535827" cy="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AEC26AF-DAC2-8D4F-9838-4BAA17D83B6A}"/>
              </a:ext>
            </a:extLst>
          </p:cNvPr>
          <p:cNvSpPr txBox="1"/>
          <p:nvPr/>
        </p:nvSpPr>
        <p:spPr>
          <a:xfrm>
            <a:off x="2891481" y="4407734"/>
            <a:ext cx="5066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Injecting security checks into the pipeline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2D5D938-73B1-A24F-A7C0-1A50317D232C}"/>
              </a:ext>
            </a:extLst>
          </p:cNvPr>
          <p:cNvCxnSpPr/>
          <p:nvPr/>
        </p:nvCxnSpPr>
        <p:spPr>
          <a:xfrm flipV="1">
            <a:off x="4458074" y="5178393"/>
            <a:ext cx="630195" cy="11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3A910C2-30B6-294C-8BC1-23AD9644BD1E}"/>
              </a:ext>
            </a:extLst>
          </p:cNvPr>
          <p:cNvCxnSpPr/>
          <p:nvPr/>
        </p:nvCxnSpPr>
        <p:spPr>
          <a:xfrm flipV="1">
            <a:off x="5260578" y="5187543"/>
            <a:ext cx="630195" cy="11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335FB5D-2B29-DF44-928F-010C8F4DCA89}"/>
              </a:ext>
            </a:extLst>
          </p:cNvPr>
          <p:cNvCxnSpPr/>
          <p:nvPr/>
        </p:nvCxnSpPr>
        <p:spPr>
          <a:xfrm flipV="1">
            <a:off x="4833536" y="5182968"/>
            <a:ext cx="630195" cy="11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1776C76-FD0D-8A46-9F42-A41C974423B6}"/>
              </a:ext>
            </a:extLst>
          </p:cNvPr>
          <p:cNvSpPr txBox="1"/>
          <p:nvPr/>
        </p:nvSpPr>
        <p:spPr>
          <a:xfrm rot="18002108">
            <a:off x="4311916" y="5551437"/>
            <a:ext cx="63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26A835-D529-CB40-BD8A-CB5AEA5D3B6B}"/>
              </a:ext>
            </a:extLst>
          </p:cNvPr>
          <p:cNvSpPr txBox="1"/>
          <p:nvPr/>
        </p:nvSpPr>
        <p:spPr>
          <a:xfrm rot="18002108">
            <a:off x="4445861" y="5594760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B1EEA4-5DED-8943-A5D2-403F090C4182}"/>
              </a:ext>
            </a:extLst>
          </p:cNvPr>
          <p:cNvSpPr txBox="1"/>
          <p:nvPr/>
        </p:nvSpPr>
        <p:spPr>
          <a:xfrm rot="18002108">
            <a:off x="4970165" y="5603911"/>
            <a:ext cx="9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runtime</a:t>
            </a:r>
          </a:p>
        </p:txBody>
      </p:sp>
    </p:spTree>
    <p:extLst>
      <p:ext uri="{BB962C8B-B14F-4D97-AF65-F5344CB8AC3E}">
        <p14:creationId xmlns:p14="http://schemas.microsoft.com/office/powerpoint/2010/main" val="247306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Security – Source Code Build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003B-62D4-254F-AF2B-432C77BA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ECC3A49-B4AD-1549-965B-ACDA39B42790}"/>
              </a:ext>
            </a:extLst>
          </p:cNvPr>
          <p:cNvGrpSpPr/>
          <p:nvPr/>
        </p:nvGrpSpPr>
        <p:grpSpPr>
          <a:xfrm>
            <a:off x="1525646" y="2065614"/>
            <a:ext cx="914400" cy="2538207"/>
            <a:chOff x="1849348" y="3544094"/>
            <a:chExt cx="914400" cy="253820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7736FB1-1665-1D40-A9A0-8E4818576D88}"/>
                </a:ext>
              </a:extLst>
            </p:cNvPr>
            <p:cNvSpPr/>
            <p:nvPr/>
          </p:nvSpPr>
          <p:spPr>
            <a:xfrm>
              <a:off x="1849348" y="3544094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4F6FB02-B7FB-CD45-B7B2-B6DBA3F3A7EE}"/>
                </a:ext>
              </a:extLst>
            </p:cNvPr>
            <p:cNvCxnSpPr>
              <a:stCxn id="4" idx="4"/>
            </p:cNvCxnSpPr>
            <p:nvPr/>
          </p:nvCxnSpPr>
          <p:spPr>
            <a:xfrm>
              <a:off x="2306548" y="4458494"/>
              <a:ext cx="5137" cy="9559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886C4D3-7A54-FB44-BCD9-FE49EDD31C5E}"/>
                </a:ext>
              </a:extLst>
            </p:cNvPr>
            <p:cNvCxnSpPr/>
            <p:nvPr/>
          </p:nvCxnSpPr>
          <p:spPr>
            <a:xfrm>
              <a:off x="2306548" y="5414481"/>
              <a:ext cx="375007" cy="6678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D3EEA3A-93D9-0849-9888-3032A2E92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6678" y="5415578"/>
              <a:ext cx="354886" cy="6667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7FE54D-70A9-A24F-8753-1352F2DF3D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907" y="4829197"/>
              <a:ext cx="6346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7E955C8-B846-C741-B5CC-018616DC9188}"/>
                </a:ext>
              </a:extLst>
            </p:cNvPr>
            <p:cNvSpPr/>
            <p:nvPr/>
          </p:nvSpPr>
          <p:spPr>
            <a:xfrm>
              <a:off x="202268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9FCEF9E-FC7B-0049-8401-459D91E6DDDB}"/>
                </a:ext>
              </a:extLst>
            </p:cNvPr>
            <p:cNvSpPr/>
            <p:nvPr/>
          </p:nvSpPr>
          <p:spPr>
            <a:xfrm>
              <a:off x="240261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6BE06BA-9B19-674A-8B56-9B50F8C9A807}"/>
                </a:ext>
              </a:extLst>
            </p:cNvPr>
            <p:cNvSpPr/>
            <p:nvPr/>
          </p:nvSpPr>
          <p:spPr>
            <a:xfrm>
              <a:off x="197696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E35833F-303F-D546-B497-417AA4DFC346}"/>
                </a:ext>
              </a:extLst>
            </p:cNvPr>
            <p:cNvSpPr/>
            <p:nvPr/>
          </p:nvSpPr>
          <p:spPr>
            <a:xfrm>
              <a:off x="235689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FCC1284-DB95-DB4B-864C-A3397B158561}"/>
                </a:ext>
              </a:extLst>
            </p:cNvPr>
            <p:cNvCxnSpPr>
              <a:stCxn id="15" idx="6"/>
              <a:endCxn id="16" idx="2"/>
            </p:cNvCxnSpPr>
            <p:nvPr/>
          </p:nvCxnSpPr>
          <p:spPr>
            <a:xfrm>
              <a:off x="2251281" y="3909854"/>
              <a:ext cx="10561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754CA2E-0404-A74A-BA8A-04610367E8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8107" y="3818414"/>
              <a:ext cx="108714" cy="77811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5DE3327-2E10-0040-B79E-E5A5DC9A6468}"/>
                </a:ext>
              </a:extLst>
            </p:cNvPr>
            <p:cNvCxnSpPr>
              <a:cxnSpLocks/>
            </p:cNvCxnSpPr>
            <p:nvPr/>
          </p:nvCxnSpPr>
          <p:spPr>
            <a:xfrm>
              <a:off x="1861057" y="3793841"/>
              <a:ext cx="115904" cy="9143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095FF9B-696F-7540-A8E8-58433FB2781D}"/>
                </a:ext>
              </a:extLst>
            </p:cNvPr>
            <p:cNvSpPr/>
            <p:nvPr/>
          </p:nvSpPr>
          <p:spPr>
            <a:xfrm>
              <a:off x="2431057" y="3869216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F685CD7-A056-5D42-8CD1-10B73AEBEB6D}"/>
                </a:ext>
              </a:extLst>
            </p:cNvPr>
            <p:cNvSpPr/>
            <p:nvPr/>
          </p:nvSpPr>
          <p:spPr>
            <a:xfrm>
              <a:off x="2062706" y="388528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660008" y="1229023"/>
            <a:ext cx="30775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Developer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F4E97DD-61C5-0149-BE48-D235C3271EA1}"/>
              </a:ext>
            </a:extLst>
          </p:cNvPr>
          <p:cNvSpPr/>
          <p:nvPr/>
        </p:nvSpPr>
        <p:spPr>
          <a:xfrm>
            <a:off x="8511377" y="2388900"/>
            <a:ext cx="2496065" cy="20861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Most Amazing Application in the World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7A5AA5-B012-5B44-84EA-D045B855CCA9}"/>
              </a:ext>
            </a:extLst>
          </p:cNvPr>
          <p:cNvSpPr/>
          <p:nvPr/>
        </p:nvSpPr>
        <p:spPr>
          <a:xfrm>
            <a:off x="8073670" y="1229023"/>
            <a:ext cx="32801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Production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F22A553-4A07-5D47-A50B-9D715B55E833}"/>
              </a:ext>
            </a:extLst>
          </p:cNvPr>
          <p:cNvCxnSpPr/>
          <p:nvPr/>
        </p:nvCxnSpPr>
        <p:spPr>
          <a:xfrm>
            <a:off x="2790200" y="3192374"/>
            <a:ext cx="5535827" cy="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2D5D938-73B1-A24F-A7C0-1A50317D232C}"/>
              </a:ext>
            </a:extLst>
          </p:cNvPr>
          <p:cNvCxnSpPr/>
          <p:nvPr/>
        </p:nvCxnSpPr>
        <p:spPr>
          <a:xfrm flipV="1">
            <a:off x="2947847" y="3373231"/>
            <a:ext cx="630195" cy="11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3A910C2-30B6-294C-8BC1-23AD9644BD1E}"/>
              </a:ext>
            </a:extLst>
          </p:cNvPr>
          <p:cNvCxnSpPr/>
          <p:nvPr/>
        </p:nvCxnSpPr>
        <p:spPr>
          <a:xfrm flipV="1">
            <a:off x="3750351" y="3382381"/>
            <a:ext cx="630195" cy="11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335FB5D-2B29-DF44-928F-010C8F4DCA89}"/>
              </a:ext>
            </a:extLst>
          </p:cNvPr>
          <p:cNvCxnSpPr/>
          <p:nvPr/>
        </p:nvCxnSpPr>
        <p:spPr>
          <a:xfrm flipV="1">
            <a:off x="3323309" y="3377806"/>
            <a:ext cx="630195" cy="11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1776C76-FD0D-8A46-9F42-A41C974423B6}"/>
              </a:ext>
            </a:extLst>
          </p:cNvPr>
          <p:cNvSpPr txBox="1"/>
          <p:nvPr/>
        </p:nvSpPr>
        <p:spPr>
          <a:xfrm rot="18002108">
            <a:off x="2375131" y="3746275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Compile Code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26A835-D529-CB40-BD8A-CB5AEA5D3B6B}"/>
              </a:ext>
            </a:extLst>
          </p:cNvPr>
          <p:cNvSpPr txBox="1"/>
          <p:nvPr/>
        </p:nvSpPr>
        <p:spPr>
          <a:xfrm rot="18002108">
            <a:off x="2925312" y="3789598"/>
            <a:ext cx="1097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Unit Tests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B1EEA4-5DED-8943-A5D2-403F090C4182}"/>
              </a:ext>
            </a:extLst>
          </p:cNvPr>
          <p:cNvSpPr txBox="1"/>
          <p:nvPr/>
        </p:nvSpPr>
        <p:spPr>
          <a:xfrm rot="18002108">
            <a:off x="3132834" y="3798749"/>
            <a:ext cx="1590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 Coverage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0E398B3-FFF8-A843-97ED-14E2FD8D9980}"/>
              </a:ext>
            </a:extLst>
          </p:cNvPr>
          <p:cNvCxnSpPr/>
          <p:nvPr/>
        </p:nvCxnSpPr>
        <p:spPr>
          <a:xfrm flipV="1">
            <a:off x="4190628" y="3410007"/>
            <a:ext cx="630195" cy="11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0C26584-7FAB-9445-A080-A880C481E8C9}"/>
              </a:ext>
            </a:extLst>
          </p:cNvPr>
          <p:cNvCxnSpPr/>
          <p:nvPr/>
        </p:nvCxnSpPr>
        <p:spPr>
          <a:xfrm flipV="1">
            <a:off x="4566090" y="3414582"/>
            <a:ext cx="630195" cy="11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7BA3467-A7E0-EE4C-A841-7F102921FA1F}"/>
              </a:ext>
            </a:extLst>
          </p:cNvPr>
          <p:cNvSpPr txBox="1"/>
          <p:nvPr/>
        </p:nvSpPr>
        <p:spPr>
          <a:xfrm rot="18002108">
            <a:off x="3629423" y="3752274"/>
            <a:ext cx="14696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>
                <a:solidFill>
                  <a:schemeClr val="accent1"/>
                </a:solidFill>
              </a:rPr>
              <a:t>Sonar Scan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4F642F-7B3A-8949-8C86-54FBBA18DF65}"/>
              </a:ext>
            </a:extLst>
          </p:cNvPr>
          <p:cNvSpPr txBox="1"/>
          <p:nvPr/>
        </p:nvSpPr>
        <p:spPr>
          <a:xfrm rot="18002108">
            <a:off x="3938354" y="3795597"/>
            <a:ext cx="15572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>
                <a:solidFill>
                  <a:schemeClr val="accent1"/>
                </a:solidFill>
              </a:rPr>
              <a:t>Fortify Scan</a:t>
            </a:r>
          </a:p>
        </p:txBody>
      </p:sp>
    </p:spTree>
    <p:extLst>
      <p:ext uri="{BB962C8B-B14F-4D97-AF65-F5344CB8AC3E}">
        <p14:creationId xmlns:p14="http://schemas.microsoft.com/office/powerpoint/2010/main" val="3212298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Security – Sonar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003B-62D4-254F-AF2B-432C77BA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	</a:t>
            </a:r>
          </a:p>
          <a:p>
            <a:r>
              <a:rPr lang="en-US" dirty="0"/>
              <a:t>Source Code Scan Triggered by SCM Commit (GitHub)</a:t>
            </a:r>
          </a:p>
          <a:p>
            <a:r>
              <a:rPr lang="en-US" dirty="0"/>
              <a:t>Discovers Issues</a:t>
            </a:r>
          </a:p>
          <a:p>
            <a:pPr lvl="1"/>
            <a:r>
              <a:rPr lang="en-US" dirty="0"/>
              <a:t>Security Vulnerabilities</a:t>
            </a:r>
          </a:p>
          <a:p>
            <a:pPr lvl="1"/>
            <a:r>
              <a:rPr lang="en-US" dirty="0"/>
              <a:t>Application Bugs</a:t>
            </a:r>
          </a:p>
          <a:p>
            <a:pPr lvl="1"/>
            <a:r>
              <a:rPr lang="en-US" dirty="0"/>
              <a:t>Code Smells</a:t>
            </a:r>
          </a:p>
          <a:p>
            <a:r>
              <a:rPr lang="en-US" dirty="0"/>
              <a:t>New vs Legacy</a:t>
            </a:r>
          </a:p>
          <a:p>
            <a:r>
              <a:rPr lang="en-US" dirty="0"/>
              <a:t>Uploads Results</a:t>
            </a:r>
          </a:p>
          <a:p>
            <a:pPr lvl="1"/>
            <a:r>
              <a:rPr lang="en-US" dirty="0"/>
              <a:t>Sonar scan results</a:t>
            </a:r>
          </a:p>
          <a:p>
            <a:pPr lvl="1"/>
            <a:r>
              <a:rPr lang="en-US" dirty="0"/>
              <a:t>Unit Test Code Coverage results</a:t>
            </a:r>
          </a:p>
          <a:p>
            <a:r>
              <a:rPr lang="en-US" dirty="0"/>
              <a:t>A Failed Scan Must Break the Build</a:t>
            </a:r>
          </a:p>
          <a:p>
            <a:r>
              <a:rPr lang="en-US" dirty="0"/>
              <a:t>Maximize Efficiency with Sonar Plugin into IDE (moving further left)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838200" y="1229023"/>
            <a:ext cx="51204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sonar.optum.com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20630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Security – Fortify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003B-62D4-254F-AF2B-432C77BA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	</a:t>
            </a:r>
          </a:p>
          <a:p>
            <a:r>
              <a:rPr lang="en-US" dirty="0"/>
              <a:t>Source Code Scan Triggered by SCM Commit (GitHub)</a:t>
            </a:r>
          </a:p>
          <a:p>
            <a:r>
              <a:rPr lang="en-US" dirty="0"/>
              <a:t>Occurs After Sonar Scan (or in parallel)</a:t>
            </a:r>
          </a:p>
          <a:p>
            <a:pPr lvl="1"/>
            <a:r>
              <a:rPr lang="en-US" dirty="0"/>
              <a:t>Security Vulnerabilities (in depth)</a:t>
            </a:r>
          </a:p>
          <a:p>
            <a:r>
              <a:rPr lang="en-US" dirty="0"/>
              <a:t>Uploads Results to SCAR</a:t>
            </a:r>
          </a:p>
          <a:p>
            <a:r>
              <a:rPr lang="en-US" dirty="0"/>
              <a:t>A Failed Scan Must Break the Build (High or Critical Issues)</a:t>
            </a:r>
          </a:p>
          <a:p>
            <a:r>
              <a:rPr lang="en-US" dirty="0"/>
              <a:t>Maximize Efficiency with Fortify Plugin in IDE (moving further left)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838200" y="1229023"/>
            <a:ext cx="20204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Fortify</a:t>
            </a:r>
          </a:p>
        </p:txBody>
      </p:sp>
    </p:spTree>
    <p:extLst>
      <p:ext uri="{BB962C8B-B14F-4D97-AF65-F5344CB8AC3E}">
        <p14:creationId xmlns:p14="http://schemas.microsoft.com/office/powerpoint/2010/main" val="3227329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Security – Source Code Build – 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003B-62D4-254F-AF2B-432C77BA2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9792" y="2424701"/>
            <a:ext cx="3606229" cy="17157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 algn="ctr">
              <a:buNone/>
            </a:pPr>
            <a:r>
              <a:rPr lang="en-US" sz="9600" dirty="0"/>
              <a:t>Q &amp; A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838200" y="1229023"/>
            <a:ext cx="44281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Sonar &amp; Fortify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9BD844-CC5D-A54A-A70D-4BCA1A0B22E8}"/>
              </a:ext>
            </a:extLst>
          </p:cNvPr>
          <p:cNvSpPr/>
          <p:nvPr/>
        </p:nvSpPr>
        <p:spPr>
          <a:xfrm>
            <a:off x="838199" y="5532183"/>
            <a:ext cx="95678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Next Up: Container Build Security</a:t>
            </a:r>
          </a:p>
        </p:txBody>
      </p:sp>
    </p:spTree>
    <p:extLst>
      <p:ext uri="{BB962C8B-B14F-4D97-AF65-F5344CB8AC3E}">
        <p14:creationId xmlns:p14="http://schemas.microsoft.com/office/powerpoint/2010/main" val="223070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Security – Container Build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003B-62D4-254F-AF2B-432C77BA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ECC3A49-B4AD-1549-965B-ACDA39B42790}"/>
              </a:ext>
            </a:extLst>
          </p:cNvPr>
          <p:cNvGrpSpPr/>
          <p:nvPr/>
        </p:nvGrpSpPr>
        <p:grpSpPr>
          <a:xfrm>
            <a:off x="1626927" y="3902440"/>
            <a:ext cx="914400" cy="2538207"/>
            <a:chOff x="1849348" y="3544094"/>
            <a:chExt cx="914400" cy="253820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7736FB1-1665-1D40-A9A0-8E4818576D88}"/>
                </a:ext>
              </a:extLst>
            </p:cNvPr>
            <p:cNvSpPr/>
            <p:nvPr/>
          </p:nvSpPr>
          <p:spPr>
            <a:xfrm>
              <a:off x="1849348" y="3544094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4F6FB02-B7FB-CD45-B7B2-B6DBA3F3A7EE}"/>
                </a:ext>
              </a:extLst>
            </p:cNvPr>
            <p:cNvCxnSpPr>
              <a:stCxn id="4" idx="4"/>
            </p:cNvCxnSpPr>
            <p:nvPr/>
          </p:nvCxnSpPr>
          <p:spPr>
            <a:xfrm>
              <a:off x="2306548" y="4458494"/>
              <a:ext cx="5137" cy="9559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886C4D3-7A54-FB44-BCD9-FE49EDD31C5E}"/>
                </a:ext>
              </a:extLst>
            </p:cNvPr>
            <p:cNvCxnSpPr/>
            <p:nvPr/>
          </p:nvCxnSpPr>
          <p:spPr>
            <a:xfrm>
              <a:off x="2306548" y="5414481"/>
              <a:ext cx="375007" cy="6678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D3EEA3A-93D9-0849-9888-3032A2E92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6678" y="5415578"/>
              <a:ext cx="354886" cy="6667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7FE54D-70A9-A24F-8753-1352F2DF3D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907" y="4829197"/>
              <a:ext cx="6346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7E955C8-B846-C741-B5CC-018616DC9188}"/>
                </a:ext>
              </a:extLst>
            </p:cNvPr>
            <p:cNvSpPr/>
            <p:nvPr/>
          </p:nvSpPr>
          <p:spPr>
            <a:xfrm>
              <a:off x="202268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9FCEF9E-FC7B-0049-8401-459D91E6DDDB}"/>
                </a:ext>
              </a:extLst>
            </p:cNvPr>
            <p:cNvSpPr/>
            <p:nvPr/>
          </p:nvSpPr>
          <p:spPr>
            <a:xfrm>
              <a:off x="240261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6BE06BA-9B19-674A-8B56-9B50F8C9A807}"/>
                </a:ext>
              </a:extLst>
            </p:cNvPr>
            <p:cNvSpPr/>
            <p:nvPr/>
          </p:nvSpPr>
          <p:spPr>
            <a:xfrm>
              <a:off x="197696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E35833F-303F-D546-B497-417AA4DFC346}"/>
                </a:ext>
              </a:extLst>
            </p:cNvPr>
            <p:cNvSpPr/>
            <p:nvPr/>
          </p:nvSpPr>
          <p:spPr>
            <a:xfrm>
              <a:off x="235689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FCC1284-DB95-DB4B-864C-A3397B158561}"/>
                </a:ext>
              </a:extLst>
            </p:cNvPr>
            <p:cNvCxnSpPr>
              <a:stCxn id="15" idx="6"/>
              <a:endCxn id="16" idx="2"/>
            </p:cNvCxnSpPr>
            <p:nvPr/>
          </p:nvCxnSpPr>
          <p:spPr>
            <a:xfrm>
              <a:off x="2251281" y="3909854"/>
              <a:ext cx="10561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754CA2E-0404-A74A-BA8A-04610367E8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8107" y="3818414"/>
              <a:ext cx="108714" cy="77811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5DE3327-2E10-0040-B79E-E5A5DC9A6468}"/>
                </a:ext>
              </a:extLst>
            </p:cNvPr>
            <p:cNvCxnSpPr>
              <a:cxnSpLocks/>
            </p:cNvCxnSpPr>
            <p:nvPr/>
          </p:nvCxnSpPr>
          <p:spPr>
            <a:xfrm>
              <a:off x="1861057" y="3793841"/>
              <a:ext cx="115904" cy="9143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095FF9B-696F-7540-A8E8-58433FB2781D}"/>
                </a:ext>
              </a:extLst>
            </p:cNvPr>
            <p:cNvSpPr/>
            <p:nvPr/>
          </p:nvSpPr>
          <p:spPr>
            <a:xfrm>
              <a:off x="2431057" y="3869216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F685CD7-A056-5D42-8CD1-10B73AEBEB6D}"/>
                </a:ext>
              </a:extLst>
            </p:cNvPr>
            <p:cNvSpPr/>
            <p:nvPr/>
          </p:nvSpPr>
          <p:spPr>
            <a:xfrm>
              <a:off x="2062706" y="388528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761289" y="3065849"/>
            <a:ext cx="30775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Developer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F4E97DD-61C5-0149-BE48-D235C3271EA1}"/>
              </a:ext>
            </a:extLst>
          </p:cNvPr>
          <p:cNvSpPr/>
          <p:nvPr/>
        </p:nvSpPr>
        <p:spPr>
          <a:xfrm>
            <a:off x="8612658" y="4225726"/>
            <a:ext cx="2496065" cy="20861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Most Amazing Application in the World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7A5AA5-B012-5B44-84EA-D045B855CCA9}"/>
              </a:ext>
            </a:extLst>
          </p:cNvPr>
          <p:cNvSpPr/>
          <p:nvPr/>
        </p:nvSpPr>
        <p:spPr>
          <a:xfrm>
            <a:off x="8174951" y="3065849"/>
            <a:ext cx="32801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Production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F22A553-4A07-5D47-A50B-9D715B55E833}"/>
              </a:ext>
            </a:extLst>
          </p:cNvPr>
          <p:cNvCxnSpPr/>
          <p:nvPr/>
        </p:nvCxnSpPr>
        <p:spPr>
          <a:xfrm>
            <a:off x="2891481" y="5029200"/>
            <a:ext cx="5535827" cy="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AEC26AF-DAC2-8D4F-9838-4BAA17D83B6A}"/>
              </a:ext>
            </a:extLst>
          </p:cNvPr>
          <p:cNvSpPr txBox="1"/>
          <p:nvPr/>
        </p:nvSpPr>
        <p:spPr>
          <a:xfrm>
            <a:off x="2891481" y="4407734"/>
            <a:ext cx="5066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Injecting security checks into the pipeline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2D5D938-73B1-A24F-A7C0-1A50317D232C}"/>
              </a:ext>
            </a:extLst>
          </p:cNvPr>
          <p:cNvCxnSpPr/>
          <p:nvPr/>
        </p:nvCxnSpPr>
        <p:spPr>
          <a:xfrm flipV="1">
            <a:off x="4458074" y="5178393"/>
            <a:ext cx="630195" cy="11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3A910C2-30B6-294C-8BC1-23AD9644BD1E}"/>
              </a:ext>
            </a:extLst>
          </p:cNvPr>
          <p:cNvCxnSpPr/>
          <p:nvPr/>
        </p:nvCxnSpPr>
        <p:spPr>
          <a:xfrm flipV="1">
            <a:off x="5260578" y="5187543"/>
            <a:ext cx="630195" cy="11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335FB5D-2B29-DF44-928F-010C8F4DCA89}"/>
              </a:ext>
            </a:extLst>
          </p:cNvPr>
          <p:cNvCxnSpPr/>
          <p:nvPr/>
        </p:nvCxnSpPr>
        <p:spPr>
          <a:xfrm flipV="1">
            <a:off x="4833536" y="5182968"/>
            <a:ext cx="630195" cy="11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1776C76-FD0D-8A46-9F42-A41C974423B6}"/>
              </a:ext>
            </a:extLst>
          </p:cNvPr>
          <p:cNvSpPr txBox="1"/>
          <p:nvPr/>
        </p:nvSpPr>
        <p:spPr>
          <a:xfrm rot="18002108">
            <a:off x="4311916" y="5551437"/>
            <a:ext cx="63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26A835-D529-CB40-BD8A-CB5AEA5D3B6B}"/>
              </a:ext>
            </a:extLst>
          </p:cNvPr>
          <p:cNvSpPr txBox="1"/>
          <p:nvPr/>
        </p:nvSpPr>
        <p:spPr>
          <a:xfrm rot="18002108">
            <a:off x="4445861" y="5594760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B1EEA4-5DED-8943-A5D2-403F090C4182}"/>
              </a:ext>
            </a:extLst>
          </p:cNvPr>
          <p:cNvSpPr txBox="1"/>
          <p:nvPr/>
        </p:nvSpPr>
        <p:spPr>
          <a:xfrm rot="18002108">
            <a:off x="4970165" y="5603911"/>
            <a:ext cx="9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runtime</a:t>
            </a:r>
          </a:p>
        </p:txBody>
      </p:sp>
    </p:spTree>
    <p:extLst>
      <p:ext uri="{BB962C8B-B14F-4D97-AF65-F5344CB8AC3E}">
        <p14:creationId xmlns:p14="http://schemas.microsoft.com/office/powerpoint/2010/main" val="4199339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Security – Container Build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003B-62D4-254F-AF2B-432C77BA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ECC3A49-B4AD-1549-965B-ACDA39B42790}"/>
              </a:ext>
            </a:extLst>
          </p:cNvPr>
          <p:cNvGrpSpPr/>
          <p:nvPr/>
        </p:nvGrpSpPr>
        <p:grpSpPr>
          <a:xfrm>
            <a:off x="1525646" y="2065614"/>
            <a:ext cx="914400" cy="2538207"/>
            <a:chOff x="1849348" y="3544094"/>
            <a:chExt cx="914400" cy="253820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7736FB1-1665-1D40-A9A0-8E4818576D88}"/>
                </a:ext>
              </a:extLst>
            </p:cNvPr>
            <p:cNvSpPr/>
            <p:nvPr/>
          </p:nvSpPr>
          <p:spPr>
            <a:xfrm>
              <a:off x="1849348" y="3544094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4F6FB02-B7FB-CD45-B7B2-B6DBA3F3A7EE}"/>
                </a:ext>
              </a:extLst>
            </p:cNvPr>
            <p:cNvCxnSpPr>
              <a:stCxn id="4" idx="4"/>
            </p:cNvCxnSpPr>
            <p:nvPr/>
          </p:nvCxnSpPr>
          <p:spPr>
            <a:xfrm>
              <a:off x="2306548" y="4458494"/>
              <a:ext cx="5137" cy="9559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886C4D3-7A54-FB44-BCD9-FE49EDD31C5E}"/>
                </a:ext>
              </a:extLst>
            </p:cNvPr>
            <p:cNvCxnSpPr/>
            <p:nvPr/>
          </p:nvCxnSpPr>
          <p:spPr>
            <a:xfrm>
              <a:off x="2306548" y="5414481"/>
              <a:ext cx="375007" cy="6678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D3EEA3A-93D9-0849-9888-3032A2E92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6678" y="5415578"/>
              <a:ext cx="354886" cy="6667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7FE54D-70A9-A24F-8753-1352F2DF3D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907" y="4829197"/>
              <a:ext cx="6346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7E955C8-B846-C741-B5CC-018616DC9188}"/>
                </a:ext>
              </a:extLst>
            </p:cNvPr>
            <p:cNvSpPr/>
            <p:nvPr/>
          </p:nvSpPr>
          <p:spPr>
            <a:xfrm>
              <a:off x="202268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9FCEF9E-FC7B-0049-8401-459D91E6DDDB}"/>
                </a:ext>
              </a:extLst>
            </p:cNvPr>
            <p:cNvSpPr/>
            <p:nvPr/>
          </p:nvSpPr>
          <p:spPr>
            <a:xfrm>
              <a:off x="240261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6BE06BA-9B19-674A-8B56-9B50F8C9A807}"/>
                </a:ext>
              </a:extLst>
            </p:cNvPr>
            <p:cNvSpPr/>
            <p:nvPr/>
          </p:nvSpPr>
          <p:spPr>
            <a:xfrm>
              <a:off x="197696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E35833F-303F-D546-B497-417AA4DFC346}"/>
                </a:ext>
              </a:extLst>
            </p:cNvPr>
            <p:cNvSpPr/>
            <p:nvPr/>
          </p:nvSpPr>
          <p:spPr>
            <a:xfrm>
              <a:off x="235689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FCC1284-DB95-DB4B-864C-A3397B158561}"/>
                </a:ext>
              </a:extLst>
            </p:cNvPr>
            <p:cNvCxnSpPr>
              <a:stCxn id="15" idx="6"/>
              <a:endCxn id="16" idx="2"/>
            </p:cNvCxnSpPr>
            <p:nvPr/>
          </p:nvCxnSpPr>
          <p:spPr>
            <a:xfrm>
              <a:off x="2251281" y="3909854"/>
              <a:ext cx="10561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754CA2E-0404-A74A-BA8A-04610367E8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8107" y="3818414"/>
              <a:ext cx="108714" cy="77811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5DE3327-2E10-0040-B79E-E5A5DC9A6468}"/>
                </a:ext>
              </a:extLst>
            </p:cNvPr>
            <p:cNvCxnSpPr>
              <a:cxnSpLocks/>
            </p:cNvCxnSpPr>
            <p:nvPr/>
          </p:nvCxnSpPr>
          <p:spPr>
            <a:xfrm>
              <a:off x="1861057" y="3793841"/>
              <a:ext cx="115904" cy="9143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095FF9B-696F-7540-A8E8-58433FB2781D}"/>
                </a:ext>
              </a:extLst>
            </p:cNvPr>
            <p:cNvSpPr/>
            <p:nvPr/>
          </p:nvSpPr>
          <p:spPr>
            <a:xfrm>
              <a:off x="2431057" y="3869216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F685CD7-A056-5D42-8CD1-10B73AEBEB6D}"/>
                </a:ext>
              </a:extLst>
            </p:cNvPr>
            <p:cNvSpPr/>
            <p:nvPr/>
          </p:nvSpPr>
          <p:spPr>
            <a:xfrm>
              <a:off x="2062706" y="388528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660008" y="1229023"/>
            <a:ext cx="30775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Developer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F4E97DD-61C5-0149-BE48-D235C3271EA1}"/>
              </a:ext>
            </a:extLst>
          </p:cNvPr>
          <p:cNvSpPr/>
          <p:nvPr/>
        </p:nvSpPr>
        <p:spPr>
          <a:xfrm>
            <a:off x="8511377" y="2388900"/>
            <a:ext cx="2496065" cy="20861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Most Amazing Application in the World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7A5AA5-B012-5B44-84EA-D045B855CCA9}"/>
              </a:ext>
            </a:extLst>
          </p:cNvPr>
          <p:cNvSpPr/>
          <p:nvPr/>
        </p:nvSpPr>
        <p:spPr>
          <a:xfrm>
            <a:off x="8073670" y="1229023"/>
            <a:ext cx="32801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Production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F22A553-4A07-5D47-A50B-9D715B55E833}"/>
              </a:ext>
            </a:extLst>
          </p:cNvPr>
          <p:cNvCxnSpPr/>
          <p:nvPr/>
        </p:nvCxnSpPr>
        <p:spPr>
          <a:xfrm>
            <a:off x="2790200" y="3192374"/>
            <a:ext cx="5535827" cy="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2D5D938-73B1-A24F-A7C0-1A50317D232C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774243" y="3479465"/>
            <a:ext cx="871279" cy="1554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3A910C2-30B6-294C-8BC1-23AD9644BD1E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286184" y="3479465"/>
            <a:ext cx="1025035" cy="1828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335FB5D-2B29-DF44-928F-010C8F4DCA89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3661155" y="3443232"/>
            <a:ext cx="1691311" cy="3017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1776C76-FD0D-8A46-9F42-A41C974423B6}"/>
              </a:ext>
            </a:extLst>
          </p:cNvPr>
          <p:cNvSpPr txBox="1"/>
          <p:nvPr/>
        </p:nvSpPr>
        <p:spPr>
          <a:xfrm rot="18002108">
            <a:off x="2004722" y="4048720"/>
            <a:ext cx="1994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Build Docker Image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B1EEA4-5DED-8943-A5D2-403F090C4182}"/>
              </a:ext>
            </a:extLst>
          </p:cNvPr>
          <p:cNvSpPr txBox="1"/>
          <p:nvPr/>
        </p:nvSpPr>
        <p:spPr>
          <a:xfrm rot="18002108">
            <a:off x="5500223" y="4216377"/>
            <a:ext cx="2162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Upload to Artifactory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BA3467-A7E0-EE4C-A841-7F102921FA1F}"/>
              </a:ext>
            </a:extLst>
          </p:cNvPr>
          <p:cNvSpPr txBox="1">
            <a:spLocks noChangeAspect="1"/>
          </p:cNvSpPr>
          <p:nvPr/>
        </p:nvSpPr>
        <p:spPr>
          <a:xfrm rot="18002108">
            <a:off x="2346903" y="4773955"/>
            <a:ext cx="3796809" cy="429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>
                <a:solidFill>
                  <a:schemeClr val="accent1"/>
                </a:solidFill>
              </a:rPr>
              <a:t>Security Scan for Docker Image</a:t>
            </a:r>
          </a:p>
        </p:txBody>
      </p:sp>
    </p:spTree>
    <p:extLst>
      <p:ext uri="{BB962C8B-B14F-4D97-AF65-F5344CB8AC3E}">
        <p14:creationId xmlns:p14="http://schemas.microsoft.com/office/powerpoint/2010/main" val="199192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Security – Security Scan for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003B-62D4-254F-AF2B-432C77BA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	</a:t>
            </a:r>
          </a:p>
          <a:p>
            <a:r>
              <a:rPr lang="en-US" dirty="0"/>
              <a:t>Source Code Scan Triggered by SCM Commit (GitHub)</a:t>
            </a:r>
          </a:p>
          <a:p>
            <a:r>
              <a:rPr lang="en-US" dirty="0"/>
              <a:t>Occurs Immediately After a Successful Container Build</a:t>
            </a:r>
          </a:p>
          <a:p>
            <a:r>
              <a:rPr lang="en-US" dirty="0"/>
              <a:t>Issues</a:t>
            </a:r>
          </a:p>
          <a:p>
            <a:pPr lvl="1"/>
            <a:r>
              <a:rPr lang="en-US" dirty="0"/>
              <a:t>Security Vulnerabilities</a:t>
            </a:r>
          </a:p>
          <a:p>
            <a:r>
              <a:rPr lang="en-US" dirty="0">
                <a:solidFill>
                  <a:srgbClr val="C00000"/>
                </a:solidFill>
              </a:rPr>
              <a:t>Uploads Results ???</a:t>
            </a:r>
          </a:p>
          <a:p>
            <a:r>
              <a:rPr lang="en-US" dirty="0"/>
              <a:t>A Failed Scan Must Break the Build</a:t>
            </a:r>
          </a:p>
          <a:p>
            <a:r>
              <a:rPr lang="en-US" dirty="0"/>
              <a:t>Occurs Immediately Before Uploading the Docker Image to Artifactory</a:t>
            </a:r>
          </a:p>
          <a:p>
            <a:r>
              <a:rPr lang="en-US" dirty="0"/>
              <a:t>Maximize Efficiency with </a:t>
            </a:r>
            <a:r>
              <a:rPr lang="en-US" dirty="0" err="1">
                <a:solidFill>
                  <a:srgbClr val="C00000"/>
                </a:solidFill>
              </a:rPr>
              <a:t>TwistLock</a:t>
            </a:r>
            <a:r>
              <a:rPr lang="en-US" dirty="0">
                <a:solidFill>
                  <a:srgbClr val="C00000"/>
                </a:solidFill>
              </a:rPr>
              <a:t> Plugin???</a:t>
            </a:r>
            <a:r>
              <a:rPr lang="en-US" dirty="0"/>
              <a:t> into IDE (moving further left)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838200" y="1229023"/>
            <a:ext cx="29081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TwistLock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56779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Security – Container Build – 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003B-62D4-254F-AF2B-432C77BA2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9792" y="2424701"/>
            <a:ext cx="3606229" cy="17157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 algn="ctr">
              <a:buNone/>
            </a:pPr>
            <a:r>
              <a:rPr lang="en-US" sz="9600" dirty="0"/>
              <a:t>Q &amp; A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838200" y="1229023"/>
            <a:ext cx="29081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TwistLock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9BD844-CC5D-A54A-A70D-4BCA1A0B22E8}"/>
              </a:ext>
            </a:extLst>
          </p:cNvPr>
          <p:cNvSpPr/>
          <p:nvPr/>
        </p:nvSpPr>
        <p:spPr>
          <a:xfrm>
            <a:off x="838199" y="5532183"/>
            <a:ext cx="76190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Next Up: Runtime Security</a:t>
            </a:r>
          </a:p>
        </p:txBody>
      </p:sp>
    </p:spTree>
    <p:extLst>
      <p:ext uri="{BB962C8B-B14F-4D97-AF65-F5344CB8AC3E}">
        <p14:creationId xmlns:p14="http://schemas.microsoft.com/office/powerpoint/2010/main" val="2466146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Security – Runtime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003B-62D4-254F-AF2B-432C77BA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ECC3A49-B4AD-1549-965B-ACDA39B42790}"/>
              </a:ext>
            </a:extLst>
          </p:cNvPr>
          <p:cNvGrpSpPr/>
          <p:nvPr/>
        </p:nvGrpSpPr>
        <p:grpSpPr>
          <a:xfrm>
            <a:off x="1626927" y="3902440"/>
            <a:ext cx="914400" cy="2538207"/>
            <a:chOff x="1849348" y="3544094"/>
            <a:chExt cx="914400" cy="253820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7736FB1-1665-1D40-A9A0-8E4818576D88}"/>
                </a:ext>
              </a:extLst>
            </p:cNvPr>
            <p:cNvSpPr/>
            <p:nvPr/>
          </p:nvSpPr>
          <p:spPr>
            <a:xfrm>
              <a:off x="1849348" y="3544094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4F6FB02-B7FB-CD45-B7B2-B6DBA3F3A7EE}"/>
                </a:ext>
              </a:extLst>
            </p:cNvPr>
            <p:cNvCxnSpPr>
              <a:stCxn id="4" idx="4"/>
            </p:cNvCxnSpPr>
            <p:nvPr/>
          </p:nvCxnSpPr>
          <p:spPr>
            <a:xfrm>
              <a:off x="2306548" y="4458494"/>
              <a:ext cx="5137" cy="9559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886C4D3-7A54-FB44-BCD9-FE49EDD31C5E}"/>
                </a:ext>
              </a:extLst>
            </p:cNvPr>
            <p:cNvCxnSpPr/>
            <p:nvPr/>
          </p:nvCxnSpPr>
          <p:spPr>
            <a:xfrm>
              <a:off x="2306548" y="5414481"/>
              <a:ext cx="375007" cy="6678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D3EEA3A-93D9-0849-9888-3032A2E92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6678" y="5415578"/>
              <a:ext cx="354886" cy="6667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7FE54D-70A9-A24F-8753-1352F2DF3D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907" y="4829197"/>
              <a:ext cx="6346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7E955C8-B846-C741-B5CC-018616DC9188}"/>
                </a:ext>
              </a:extLst>
            </p:cNvPr>
            <p:cNvSpPr/>
            <p:nvPr/>
          </p:nvSpPr>
          <p:spPr>
            <a:xfrm>
              <a:off x="202268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9FCEF9E-FC7B-0049-8401-459D91E6DDDB}"/>
                </a:ext>
              </a:extLst>
            </p:cNvPr>
            <p:cNvSpPr/>
            <p:nvPr/>
          </p:nvSpPr>
          <p:spPr>
            <a:xfrm>
              <a:off x="240261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6BE06BA-9B19-674A-8B56-9B50F8C9A807}"/>
                </a:ext>
              </a:extLst>
            </p:cNvPr>
            <p:cNvSpPr/>
            <p:nvPr/>
          </p:nvSpPr>
          <p:spPr>
            <a:xfrm>
              <a:off x="197696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E35833F-303F-D546-B497-417AA4DFC346}"/>
                </a:ext>
              </a:extLst>
            </p:cNvPr>
            <p:cNvSpPr/>
            <p:nvPr/>
          </p:nvSpPr>
          <p:spPr>
            <a:xfrm>
              <a:off x="235689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FCC1284-DB95-DB4B-864C-A3397B158561}"/>
                </a:ext>
              </a:extLst>
            </p:cNvPr>
            <p:cNvCxnSpPr>
              <a:stCxn id="15" idx="6"/>
              <a:endCxn id="16" idx="2"/>
            </p:cNvCxnSpPr>
            <p:nvPr/>
          </p:nvCxnSpPr>
          <p:spPr>
            <a:xfrm>
              <a:off x="2251281" y="3909854"/>
              <a:ext cx="10561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754CA2E-0404-A74A-BA8A-04610367E8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8107" y="3818414"/>
              <a:ext cx="108714" cy="77811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5DE3327-2E10-0040-B79E-E5A5DC9A6468}"/>
                </a:ext>
              </a:extLst>
            </p:cNvPr>
            <p:cNvCxnSpPr>
              <a:cxnSpLocks/>
            </p:cNvCxnSpPr>
            <p:nvPr/>
          </p:nvCxnSpPr>
          <p:spPr>
            <a:xfrm>
              <a:off x="1861057" y="3793841"/>
              <a:ext cx="115904" cy="9143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095FF9B-696F-7540-A8E8-58433FB2781D}"/>
                </a:ext>
              </a:extLst>
            </p:cNvPr>
            <p:cNvSpPr/>
            <p:nvPr/>
          </p:nvSpPr>
          <p:spPr>
            <a:xfrm>
              <a:off x="2431057" y="3869216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F685CD7-A056-5D42-8CD1-10B73AEBEB6D}"/>
                </a:ext>
              </a:extLst>
            </p:cNvPr>
            <p:cNvSpPr/>
            <p:nvPr/>
          </p:nvSpPr>
          <p:spPr>
            <a:xfrm>
              <a:off x="2062706" y="388528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761289" y="3065849"/>
            <a:ext cx="30775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Developer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F4E97DD-61C5-0149-BE48-D235C3271EA1}"/>
              </a:ext>
            </a:extLst>
          </p:cNvPr>
          <p:cNvSpPr/>
          <p:nvPr/>
        </p:nvSpPr>
        <p:spPr>
          <a:xfrm>
            <a:off x="8612658" y="4225726"/>
            <a:ext cx="2496065" cy="20861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Most Amazing Application in the World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7A5AA5-B012-5B44-84EA-D045B855CCA9}"/>
              </a:ext>
            </a:extLst>
          </p:cNvPr>
          <p:cNvSpPr/>
          <p:nvPr/>
        </p:nvSpPr>
        <p:spPr>
          <a:xfrm>
            <a:off x="8174951" y="3065849"/>
            <a:ext cx="32801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Production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F22A553-4A07-5D47-A50B-9D715B55E833}"/>
              </a:ext>
            </a:extLst>
          </p:cNvPr>
          <p:cNvCxnSpPr/>
          <p:nvPr/>
        </p:nvCxnSpPr>
        <p:spPr>
          <a:xfrm>
            <a:off x="2891481" y="5029200"/>
            <a:ext cx="5535827" cy="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AEC26AF-DAC2-8D4F-9838-4BAA17D83B6A}"/>
              </a:ext>
            </a:extLst>
          </p:cNvPr>
          <p:cNvSpPr txBox="1"/>
          <p:nvPr/>
        </p:nvSpPr>
        <p:spPr>
          <a:xfrm>
            <a:off x="2891481" y="4407734"/>
            <a:ext cx="5066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Injecting security checks into the pipeline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2D5D938-73B1-A24F-A7C0-1A50317D232C}"/>
              </a:ext>
            </a:extLst>
          </p:cNvPr>
          <p:cNvCxnSpPr/>
          <p:nvPr/>
        </p:nvCxnSpPr>
        <p:spPr>
          <a:xfrm flipV="1">
            <a:off x="4458074" y="5178393"/>
            <a:ext cx="630195" cy="11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3A910C2-30B6-294C-8BC1-23AD9644BD1E}"/>
              </a:ext>
            </a:extLst>
          </p:cNvPr>
          <p:cNvCxnSpPr/>
          <p:nvPr/>
        </p:nvCxnSpPr>
        <p:spPr>
          <a:xfrm flipV="1">
            <a:off x="5260578" y="5187543"/>
            <a:ext cx="630195" cy="11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335FB5D-2B29-DF44-928F-010C8F4DCA89}"/>
              </a:ext>
            </a:extLst>
          </p:cNvPr>
          <p:cNvCxnSpPr/>
          <p:nvPr/>
        </p:nvCxnSpPr>
        <p:spPr>
          <a:xfrm flipV="1">
            <a:off x="4833536" y="5182968"/>
            <a:ext cx="630195" cy="11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1776C76-FD0D-8A46-9F42-A41C974423B6}"/>
              </a:ext>
            </a:extLst>
          </p:cNvPr>
          <p:cNvSpPr txBox="1"/>
          <p:nvPr/>
        </p:nvSpPr>
        <p:spPr>
          <a:xfrm rot="18002108">
            <a:off x="4311916" y="5551437"/>
            <a:ext cx="63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26A835-D529-CB40-BD8A-CB5AEA5D3B6B}"/>
              </a:ext>
            </a:extLst>
          </p:cNvPr>
          <p:cNvSpPr txBox="1"/>
          <p:nvPr/>
        </p:nvSpPr>
        <p:spPr>
          <a:xfrm rot="18002108">
            <a:off x="4445861" y="5594760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B1EEA4-5DED-8943-A5D2-403F090C4182}"/>
              </a:ext>
            </a:extLst>
          </p:cNvPr>
          <p:cNvSpPr txBox="1"/>
          <p:nvPr/>
        </p:nvSpPr>
        <p:spPr>
          <a:xfrm rot="18002108">
            <a:off x="4970165" y="5603911"/>
            <a:ext cx="9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runtime</a:t>
            </a:r>
          </a:p>
        </p:txBody>
      </p:sp>
    </p:spTree>
    <p:extLst>
      <p:ext uri="{BB962C8B-B14F-4D97-AF65-F5344CB8AC3E}">
        <p14:creationId xmlns:p14="http://schemas.microsoft.com/office/powerpoint/2010/main" val="3386953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Security – Runtime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003B-62D4-254F-AF2B-432C77BA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ECC3A49-B4AD-1549-965B-ACDA39B42790}"/>
              </a:ext>
            </a:extLst>
          </p:cNvPr>
          <p:cNvGrpSpPr/>
          <p:nvPr/>
        </p:nvGrpSpPr>
        <p:grpSpPr>
          <a:xfrm>
            <a:off x="1525646" y="2065614"/>
            <a:ext cx="914400" cy="2538207"/>
            <a:chOff x="1849348" y="3544094"/>
            <a:chExt cx="914400" cy="253820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7736FB1-1665-1D40-A9A0-8E4818576D88}"/>
                </a:ext>
              </a:extLst>
            </p:cNvPr>
            <p:cNvSpPr/>
            <p:nvPr/>
          </p:nvSpPr>
          <p:spPr>
            <a:xfrm>
              <a:off x="1849348" y="3544094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4F6FB02-B7FB-CD45-B7B2-B6DBA3F3A7EE}"/>
                </a:ext>
              </a:extLst>
            </p:cNvPr>
            <p:cNvCxnSpPr>
              <a:stCxn id="4" idx="4"/>
            </p:cNvCxnSpPr>
            <p:nvPr/>
          </p:nvCxnSpPr>
          <p:spPr>
            <a:xfrm>
              <a:off x="2306548" y="4458494"/>
              <a:ext cx="5137" cy="9559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886C4D3-7A54-FB44-BCD9-FE49EDD31C5E}"/>
                </a:ext>
              </a:extLst>
            </p:cNvPr>
            <p:cNvCxnSpPr/>
            <p:nvPr/>
          </p:nvCxnSpPr>
          <p:spPr>
            <a:xfrm>
              <a:off x="2306548" y="5414481"/>
              <a:ext cx="375007" cy="6678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D3EEA3A-93D9-0849-9888-3032A2E92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6678" y="5415578"/>
              <a:ext cx="354886" cy="6667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7FE54D-70A9-A24F-8753-1352F2DF3D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907" y="4829197"/>
              <a:ext cx="6346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7E955C8-B846-C741-B5CC-018616DC9188}"/>
                </a:ext>
              </a:extLst>
            </p:cNvPr>
            <p:cNvSpPr/>
            <p:nvPr/>
          </p:nvSpPr>
          <p:spPr>
            <a:xfrm>
              <a:off x="202268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9FCEF9E-FC7B-0049-8401-459D91E6DDDB}"/>
                </a:ext>
              </a:extLst>
            </p:cNvPr>
            <p:cNvSpPr/>
            <p:nvPr/>
          </p:nvSpPr>
          <p:spPr>
            <a:xfrm>
              <a:off x="240261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6BE06BA-9B19-674A-8B56-9B50F8C9A807}"/>
                </a:ext>
              </a:extLst>
            </p:cNvPr>
            <p:cNvSpPr/>
            <p:nvPr/>
          </p:nvSpPr>
          <p:spPr>
            <a:xfrm>
              <a:off x="197696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E35833F-303F-D546-B497-417AA4DFC346}"/>
                </a:ext>
              </a:extLst>
            </p:cNvPr>
            <p:cNvSpPr/>
            <p:nvPr/>
          </p:nvSpPr>
          <p:spPr>
            <a:xfrm>
              <a:off x="235689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FCC1284-DB95-DB4B-864C-A3397B158561}"/>
                </a:ext>
              </a:extLst>
            </p:cNvPr>
            <p:cNvCxnSpPr>
              <a:stCxn id="15" idx="6"/>
              <a:endCxn id="16" idx="2"/>
            </p:cNvCxnSpPr>
            <p:nvPr/>
          </p:nvCxnSpPr>
          <p:spPr>
            <a:xfrm>
              <a:off x="2251281" y="3909854"/>
              <a:ext cx="10561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754CA2E-0404-A74A-BA8A-04610367E8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8107" y="3818414"/>
              <a:ext cx="108714" cy="77811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5DE3327-2E10-0040-B79E-E5A5DC9A6468}"/>
                </a:ext>
              </a:extLst>
            </p:cNvPr>
            <p:cNvCxnSpPr>
              <a:cxnSpLocks/>
            </p:cNvCxnSpPr>
            <p:nvPr/>
          </p:nvCxnSpPr>
          <p:spPr>
            <a:xfrm>
              <a:off x="1861057" y="3793841"/>
              <a:ext cx="115904" cy="9143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095FF9B-696F-7540-A8E8-58433FB2781D}"/>
                </a:ext>
              </a:extLst>
            </p:cNvPr>
            <p:cNvSpPr/>
            <p:nvPr/>
          </p:nvSpPr>
          <p:spPr>
            <a:xfrm>
              <a:off x="2431057" y="3869216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F685CD7-A056-5D42-8CD1-10B73AEBEB6D}"/>
                </a:ext>
              </a:extLst>
            </p:cNvPr>
            <p:cNvSpPr/>
            <p:nvPr/>
          </p:nvSpPr>
          <p:spPr>
            <a:xfrm>
              <a:off x="2062706" y="388528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660008" y="1229023"/>
            <a:ext cx="30775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Developer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F4E97DD-61C5-0149-BE48-D235C3271EA1}"/>
              </a:ext>
            </a:extLst>
          </p:cNvPr>
          <p:cNvSpPr/>
          <p:nvPr/>
        </p:nvSpPr>
        <p:spPr>
          <a:xfrm>
            <a:off x="8511377" y="2388900"/>
            <a:ext cx="2496065" cy="20861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Most Amazing Application in the World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7A5AA5-B012-5B44-84EA-D045B855CCA9}"/>
              </a:ext>
            </a:extLst>
          </p:cNvPr>
          <p:cNvSpPr/>
          <p:nvPr/>
        </p:nvSpPr>
        <p:spPr>
          <a:xfrm>
            <a:off x="8073670" y="1229023"/>
            <a:ext cx="32801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Production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F22A553-4A07-5D47-A50B-9D715B55E833}"/>
              </a:ext>
            </a:extLst>
          </p:cNvPr>
          <p:cNvCxnSpPr/>
          <p:nvPr/>
        </p:nvCxnSpPr>
        <p:spPr>
          <a:xfrm>
            <a:off x="2790200" y="3192374"/>
            <a:ext cx="5535827" cy="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2D5D938-73B1-A24F-A7C0-1A50317D232C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2774243" y="3479465"/>
            <a:ext cx="871279" cy="1554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3A910C2-30B6-294C-8BC1-23AD9644BD1E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286184" y="3479465"/>
            <a:ext cx="1025035" cy="1828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335FB5D-2B29-DF44-928F-010C8F4DCA89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3248062" y="3480425"/>
            <a:ext cx="1691311" cy="3017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1776C76-FD0D-8A46-9F42-A41C974423B6}"/>
              </a:ext>
            </a:extLst>
          </p:cNvPr>
          <p:cNvSpPr txBox="1"/>
          <p:nvPr/>
        </p:nvSpPr>
        <p:spPr>
          <a:xfrm rot="18002108">
            <a:off x="1992414" y="4048720"/>
            <a:ext cx="2019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Deploy to non-Prod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B1EEA4-5DED-8943-A5D2-403F090C4182}"/>
              </a:ext>
            </a:extLst>
          </p:cNvPr>
          <p:cNvSpPr txBox="1"/>
          <p:nvPr/>
        </p:nvSpPr>
        <p:spPr>
          <a:xfrm rot="18002108">
            <a:off x="5736349" y="4216377"/>
            <a:ext cx="1690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Deploy to Prod?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BA3467-A7E0-EE4C-A841-7F102921FA1F}"/>
              </a:ext>
            </a:extLst>
          </p:cNvPr>
          <p:cNvSpPr txBox="1">
            <a:spLocks noChangeAspect="1"/>
          </p:cNvSpPr>
          <p:nvPr/>
        </p:nvSpPr>
        <p:spPr>
          <a:xfrm rot="18002108">
            <a:off x="2195665" y="4773741"/>
            <a:ext cx="34299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>
                <a:solidFill>
                  <a:schemeClr val="accent1"/>
                </a:solidFill>
              </a:rPr>
              <a:t>Automated Functional Tests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D5EBA74-C149-9D4D-8792-FCA95096FD13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5388310" y="3526392"/>
            <a:ext cx="1025035" cy="1828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B100E84-AA93-AF4D-96DD-E13D2F52C53C}"/>
              </a:ext>
            </a:extLst>
          </p:cNvPr>
          <p:cNvSpPr txBox="1"/>
          <p:nvPr/>
        </p:nvSpPr>
        <p:spPr>
          <a:xfrm rot="18002108">
            <a:off x="4730948" y="4263304"/>
            <a:ext cx="1905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Performance Tests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C49E24-CEBC-9A4D-9DC0-A15291C7B7E3}"/>
              </a:ext>
            </a:extLst>
          </p:cNvPr>
          <p:cNvSpPr txBox="1">
            <a:spLocks noChangeAspect="1"/>
          </p:cNvSpPr>
          <p:nvPr/>
        </p:nvSpPr>
        <p:spPr>
          <a:xfrm rot="18002108">
            <a:off x="2161916" y="4942358"/>
            <a:ext cx="4099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>
                <a:solidFill>
                  <a:schemeClr val="accent1"/>
                </a:solidFill>
              </a:rPr>
              <a:t>Contrast Results are generated and uploaded)</a:t>
            </a:r>
          </a:p>
        </p:txBody>
      </p:sp>
    </p:spTree>
    <p:extLst>
      <p:ext uri="{BB962C8B-B14F-4D97-AF65-F5344CB8AC3E}">
        <p14:creationId xmlns:p14="http://schemas.microsoft.com/office/powerpoint/2010/main" val="3473614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Security – Security Scan for Runtime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003B-62D4-254F-AF2B-432C77BA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	</a:t>
            </a:r>
          </a:p>
          <a:p>
            <a:r>
              <a:rPr lang="en-US" dirty="0"/>
              <a:t>Source Code Scan Triggered by SCM Commit (GitHub)</a:t>
            </a:r>
          </a:p>
          <a:p>
            <a:r>
              <a:rPr lang="en-US" dirty="0"/>
              <a:t>Occurs as part of Automated Function Tests</a:t>
            </a:r>
          </a:p>
          <a:p>
            <a:pPr lvl="1"/>
            <a:r>
              <a:rPr lang="en-US" dirty="0"/>
              <a:t>Contrast Instruments the code during Source Code Compile</a:t>
            </a:r>
          </a:p>
          <a:p>
            <a:pPr lvl="1"/>
            <a:r>
              <a:rPr lang="en-US" dirty="0"/>
              <a:t>Contrast Security results are generated and uploaded during execution of Automated Functional Tests</a:t>
            </a:r>
          </a:p>
          <a:p>
            <a:r>
              <a:rPr lang="en-US" dirty="0"/>
              <a:t>Issues</a:t>
            </a:r>
          </a:p>
          <a:p>
            <a:pPr lvl="1"/>
            <a:r>
              <a:rPr lang="en-US" dirty="0"/>
              <a:t>Security Vulnerabilities</a:t>
            </a:r>
          </a:p>
          <a:p>
            <a:r>
              <a:rPr lang="en-US" dirty="0"/>
              <a:t>Uploads Results to Contrast Server</a:t>
            </a:r>
          </a:p>
          <a:p>
            <a:r>
              <a:rPr lang="en-US" dirty="0"/>
              <a:t>Fetching Contrast Results from Contrast Server</a:t>
            </a:r>
          </a:p>
          <a:p>
            <a:r>
              <a:rPr lang="en-US" dirty="0"/>
              <a:t>A Failed Scan Must Break the Build</a:t>
            </a:r>
          </a:p>
          <a:p>
            <a:r>
              <a:rPr lang="en-US" dirty="0"/>
              <a:t>Maximize Efficiency with </a:t>
            </a:r>
            <a:r>
              <a:rPr lang="en-US" dirty="0">
                <a:solidFill>
                  <a:srgbClr val="C00000"/>
                </a:solidFill>
              </a:rPr>
              <a:t>Contrast Plugin???</a:t>
            </a:r>
            <a:r>
              <a:rPr lang="en-US" dirty="0"/>
              <a:t> into IDE (moving further left)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838200" y="1229023"/>
            <a:ext cx="25640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Contrast</a:t>
            </a:r>
          </a:p>
        </p:txBody>
      </p:sp>
    </p:spTree>
    <p:extLst>
      <p:ext uri="{BB962C8B-B14F-4D97-AF65-F5344CB8AC3E}">
        <p14:creationId xmlns:p14="http://schemas.microsoft.com/office/powerpoint/2010/main" val="2415960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Security – Container Build – 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003B-62D4-254F-AF2B-432C77BA2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9792" y="2424701"/>
            <a:ext cx="3606229" cy="17157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 algn="ctr">
              <a:buNone/>
            </a:pPr>
            <a:r>
              <a:rPr lang="en-US" sz="9600" dirty="0"/>
              <a:t>Q &amp; A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838200" y="1229023"/>
            <a:ext cx="25640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Contrast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9BD844-CC5D-A54A-A70D-4BCA1A0B22E8}"/>
              </a:ext>
            </a:extLst>
          </p:cNvPr>
          <p:cNvSpPr/>
          <p:nvPr/>
        </p:nvSpPr>
        <p:spPr>
          <a:xfrm>
            <a:off x="838199" y="5532183"/>
            <a:ext cx="61522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Next Up: Conclusions</a:t>
            </a:r>
          </a:p>
        </p:txBody>
      </p:sp>
    </p:spTree>
    <p:extLst>
      <p:ext uri="{BB962C8B-B14F-4D97-AF65-F5344CB8AC3E}">
        <p14:creationId xmlns:p14="http://schemas.microsoft.com/office/powerpoint/2010/main" val="2504972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003B-62D4-254F-AF2B-432C77BA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Pipeline Security is One Piece of the Puzzle</a:t>
            </a:r>
          </a:p>
          <a:p>
            <a:pPr marL="0" indent="0">
              <a:buNone/>
            </a:pPr>
            <a:r>
              <a:rPr lang="en-US" sz="3600" dirty="0"/>
              <a:t>	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ECC3A49-B4AD-1549-965B-ACDA39B42790}"/>
              </a:ext>
            </a:extLst>
          </p:cNvPr>
          <p:cNvGrpSpPr/>
          <p:nvPr/>
        </p:nvGrpSpPr>
        <p:grpSpPr>
          <a:xfrm>
            <a:off x="1626927" y="3902440"/>
            <a:ext cx="914400" cy="2538207"/>
            <a:chOff x="1849348" y="3544094"/>
            <a:chExt cx="914400" cy="253820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7736FB1-1665-1D40-A9A0-8E4818576D88}"/>
                </a:ext>
              </a:extLst>
            </p:cNvPr>
            <p:cNvSpPr/>
            <p:nvPr/>
          </p:nvSpPr>
          <p:spPr>
            <a:xfrm>
              <a:off x="1849348" y="3544094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4F6FB02-B7FB-CD45-B7B2-B6DBA3F3A7EE}"/>
                </a:ext>
              </a:extLst>
            </p:cNvPr>
            <p:cNvCxnSpPr>
              <a:stCxn id="4" idx="4"/>
            </p:cNvCxnSpPr>
            <p:nvPr/>
          </p:nvCxnSpPr>
          <p:spPr>
            <a:xfrm>
              <a:off x="2306548" y="4458494"/>
              <a:ext cx="5137" cy="9559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886C4D3-7A54-FB44-BCD9-FE49EDD31C5E}"/>
                </a:ext>
              </a:extLst>
            </p:cNvPr>
            <p:cNvCxnSpPr/>
            <p:nvPr/>
          </p:nvCxnSpPr>
          <p:spPr>
            <a:xfrm>
              <a:off x="2306548" y="5414481"/>
              <a:ext cx="375007" cy="6678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D3EEA3A-93D9-0849-9888-3032A2E92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6678" y="5415578"/>
              <a:ext cx="354886" cy="6667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7FE54D-70A9-A24F-8753-1352F2DF3D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907" y="4829197"/>
              <a:ext cx="6346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7E955C8-B846-C741-B5CC-018616DC9188}"/>
                </a:ext>
              </a:extLst>
            </p:cNvPr>
            <p:cNvSpPr/>
            <p:nvPr/>
          </p:nvSpPr>
          <p:spPr>
            <a:xfrm>
              <a:off x="202268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9FCEF9E-FC7B-0049-8401-459D91E6DDDB}"/>
                </a:ext>
              </a:extLst>
            </p:cNvPr>
            <p:cNvSpPr/>
            <p:nvPr/>
          </p:nvSpPr>
          <p:spPr>
            <a:xfrm>
              <a:off x="2402611" y="3818414"/>
              <a:ext cx="182880" cy="1828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6BE06BA-9B19-674A-8B56-9B50F8C9A807}"/>
                </a:ext>
              </a:extLst>
            </p:cNvPr>
            <p:cNvSpPr/>
            <p:nvPr/>
          </p:nvSpPr>
          <p:spPr>
            <a:xfrm>
              <a:off x="197696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E35833F-303F-D546-B497-417AA4DFC346}"/>
                </a:ext>
              </a:extLst>
            </p:cNvPr>
            <p:cNvSpPr/>
            <p:nvPr/>
          </p:nvSpPr>
          <p:spPr>
            <a:xfrm>
              <a:off x="2356891" y="3772694"/>
              <a:ext cx="274320" cy="27432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FCC1284-DB95-DB4B-864C-A3397B158561}"/>
                </a:ext>
              </a:extLst>
            </p:cNvPr>
            <p:cNvCxnSpPr>
              <a:stCxn id="15" idx="6"/>
              <a:endCxn id="16" idx="2"/>
            </p:cNvCxnSpPr>
            <p:nvPr/>
          </p:nvCxnSpPr>
          <p:spPr>
            <a:xfrm>
              <a:off x="2251281" y="3909854"/>
              <a:ext cx="10561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754CA2E-0404-A74A-BA8A-04610367E8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8107" y="3818414"/>
              <a:ext cx="108714" cy="77811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5DE3327-2E10-0040-B79E-E5A5DC9A6468}"/>
                </a:ext>
              </a:extLst>
            </p:cNvPr>
            <p:cNvCxnSpPr>
              <a:cxnSpLocks/>
            </p:cNvCxnSpPr>
            <p:nvPr/>
          </p:nvCxnSpPr>
          <p:spPr>
            <a:xfrm>
              <a:off x="1861057" y="3793841"/>
              <a:ext cx="115904" cy="9143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095FF9B-696F-7540-A8E8-58433FB2781D}"/>
                </a:ext>
              </a:extLst>
            </p:cNvPr>
            <p:cNvSpPr/>
            <p:nvPr/>
          </p:nvSpPr>
          <p:spPr>
            <a:xfrm>
              <a:off x="2431057" y="3869216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F685CD7-A056-5D42-8CD1-10B73AEBEB6D}"/>
                </a:ext>
              </a:extLst>
            </p:cNvPr>
            <p:cNvSpPr/>
            <p:nvPr/>
          </p:nvSpPr>
          <p:spPr>
            <a:xfrm>
              <a:off x="2062706" y="388528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761289" y="3065849"/>
            <a:ext cx="30775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Developer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F4E97DD-61C5-0149-BE48-D235C3271EA1}"/>
              </a:ext>
            </a:extLst>
          </p:cNvPr>
          <p:cNvSpPr/>
          <p:nvPr/>
        </p:nvSpPr>
        <p:spPr>
          <a:xfrm>
            <a:off x="8612658" y="4225726"/>
            <a:ext cx="2496065" cy="20861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Most Amazing Application in the World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7A5AA5-B012-5B44-84EA-D045B855CCA9}"/>
              </a:ext>
            </a:extLst>
          </p:cNvPr>
          <p:cNvSpPr/>
          <p:nvPr/>
        </p:nvSpPr>
        <p:spPr>
          <a:xfrm>
            <a:off x="8174951" y="3065849"/>
            <a:ext cx="32801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Production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F22A553-4A07-5D47-A50B-9D715B55E833}"/>
              </a:ext>
            </a:extLst>
          </p:cNvPr>
          <p:cNvCxnSpPr>
            <a:cxnSpLocks/>
          </p:cNvCxnSpPr>
          <p:nvPr/>
        </p:nvCxnSpPr>
        <p:spPr>
          <a:xfrm>
            <a:off x="2891481" y="5029200"/>
            <a:ext cx="5721177" cy="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80EC0AC-D7CE-C043-982C-6FB8EB5A2071}"/>
              </a:ext>
            </a:extLst>
          </p:cNvPr>
          <p:cNvCxnSpPr/>
          <p:nvPr/>
        </p:nvCxnSpPr>
        <p:spPr>
          <a:xfrm flipV="1">
            <a:off x="6066495" y="5217249"/>
            <a:ext cx="630195" cy="11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4046A6A-0590-7C4E-BF91-3A271A29BF93}"/>
              </a:ext>
            </a:extLst>
          </p:cNvPr>
          <p:cNvCxnSpPr/>
          <p:nvPr/>
        </p:nvCxnSpPr>
        <p:spPr>
          <a:xfrm flipV="1">
            <a:off x="6868999" y="5226399"/>
            <a:ext cx="630195" cy="11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216CFE9-E006-2D4A-BAC3-D94EA01944C5}"/>
              </a:ext>
            </a:extLst>
          </p:cNvPr>
          <p:cNvCxnSpPr/>
          <p:nvPr/>
        </p:nvCxnSpPr>
        <p:spPr>
          <a:xfrm flipV="1">
            <a:off x="6441957" y="5221824"/>
            <a:ext cx="630195" cy="11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18C75E5-2F47-6B4E-8747-4C59840CC56A}"/>
              </a:ext>
            </a:extLst>
          </p:cNvPr>
          <p:cNvSpPr txBox="1"/>
          <p:nvPr/>
        </p:nvSpPr>
        <p:spPr>
          <a:xfrm rot="18002108">
            <a:off x="5726624" y="5603911"/>
            <a:ext cx="1055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reliability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16BEB9-A291-A84B-A383-6636F8577B5C}"/>
              </a:ext>
            </a:extLst>
          </p:cNvPr>
          <p:cNvSpPr txBox="1"/>
          <p:nvPr/>
        </p:nvSpPr>
        <p:spPr>
          <a:xfrm rot="18002108">
            <a:off x="6135523" y="5617827"/>
            <a:ext cx="1055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reliability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0367A4F-E73B-904A-AC29-FCD6A29E8402}"/>
              </a:ext>
            </a:extLst>
          </p:cNvPr>
          <p:cNvSpPr txBox="1"/>
          <p:nvPr/>
        </p:nvSpPr>
        <p:spPr>
          <a:xfrm rot="18002108">
            <a:off x="6571471" y="5594761"/>
            <a:ext cx="1055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reliability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C1F3AA7-3151-5940-B22D-AF9331C9EBCE}"/>
              </a:ext>
            </a:extLst>
          </p:cNvPr>
          <p:cNvCxnSpPr/>
          <p:nvPr/>
        </p:nvCxnSpPr>
        <p:spPr>
          <a:xfrm flipV="1">
            <a:off x="2884043" y="5180091"/>
            <a:ext cx="630195" cy="11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6487E30-6F35-0D40-9D12-E1A3A64FF3B5}"/>
              </a:ext>
            </a:extLst>
          </p:cNvPr>
          <p:cNvCxnSpPr/>
          <p:nvPr/>
        </p:nvCxnSpPr>
        <p:spPr>
          <a:xfrm flipV="1">
            <a:off x="3686547" y="5189241"/>
            <a:ext cx="630195" cy="11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4C10B8-BACF-714B-9CA9-6B03EC384B75}"/>
              </a:ext>
            </a:extLst>
          </p:cNvPr>
          <p:cNvCxnSpPr/>
          <p:nvPr/>
        </p:nvCxnSpPr>
        <p:spPr>
          <a:xfrm flipV="1">
            <a:off x="3259505" y="5184666"/>
            <a:ext cx="630195" cy="11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D3D6ECD-BB5C-2E47-BAEA-6C312B40A467}"/>
              </a:ext>
            </a:extLst>
          </p:cNvPr>
          <p:cNvSpPr txBox="1"/>
          <p:nvPr/>
        </p:nvSpPr>
        <p:spPr>
          <a:xfrm rot="18002108">
            <a:off x="2633050" y="5560495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quality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3A2933-424F-4C48-A5EF-94DE5E87BFE7}"/>
              </a:ext>
            </a:extLst>
          </p:cNvPr>
          <p:cNvSpPr txBox="1"/>
          <p:nvPr/>
        </p:nvSpPr>
        <p:spPr>
          <a:xfrm rot="18002108">
            <a:off x="3032516" y="5562188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quality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494467-1121-8B48-AF24-6CD1A13C62BA}"/>
              </a:ext>
            </a:extLst>
          </p:cNvPr>
          <p:cNvSpPr txBox="1"/>
          <p:nvPr/>
        </p:nvSpPr>
        <p:spPr>
          <a:xfrm rot="18002108">
            <a:off x="3443072" y="557242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quality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F411F31-8069-BC41-A2A5-A9532C75B17D}"/>
              </a:ext>
            </a:extLst>
          </p:cNvPr>
          <p:cNvCxnSpPr/>
          <p:nvPr/>
        </p:nvCxnSpPr>
        <p:spPr>
          <a:xfrm flipV="1">
            <a:off x="4458074" y="5178393"/>
            <a:ext cx="630195" cy="11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278A954-0725-8B4D-A859-F50CACE3FB4E}"/>
              </a:ext>
            </a:extLst>
          </p:cNvPr>
          <p:cNvCxnSpPr/>
          <p:nvPr/>
        </p:nvCxnSpPr>
        <p:spPr>
          <a:xfrm flipV="1">
            <a:off x="5260578" y="5187543"/>
            <a:ext cx="630195" cy="11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6F6AA5A-75C0-F742-A407-027B49F19BCF}"/>
              </a:ext>
            </a:extLst>
          </p:cNvPr>
          <p:cNvCxnSpPr/>
          <p:nvPr/>
        </p:nvCxnSpPr>
        <p:spPr>
          <a:xfrm flipV="1">
            <a:off x="4833536" y="5182968"/>
            <a:ext cx="630195" cy="11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40773EB-4AF9-F04A-80C9-60657184C9F5}"/>
              </a:ext>
            </a:extLst>
          </p:cNvPr>
          <p:cNvSpPr txBox="1"/>
          <p:nvPr/>
        </p:nvSpPr>
        <p:spPr>
          <a:xfrm rot="18002108">
            <a:off x="4169890" y="5551437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security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3193A28-EC88-4641-909E-1655BB8656A0}"/>
              </a:ext>
            </a:extLst>
          </p:cNvPr>
          <p:cNvSpPr txBox="1"/>
          <p:nvPr/>
        </p:nvSpPr>
        <p:spPr>
          <a:xfrm rot="18002108">
            <a:off x="4522580" y="5594760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security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D97C2A4-82A8-8648-B233-A463DBB96936}"/>
              </a:ext>
            </a:extLst>
          </p:cNvPr>
          <p:cNvSpPr txBox="1"/>
          <p:nvPr/>
        </p:nvSpPr>
        <p:spPr>
          <a:xfrm rot="18002108">
            <a:off x="4976320" y="5603911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security</a:t>
            </a: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634ED564-23BA-3041-850B-223556D1093F}"/>
              </a:ext>
            </a:extLst>
          </p:cNvPr>
          <p:cNvSpPr/>
          <p:nvPr/>
        </p:nvSpPr>
        <p:spPr>
          <a:xfrm flipH="1" flipV="1">
            <a:off x="1931725" y="4405359"/>
            <a:ext cx="703510" cy="187581"/>
          </a:xfrm>
          <a:prstGeom prst="arc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2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Security –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003B-62D4-254F-AF2B-432C77BA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	</a:t>
            </a:r>
          </a:p>
          <a:p>
            <a:r>
              <a:rPr lang="en-US" dirty="0" err="1"/>
              <a:t>FlowDock</a:t>
            </a:r>
            <a:r>
              <a:rPr lang="en-US" dirty="0"/>
              <a:t> Flows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???</a:t>
            </a:r>
          </a:p>
          <a:p>
            <a:r>
              <a:rPr lang="en-US" dirty="0"/>
              <a:t>Documentation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???</a:t>
            </a:r>
          </a:p>
          <a:p>
            <a:r>
              <a:rPr lang="en-US" dirty="0"/>
              <a:t>Agile Coach Groups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???</a:t>
            </a:r>
          </a:p>
          <a:p>
            <a:r>
              <a:rPr lang="en-US" dirty="0"/>
              <a:t>Agile Coaching Office Hours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???</a:t>
            </a:r>
          </a:p>
          <a:p>
            <a:r>
              <a:rPr lang="en-US" dirty="0"/>
              <a:t>Mojo Engagement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???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838200" y="1229023"/>
            <a:ext cx="57020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Where To Find Help</a:t>
            </a:r>
          </a:p>
        </p:txBody>
      </p:sp>
    </p:spTree>
    <p:extLst>
      <p:ext uri="{BB962C8B-B14F-4D97-AF65-F5344CB8AC3E}">
        <p14:creationId xmlns:p14="http://schemas.microsoft.com/office/powerpoint/2010/main" val="353217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8641</TotalTime>
  <Words>1028</Words>
  <Application>Microsoft Macintosh PowerPoint</Application>
  <PresentationFormat>Widescreen</PresentationFormat>
  <Paragraphs>375</Paragraphs>
  <Slides>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Ayuthaya</vt:lpstr>
      <vt:lpstr>Calibri</vt:lpstr>
      <vt:lpstr>Calibri Light</vt:lpstr>
      <vt:lpstr>Cambria</vt:lpstr>
      <vt:lpstr>Wingdings</vt:lpstr>
      <vt:lpstr>Office Theme</vt:lpstr>
      <vt:lpstr>Cloud at 30,000 ft</vt:lpstr>
      <vt:lpstr>Eric Starr</vt:lpstr>
      <vt:lpstr>Cloud at 30k</vt:lpstr>
      <vt:lpstr>Do you Agree?</vt:lpstr>
      <vt:lpstr>Do you Agree?</vt:lpstr>
      <vt:lpstr>Cloud at 30k – Agenda</vt:lpstr>
      <vt:lpstr>Building a Pipeline</vt:lpstr>
      <vt:lpstr>Building a Pipeline</vt:lpstr>
      <vt:lpstr>Building a Pipeline</vt:lpstr>
      <vt:lpstr>Building a Pipeline</vt:lpstr>
      <vt:lpstr>Infrastructure - Environments</vt:lpstr>
      <vt:lpstr>Infrastructure – Environments - Local</vt:lpstr>
      <vt:lpstr>Infrastructure – Environments – Build</vt:lpstr>
      <vt:lpstr>Infrastructure – Environments – Deployment</vt:lpstr>
      <vt:lpstr>Infrastructure – Environments – Deployment</vt:lpstr>
      <vt:lpstr>Data Center</vt:lpstr>
      <vt:lpstr>Data Center – VMs versus Containers</vt:lpstr>
      <vt:lpstr>Data Center – VM &amp; Container Questions</vt:lpstr>
      <vt:lpstr>Enterprise PADU</vt:lpstr>
      <vt:lpstr>Enterprise PADU</vt:lpstr>
      <vt:lpstr>Public Cloud</vt:lpstr>
      <vt:lpstr>PowerPoint Presentation</vt:lpstr>
      <vt:lpstr>Additional Resources</vt:lpstr>
      <vt:lpstr>STOP – OLD SLIDES BELOW THIS POINT</vt:lpstr>
      <vt:lpstr>PowerPoint Presentation</vt:lpstr>
      <vt:lpstr>Continuous Delivery with Security</vt:lpstr>
      <vt:lpstr>Pipeline Security</vt:lpstr>
      <vt:lpstr>Pipeline Security – Source Code Build</vt:lpstr>
      <vt:lpstr>Pipeline Security – Sonar</vt:lpstr>
      <vt:lpstr>Pipeline Security – Fortify</vt:lpstr>
      <vt:lpstr>Pipeline Security – Source Code Build – Q&amp;A</vt:lpstr>
      <vt:lpstr>Pipeline Security – Container Build</vt:lpstr>
      <vt:lpstr>Pipeline Security – Container Build</vt:lpstr>
      <vt:lpstr>Pipeline Security – Security Scan for Docker</vt:lpstr>
      <vt:lpstr>Pipeline Security – Container Build – Q&amp;A</vt:lpstr>
      <vt:lpstr>Pipeline Security – Runtime</vt:lpstr>
      <vt:lpstr>Pipeline Security – Runtime</vt:lpstr>
      <vt:lpstr>Pipeline Security – Security Scan for Runtime</vt:lpstr>
      <vt:lpstr>Pipeline Security – Container Build – Q&amp;A</vt:lpstr>
      <vt:lpstr>Reminder</vt:lpstr>
      <vt:lpstr>Pipeline Security – Resources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63</cp:revision>
  <dcterms:created xsi:type="dcterms:W3CDTF">2019-07-17T12:55:48Z</dcterms:created>
  <dcterms:modified xsi:type="dcterms:W3CDTF">2019-11-11T13:41:14Z</dcterms:modified>
</cp:coreProperties>
</file>