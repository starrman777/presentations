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5"/>
  </p:sldMasterIdLst>
  <p:notesMasterIdLst>
    <p:notesMasterId r:id="rId45"/>
  </p:notesMasterIdLst>
  <p:handoutMasterIdLst>
    <p:handoutMasterId r:id="rId46"/>
  </p:handoutMasterIdLst>
  <p:sldIdLst>
    <p:sldId id="410" r:id="rId6"/>
    <p:sldId id="409" r:id="rId7"/>
    <p:sldId id="438" r:id="rId8"/>
    <p:sldId id="439" r:id="rId9"/>
    <p:sldId id="494" r:id="rId10"/>
    <p:sldId id="495" r:id="rId11"/>
    <p:sldId id="493" r:id="rId12"/>
    <p:sldId id="523" r:id="rId13"/>
    <p:sldId id="496" r:id="rId14"/>
    <p:sldId id="497" r:id="rId15"/>
    <p:sldId id="498" r:id="rId16"/>
    <p:sldId id="501" r:id="rId17"/>
    <p:sldId id="519" r:id="rId18"/>
    <p:sldId id="502" r:id="rId19"/>
    <p:sldId id="520" r:id="rId20"/>
    <p:sldId id="521" r:id="rId21"/>
    <p:sldId id="522" r:id="rId22"/>
    <p:sldId id="456" r:id="rId23"/>
    <p:sldId id="442" r:id="rId24"/>
    <p:sldId id="504" r:id="rId25"/>
    <p:sldId id="524" r:id="rId26"/>
    <p:sldId id="443" r:id="rId27"/>
    <p:sldId id="444" r:id="rId28"/>
    <p:sldId id="445" r:id="rId29"/>
    <p:sldId id="514" r:id="rId30"/>
    <p:sldId id="270" r:id="rId31"/>
    <p:sldId id="505" r:id="rId32"/>
    <p:sldId id="507" r:id="rId33"/>
    <p:sldId id="508" r:id="rId34"/>
    <p:sldId id="516" r:id="rId35"/>
    <p:sldId id="515" r:id="rId36"/>
    <p:sldId id="511" r:id="rId37"/>
    <p:sldId id="457" r:id="rId38"/>
    <p:sldId id="512" r:id="rId39"/>
    <p:sldId id="446" r:id="rId40"/>
    <p:sldId id="517" r:id="rId41"/>
    <p:sldId id="450" r:id="rId42"/>
    <p:sldId id="435" r:id="rId43"/>
    <p:sldId id="491" r:id="rId4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pos="5472">
          <p15:clr>
            <a:srgbClr val="A4A3A4"/>
          </p15:clr>
        </p15:guide>
        <p15:guide id="9" pos="436">
          <p15:clr>
            <a:srgbClr val="A4A3A4"/>
          </p15:clr>
        </p15:guide>
        <p15:guide id="10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DADAD"/>
    <a:srgbClr val="003C71"/>
    <a:srgbClr val="FCAE00"/>
    <a:srgbClr val="B0D623"/>
    <a:srgbClr val="009104"/>
    <a:srgbClr val="0066F5"/>
    <a:srgbClr val="424242"/>
    <a:srgbClr val="EEEEEE"/>
    <a:srgbClr val="FF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9" autoAdjust="0"/>
    <p:restoredTop sz="89814" autoAdjust="0"/>
  </p:normalViewPr>
  <p:slideViewPr>
    <p:cSldViewPr snapToGrid="0" showGuides="1">
      <p:cViewPr>
        <p:scale>
          <a:sx n="132" d="100"/>
          <a:sy n="132" d="100"/>
        </p:scale>
        <p:origin x="72" y="560"/>
      </p:cViewPr>
      <p:guideLst>
        <p:guide pos="5472"/>
        <p:guide pos="43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7200" cy="457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D9E45-8BE0-431D-A5CF-A61B484E9BD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1391CB-6B4C-4327-A7C1-803F79473186}">
      <dgm:prSet phldrT="[Text]" custT="1"/>
      <dgm:spPr/>
      <dgm:t>
        <a:bodyPr lIns="0" rIns="0"/>
        <a:lstStyle/>
        <a:p>
          <a:r>
            <a:rPr lang="en-US" sz="1800" dirty="0"/>
            <a:t>Embarrassment</a:t>
          </a:r>
        </a:p>
      </dgm:t>
    </dgm:pt>
    <dgm:pt modelId="{AFC83F19-1561-42F6-A5CA-001337200E08}" type="parTrans" cxnId="{FFC91E5A-0B23-44FF-B2FE-60D295427D6F}">
      <dgm:prSet/>
      <dgm:spPr/>
      <dgm:t>
        <a:bodyPr/>
        <a:lstStyle/>
        <a:p>
          <a:endParaRPr lang="en-US" sz="5400"/>
        </a:p>
      </dgm:t>
    </dgm:pt>
    <dgm:pt modelId="{4FD5F4FB-E74F-4349-B4E5-6A8E8EADD71E}" type="sibTrans" cxnId="{FFC91E5A-0B23-44FF-B2FE-60D295427D6F}">
      <dgm:prSet/>
      <dgm:spPr/>
      <dgm:t>
        <a:bodyPr/>
        <a:lstStyle/>
        <a:p>
          <a:endParaRPr lang="en-US" sz="5400"/>
        </a:p>
      </dgm:t>
    </dgm:pt>
    <dgm:pt modelId="{374CD641-4B97-4427-BDD0-9FE8FB1C73DE}">
      <dgm:prSet custT="1"/>
      <dgm:spPr/>
      <dgm:t>
        <a:bodyPr/>
        <a:lstStyle/>
        <a:p>
          <a:r>
            <a:rPr lang="en-US" sz="1800" dirty="0"/>
            <a:t>Humiliation</a:t>
          </a:r>
        </a:p>
      </dgm:t>
    </dgm:pt>
    <dgm:pt modelId="{A11671AA-C82C-43D3-BEEC-962365DC7639}" type="parTrans" cxnId="{B7EC945D-2028-4CAF-B3F9-BCCF6D89A35A}">
      <dgm:prSet/>
      <dgm:spPr/>
      <dgm:t>
        <a:bodyPr/>
        <a:lstStyle/>
        <a:p>
          <a:endParaRPr lang="en-US" sz="5400"/>
        </a:p>
      </dgm:t>
    </dgm:pt>
    <dgm:pt modelId="{5B1D4196-70DF-4B62-9550-8070DFAFBFC5}" type="sibTrans" cxnId="{B7EC945D-2028-4CAF-B3F9-BCCF6D89A35A}">
      <dgm:prSet/>
      <dgm:spPr/>
      <dgm:t>
        <a:bodyPr/>
        <a:lstStyle/>
        <a:p>
          <a:endParaRPr lang="en-US" sz="5400"/>
        </a:p>
      </dgm:t>
    </dgm:pt>
    <dgm:pt modelId="{B98A036F-159C-4708-9EC9-0C95205BD70C}">
      <dgm:prSet custT="1"/>
      <dgm:spPr/>
      <dgm:t>
        <a:bodyPr/>
        <a:lstStyle/>
        <a:p>
          <a:r>
            <a:rPr lang="en-US" sz="1800" dirty="0"/>
            <a:t>Exhaustion</a:t>
          </a:r>
        </a:p>
      </dgm:t>
    </dgm:pt>
    <dgm:pt modelId="{F9203774-050B-47FB-B4F1-999EB346766E}" type="parTrans" cxnId="{16FDDA71-0605-4799-B817-FBB71600180C}">
      <dgm:prSet/>
      <dgm:spPr/>
      <dgm:t>
        <a:bodyPr/>
        <a:lstStyle/>
        <a:p>
          <a:endParaRPr lang="en-US" sz="5400"/>
        </a:p>
      </dgm:t>
    </dgm:pt>
    <dgm:pt modelId="{F98B2617-7F99-45FC-8CFE-11737920493B}" type="sibTrans" cxnId="{16FDDA71-0605-4799-B817-FBB71600180C}">
      <dgm:prSet/>
      <dgm:spPr/>
      <dgm:t>
        <a:bodyPr/>
        <a:lstStyle/>
        <a:p>
          <a:endParaRPr lang="en-US" sz="5400"/>
        </a:p>
      </dgm:t>
    </dgm:pt>
    <dgm:pt modelId="{0E5E4E41-EA99-4767-8873-32FDA92F3A9E}">
      <dgm:prSet custT="1"/>
      <dgm:spPr/>
      <dgm:t>
        <a:bodyPr/>
        <a:lstStyle/>
        <a:p>
          <a:r>
            <a:rPr lang="en-US" sz="1800" dirty="0"/>
            <a:t>Blame</a:t>
          </a:r>
        </a:p>
      </dgm:t>
    </dgm:pt>
    <dgm:pt modelId="{287973BA-2153-477A-8269-A9EC46359EF0}" type="parTrans" cxnId="{E7BC49F0-F49F-44E6-A53A-045C009A33A6}">
      <dgm:prSet/>
      <dgm:spPr/>
      <dgm:t>
        <a:bodyPr/>
        <a:lstStyle/>
        <a:p>
          <a:endParaRPr lang="en-US" sz="5400"/>
        </a:p>
      </dgm:t>
    </dgm:pt>
    <dgm:pt modelId="{970FEA1A-A970-44CF-9114-F6E83C31B98F}" type="sibTrans" cxnId="{E7BC49F0-F49F-44E6-A53A-045C009A33A6}">
      <dgm:prSet/>
      <dgm:spPr/>
      <dgm:t>
        <a:bodyPr/>
        <a:lstStyle/>
        <a:p>
          <a:endParaRPr lang="en-US" sz="5400"/>
        </a:p>
      </dgm:t>
    </dgm:pt>
    <dgm:pt modelId="{D1E314CC-039A-4BB3-AD4B-67A1D758E754}">
      <dgm:prSet custT="1"/>
      <dgm:spPr/>
      <dgm:t>
        <a:bodyPr/>
        <a:lstStyle/>
        <a:p>
          <a:r>
            <a:rPr lang="en-US" sz="1800" dirty="0"/>
            <a:t>Fear</a:t>
          </a:r>
        </a:p>
      </dgm:t>
    </dgm:pt>
    <dgm:pt modelId="{13EE69B2-1562-4B0A-963B-BEF691FD734E}" type="parTrans" cxnId="{6A83B027-E38E-4E92-A056-A60CEF62F06B}">
      <dgm:prSet/>
      <dgm:spPr/>
      <dgm:t>
        <a:bodyPr/>
        <a:lstStyle/>
        <a:p>
          <a:endParaRPr lang="en-US" sz="5400"/>
        </a:p>
      </dgm:t>
    </dgm:pt>
    <dgm:pt modelId="{D7B8960B-25FD-4781-BFB1-361DFDA4C8F5}" type="sibTrans" cxnId="{6A83B027-E38E-4E92-A056-A60CEF62F06B}">
      <dgm:prSet/>
      <dgm:spPr/>
      <dgm:t>
        <a:bodyPr/>
        <a:lstStyle/>
        <a:p>
          <a:endParaRPr lang="en-US" sz="5400"/>
        </a:p>
      </dgm:t>
    </dgm:pt>
    <dgm:pt modelId="{D374FD09-F412-4B82-8C12-8BB393982BA7}" type="pres">
      <dgm:prSet presAssocID="{CE3D9E45-8BE0-431D-A5CF-A61B484E9BD5}" presName="rootnode" presStyleCnt="0">
        <dgm:presLayoutVars>
          <dgm:chMax/>
          <dgm:chPref/>
          <dgm:dir/>
          <dgm:animLvl val="lvl"/>
        </dgm:presLayoutVars>
      </dgm:prSet>
      <dgm:spPr/>
    </dgm:pt>
    <dgm:pt modelId="{B26CBD72-D7EB-4514-89A9-71081BBA27C3}" type="pres">
      <dgm:prSet presAssocID="{351391CB-6B4C-4327-A7C1-803F79473186}" presName="composite" presStyleCnt="0"/>
      <dgm:spPr/>
    </dgm:pt>
    <dgm:pt modelId="{BB604A59-39A1-4F22-8ACC-DB97A0F812D1}" type="pres">
      <dgm:prSet presAssocID="{351391CB-6B4C-4327-A7C1-803F79473186}" presName="bentUpArrow1" presStyleLbl="alignImgPlace1" presStyleIdx="0" presStyleCnt="4"/>
      <dgm:spPr/>
    </dgm:pt>
    <dgm:pt modelId="{85F69759-4AB6-4D95-A02A-8D798ED631ED}" type="pres">
      <dgm:prSet presAssocID="{351391CB-6B4C-4327-A7C1-803F79473186}" presName="ParentText" presStyleLbl="node1" presStyleIdx="0" presStyleCnt="5" custScaleX="188381">
        <dgm:presLayoutVars>
          <dgm:chMax val="1"/>
          <dgm:chPref val="1"/>
          <dgm:bulletEnabled val="1"/>
        </dgm:presLayoutVars>
      </dgm:prSet>
      <dgm:spPr/>
    </dgm:pt>
    <dgm:pt modelId="{D2F2DB0F-E2BD-40F4-83E1-F11012C60BC8}" type="pres">
      <dgm:prSet presAssocID="{351391CB-6B4C-4327-A7C1-803F79473186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7F33148D-7B0A-40A6-939E-7EB74CAEA044}" type="pres">
      <dgm:prSet presAssocID="{4FD5F4FB-E74F-4349-B4E5-6A8E8EADD71E}" presName="sibTrans" presStyleCnt="0"/>
      <dgm:spPr/>
    </dgm:pt>
    <dgm:pt modelId="{4524C63F-E550-4901-B06D-189FF5938963}" type="pres">
      <dgm:prSet presAssocID="{374CD641-4B97-4427-BDD0-9FE8FB1C73DE}" presName="composite" presStyleCnt="0"/>
      <dgm:spPr/>
    </dgm:pt>
    <dgm:pt modelId="{DEC142AE-A1C6-45A8-9D11-1E0BF8BFC946}" type="pres">
      <dgm:prSet presAssocID="{374CD641-4B97-4427-BDD0-9FE8FB1C73DE}" presName="bentUpArrow1" presStyleLbl="alignImgPlace1" presStyleIdx="1" presStyleCnt="4"/>
      <dgm:spPr/>
    </dgm:pt>
    <dgm:pt modelId="{10C4D841-F956-4AA3-9EA9-A6849DDBB53F}" type="pres">
      <dgm:prSet presAssocID="{374CD641-4B97-4427-BDD0-9FE8FB1C73DE}" presName="ParentText" presStyleLbl="node1" presStyleIdx="1" presStyleCnt="5" custScaleX="188381">
        <dgm:presLayoutVars>
          <dgm:chMax val="1"/>
          <dgm:chPref val="1"/>
          <dgm:bulletEnabled val="1"/>
        </dgm:presLayoutVars>
      </dgm:prSet>
      <dgm:spPr/>
    </dgm:pt>
    <dgm:pt modelId="{ADD93D04-5E4D-42F7-AEFD-E41DE3E844B1}" type="pres">
      <dgm:prSet presAssocID="{374CD641-4B97-4427-BDD0-9FE8FB1C73DE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8EC75614-B28E-4ECD-BCE5-C99EE6AEE152}" type="pres">
      <dgm:prSet presAssocID="{5B1D4196-70DF-4B62-9550-8070DFAFBFC5}" presName="sibTrans" presStyleCnt="0"/>
      <dgm:spPr/>
    </dgm:pt>
    <dgm:pt modelId="{3FD96BBD-32F1-4EA4-A799-A3314D4D27EA}" type="pres">
      <dgm:prSet presAssocID="{B98A036F-159C-4708-9EC9-0C95205BD70C}" presName="composite" presStyleCnt="0"/>
      <dgm:spPr/>
    </dgm:pt>
    <dgm:pt modelId="{490BB3D7-B0D2-4D2A-AE3C-359498B66F4B}" type="pres">
      <dgm:prSet presAssocID="{B98A036F-159C-4708-9EC9-0C95205BD70C}" presName="bentUpArrow1" presStyleLbl="alignImgPlace1" presStyleIdx="2" presStyleCnt="4"/>
      <dgm:spPr/>
    </dgm:pt>
    <dgm:pt modelId="{958E2D43-251E-46BE-9AD3-D7072E4032B9}" type="pres">
      <dgm:prSet presAssocID="{B98A036F-159C-4708-9EC9-0C95205BD70C}" presName="ParentText" presStyleLbl="node1" presStyleIdx="2" presStyleCnt="5" custScaleX="188381">
        <dgm:presLayoutVars>
          <dgm:chMax val="1"/>
          <dgm:chPref val="1"/>
          <dgm:bulletEnabled val="1"/>
        </dgm:presLayoutVars>
      </dgm:prSet>
      <dgm:spPr/>
    </dgm:pt>
    <dgm:pt modelId="{9B60E1D6-FBB0-4394-B33F-489BF192EACC}" type="pres">
      <dgm:prSet presAssocID="{B98A036F-159C-4708-9EC9-0C95205BD70C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647E1A6D-34E3-4A9C-99DF-4515ECC1868B}" type="pres">
      <dgm:prSet presAssocID="{F98B2617-7F99-45FC-8CFE-11737920493B}" presName="sibTrans" presStyleCnt="0"/>
      <dgm:spPr/>
    </dgm:pt>
    <dgm:pt modelId="{D30DBE98-C78E-4B48-9EE2-CD719B1DE09F}" type="pres">
      <dgm:prSet presAssocID="{0E5E4E41-EA99-4767-8873-32FDA92F3A9E}" presName="composite" presStyleCnt="0"/>
      <dgm:spPr/>
    </dgm:pt>
    <dgm:pt modelId="{C28FADC2-4E7C-4672-8FCA-E76775790093}" type="pres">
      <dgm:prSet presAssocID="{0E5E4E41-EA99-4767-8873-32FDA92F3A9E}" presName="bentUpArrow1" presStyleLbl="alignImgPlace1" presStyleIdx="3" presStyleCnt="4"/>
      <dgm:spPr/>
    </dgm:pt>
    <dgm:pt modelId="{E6F3E038-FEC7-4564-9D8C-8356B1A6E7DE}" type="pres">
      <dgm:prSet presAssocID="{0E5E4E41-EA99-4767-8873-32FDA92F3A9E}" presName="ParentText" presStyleLbl="node1" presStyleIdx="3" presStyleCnt="5" custScaleX="188381">
        <dgm:presLayoutVars>
          <dgm:chMax val="1"/>
          <dgm:chPref val="1"/>
          <dgm:bulletEnabled val="1"/>
        </dgm:presLayoutVars>
      </dgm:prSet>
      <dgm:spPr/>
    </dgm:pt>
    <dgm:pt modelId="{23E44BAD-70FE-4695-A30B-7EE715221A23}" type="pres">
      <dgm:prSet presAssocID="{0E5E4E41-EA99-4767-8873-32FDA92F3A9E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448C78BB-78AE-4674-89D9-44CBBBA649E3}" type="pres">
      <dgm:prSet presAssocID="{970FEA1A-A970-44CF-9114-F6E83C31B98F}" presName="sibTrans" presStyleCnt="0"/>
      <dgm:spPr/>
    </dgm:pt>
    <dgm:pt modelId="{A7EAAE31-BC41-4114-A0D8-F46FB3DB4A54}" type="pres">
      <dgm:prSet presAssocID="{D1E314CC-039A-4BB3-AD4B-67A1D758E754}" presName="composite" presStyleCnt="0"/>
      <dgm:spPr/>
    </dgm:pt>
    <dgm:pt modelId="{8BF3C937-03C5-4CF7-AA35-12365C905AD6}" type="pres">
      <dgm:prSet presAssocID="{D1E314CC-039A-4BB3-AD4B-67A1D758E754}" presName="ParentText" presStyleLbl="node1" presStyleIdx="4" presStyleCnt="5" custScaleX="188381">
        <dgm:presLayoutVars>
          <dgm:chMax val="1"/>
          <dgm:chPref val="1"/>
          <dgm:bulletEnabled val="1"/>
        </dgm:presLayoutVars>
      </dgm:prSet>
      <dgm:spPr/>
    </dgm:pt>
  </dgm:ptLst>
  <dgm:cxnLst>
    <dgm:cxn modelId="{6A83B027-E38E-4E92-A056-A60CEF62F06B}" srcId="{CE3D9E45-8BE0-431D-A5CF-A61B484E9BD5}" destId="{D1E314CC-039A-4BB3-AD4B-67A1D758E754}" srcOrd="4" destOrd="0" parTransId="{13EE69B2-1562-4B0A-963B-BEF691FD734E}" sibTransId="{D7B8960B-25FD-4781-BFB1-361DFDA4C8F5}"/>
    <dgm:cxn modelId="{2599662A-8AA1-4FEB-AA8C-DEC8345ECB9E}" type="presOf" srcId="{374CD641-4B97-4427-BDD0-9FE8FB1C73DE}" destId="{10C4D841-F956-4AA3-9EA9-A6849DDBB53F}" srcOrd="0" destOrd="0" presId="urn:microsoft.com/office/officeart/2005/8/layout/StepDownProcess"/>
    <dgm:cxn modelId="{2627E942-E1A4-465C-992C-FFF57A1B088E}" type="presOf" srcId="{351391CB-6B4C-4327-A7C1-803F79473186}" destId="{85F69759-4AB6-4D95-A02A-8D798ED631ED}" srcOrd="0" destOrd="0" presId="urn:microsoft.com/office/officeart/2005/8/layout/StepDownProcess"/>
    <dgm:cxn modelId="{0A994E57-F6E3-4E0C-809A-B4617F99420B}" type="presOf" srcId="{B98A036F-159C-4708-9EC9-0C95205BD70C}" destId="{958E2D43-251E-46BE-9AD3-D7072E4032B9}" srcOrd="0" destOrd="0" presId="urn:microsoft.com/office/officeart/2005/8/layout/StepDownProcess"/>
    <dgm:cxn modelId="{FFC91E5A-0B23-44FF-B2FE-60D295427D6F}" srcId="{CE3D9E45-8BE0-431D-A5CF-A61B484E9BD5}" destId="{351391CB-6B4C-4327-A7C1-803F79473186}" srcOrd="0" destOrd="0" parTransId="{AFC83F19-1561-42F6-A5CA-001337200E08}" sibTransId="{4FD5F4FB-E74F-4349-B4E5-6A8E8EADD71E}"/>
    <dgm:cxn modelId="{B7EC945D-2028-4CAF-B3F9-BCCF6D89A35A}" srcId="{CE3D9E45-8BE0-431D-A5CF-A61B484E9BD5}" destId="{374CD641-4B97-4427-BDD0-9FE8FB1C73DE}" srcOrd="1" destOrd="0" parTransId="{A11671AA-C82C-43D3-BEEC-962365DC7639}" sibTransId="{5B1D4196-70DF-4B62-9550-8070DFAFBFC5}"/>
    <dgm:cxn modelId="{16FDDA71-0605-4799-B817-FBB71600180C}" srcId="{CE3D9E45-8BE0-431D-A5CF-A61B484E9BD5}" destId="{B98A036F-159C-4708-9EC9-0C95205BD70C}" srcOrd="2" destOrd="0" parTransId="{F9203774-050B-47FB-B4F1-999EB346766E}" sibTransId="{F98B2617-7F99-45FC-8CFE-11737920493B}"/>
    <dgm:cxn modelId="{6121A596-6079-4605-8C77-17B40F403FB5}" type="presOf" srcId="{0E5E4E41-EA99-4767-8873-32FDA92F3A9E}" destId="{E6F3E038-FEC7-4564-9D8C-8356B1A6E7DE}" srcOrd="0" destOrd="0" presId="urn:microsoft.com/office/officeart/2005/8/layout/StepDownProcess"/>
    <dgm:cxn modelId="{00847BA3-6311-40DC-920B-D6CFBCC6418E}" type="presOf" srcId="{CE3D9E45-8BE0-431D-A5CF-A61B484E9BD5}" destId="{D374FD09-F412-4B82-8C12-8BB393982BA7}" srcOrd="0" destOrd="0" presId="urn:microsoft.com/office/officeart/2005/8/layout/StepDownProcess"/>
    <dgm:cxn modelId="{C15CD8DC-FAE8-4D3B-B67B-5D7F182CB6F8}" type="presOf" srcId="{D1E314CC-039A-4BB3-AD4B-67A1D758E754}" destId="{8BF3C937-03C5-4CF7-AA35-12365C905AD6}" srcOrd="0" destOrd="0" presId="urn:microsoft.com/office/officeart/2005/8/layout/StepDownProcess"/>
    <dgm:cxn modelId="{E7BC49F0-F49F-44E6-A53A-045C009A33A6}" srcId="{CE3D9E45-8BE0-431D-A5CF-A61B484E9BD5}" destId="{0E5E4E41-EA99-4767-8873-32FDA92F3A9E}" srcOrd="3" destOrd="0" parTransId="{287973BA-2153-477A-8269-A9EC46359EF0}" sibTransId="{970FEA1A-A970-44CF-9114-F6E83C31B98F}"/>
    <dgm:cxn modelId="{352D7254-6D48-4F48-974A-F9216316676F}" type="presParOf" srcId="{D374FD09-F412-4B82-8C12-8BB393982BA7}" destId="{B26CBD72-D7EB-4514-89A9-71081BBA27C3}" srcOrd="0" destOrd="0" presId="urn:microsoft.com/office/officeart/2005/8/layout/StepDownProcess"/>
    <dgm:cxn modelId="{1B6D1046-DAA4-4B0F-9C24-71945563FEDC}" type="presParOf" srcId="{B26CBD72-D7EB-4514-89A9-71081BBA27C3}" destId="{BB604A59-39A1-4F22-8ACC-DB97A0F812D1}" srcOrd="0" destOrd="0" presId="urn:microsoft.com/office/officeart/2005/8/layout/StepDownProcess"/>
    <dgm:cxn modelId="{9ACB3B20-A2EF-48F8-B8D6-1F12057F1E6E}" type="presParOf" srcId="{B26CBD72-D7EB-4514-89A9-71081BBA27C3}" destId="{85F69759-4AB6-4D95-A02A-8D798ED631ED}" srcOrd="1" destOrd="0" presId="urn:microsoft.com/office/officeart/2005/8/layout/StepDownProcess"/>
    <dgm:cxn modelId="{97DFE8E9-C1A8-46A1-BA9D-7452A6E238A0}" type="presParOf" srcId="{B26CBD72-D7EB-4514-89A9-71081BBA27C3}" destId="{D2F2DB0F-E2BD-40F4-83E1-F11012C60BC8}" srcOrd="2" destOrd="0" presId="urn:microsoft.com/office/officeart/2005/8/layout/StepDownProcess"/>
    <dgm:cxn modelId="{E65000EC-A3D4-49F1-B8E7-7D30425B2352}" type="presParOf" srcId="{D374FD09-F412-4B82-8C12-8BB393982BA7}" destId="{7F33148D-7B0A-40A6-939E-7EB74CAEA044}" srcOrd="1" destOrd="0" presId="urn:microsoft.com/office/officeart/2005/8/layout/StepDownProcess"/>
    <dgm:cxn modelId="{64FCAD3A-769E-4D71-BC5E-3DF20C8B3911}" type="presParOf" srcId="{D374FD09-F412-4B82-8C12-8BB393982BA7}" destId="{4524C63F-E550-4901-B06D-189FF5938963}" srcOrd="2" destOrd="0" presId="urn:microsoft.com/office/officeart/2005/8/layout/StepDownProcess"/>
    <dgm:cxn modelId="{4571BA98-8230-4696-84D9-224077C12CCC}" type="presParOf" srcId="{4524C63F-E550-4901-B06D-189FF5938963}" destId="{DEC142AE-A1C6-45A8-9D11-1E0BF8BFC946}" srcOrd="0" destOrd="0" presId="urn:microsoft.com/office/officeart/2005/8/layout/StepDownProcess"/>
    <dgm:cxn modelId="{56BF5893-8482-46E3-A066-1B4E0B242886}" type="presParOf" srcId="{4524C63F-E550-4901-B06D-189FF5938963}" destId="{10C4D841-F956-4AA3-9EA9-A6849DDBB53F}" srcOrd="1" destOrd="0" presId="urn:microsoft.com/office/officeart/2005/8/layout/StepDownProcess"/>
    <dgm:cxn modelId="{230D5440-4F98-4D93-8534-9F78E9F32CC7}" type="presParOf" srcId="{4524C63F-E550-4901-B06D-189FF5938963}" destId="{ADD93D04-5E4D-42F7-AEFD-E41DE3E844B1}" srcOrd="2" destOrd="0" presId="urn:microsoft.com/office/officeart/2005/8/layout/StepDownProcess"/>
    <dgm:cxn modelId="{3D835ED3-739B-448A-847A-B954FA70CA0D}" type="presParOf" srcId="{D374FD09-F412-4B82-8C12-8BB393982BA7}" destId="{8EC75614-B28E-4ECD-BCE5-C99EE6AEE152}" srcOrd="3" destOrd="0" presId="urn:microsoft.com/office/officeart/2005/8/layout/StepDownProcess"/>
    <dgm:cxn modelId="{C20CD3D3-7F72-4F49-BFF1-2CF978E80985}" type="presParOf" srcId="{D374FD09-F412-4B82-8C12-8BB393982BA7}" destId="{3FD96BBD-32F1-4EA4-A799-A3314D4D27EA}" srcOrd="4" destOrd="0" presId="urn:microsoft.com/office/officeart/2005/8/layout/StepDownProcess"/>
    <dgm:cxn modelId="{91449D48-DEA3-4028-A032-2A10D642519B}" type="presParOf" srcId="{3FD96BBD-32F1-4EA4-A799-A3314D4D27EA}" destId="{490BB3D7-B0D2-4D2A-AE3C-359498B66F4B}" srcOrd="0" destOrd="0" presId="urn:microsoft.com/office/officeart/2005/8/layout/StepDownProcess"/>
    <dgm:cxn modelId="{77B96DFD-CE2E-4E1B-90C2-2613EB88C3E5}" type="presParOf" srcId="{3FD96BBD-32F1-4EA4-A799-A3314D4D27EA}" destId="{958E2D43-251E-46BE-9AD3-D7072E4032B9}" srcOrd="1" destOrd="0" presId="urn:microsoft.com/office/officeart/2005/8/layout/StepDownProcess"/>
    <dgm:cxn modelId="{527939C4-3F35-4AD1-999A-40A96EEA2134}" type="presParOf" srcId="{3FD96BBD-32F1-4EA4-A799-A3314D4D27EA}" destId="{9B60E1D6-FBB0-4394-B33F-489BF192EACC}" srcOrd="2" destOrd="0" presId="urn:microsoft.com/office/officeart/2005/8/layout/StepDownProcess"/>
    <dgm:cxn modelId="{32535CB9-9550-4AC1-A596-FC81FC9ED6D1}" type="presParOf" srcId="{D374FD09-F412-4B82-8C12-8BB393982BA7}" destId="{647E1A6D-34E3-4A9C-99DF-4515ECC1868B}" srcOrd="5" destOrd="0" presId="urn:microsoft.com/office/officeart/2005/8/layout/StepDownProcess"/>
    <dgm:cxn modelId="{2A4AA439-D9FB-4FED-81DF-AA8939B310BD}" type="presParOf" srcId="{D374FD09-F412-4B82-8C12-8BB393982BA7}" destId="{D30DBE98-C78E-4B48-9EE2-CD719B1DE09F}" srcOrd="6" destOrd="0" presId="urn:microsoft.com/office/officeart/2005/8/layout/StepDownProcess"/>
    <dgm:cxn modelId="{0127D321-BCB0-4223-8E5F-B7B844EAE982}" type="presParOf" srcId="{D30DBE98-C78E-4B48-9EE2-CD719B1DE09F}" destId="{C28FADC2-4E7C-4672-8FCA-E76775790093}" srcOrd="0" destOrd="0" presId="urn:microsoft.com/office/officeart/2005/8/layout/StepDownProcess"/>
    <dgm:cxn modelId="{79E69F3A-A21D-4BE1-971C-562CAE5FD1D9}" type="presParOf" srcId="{D30DBE98-C78E-4B48-9EE2-CD719B1DE09F}" destId="{E6F3E038-FEC7-4564-9D8C-8356B1A6E7DE}" srcOrd="1" destOrd="0" presId="urn:microsoft.com/office/officeart/2005/8/layout/StepDownProcess"/>
    <dgm:cxn modelId="{7DA2D3E5-11CF-401F-AE30-FBD7AFD8146C}" type="presParOf" srcId="{D30DBE98-C78E-4B48-9EE2-CD719B1DE09F}" destId="{23E44BAD-70FE-4695-A30B-7EE715221A23}" srcOrd="2" destOrd="0" presId="urn:microsoft.com/office/officeart/2005/8/layout/StepDownProcess"/>
    <dgm:cxn modelId="{806BE491-E8B7-4BDC-90E6-17E092C8C6BA}" type="presParOf" srcId="{D374FD09-F412-4B82-8C12-8BB393982BA7}" destId="{448C78BB-78AE-4674-89D9-44CBBBA649E3}" srcOrd="7" destOrd="0" presId="urn:microsoft.com/office/officeart/2005/8/layout/StepDownProcess"/>
    <dgm:cxn modelId="{4B63F444-40DB-4F8E-8925-45BE6EE23C2A}" type="presParOf" srcId="{D374FD09-F412-4B82-8C12-8BB393982BA7}" destId="{A7EAAE31-BC41-4114-A0D8-F46FB3DB4A54}" srcOrd="8" destOrd="0" presId="urn:microsoft.com/office/officeart/2005/8/layout/StepDownProcess"/>
    <dgm:cxn modelId="{BBCC9BAE-2C77-4346-A813-D2C7E293E9DC}" type="presParOf" srcId="{A7EAAE31-BC41-4114-A0D8-F46FB3DB4A54}" destId="{8BF3C937-03C5-4CF7-AA35-12365C905AD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7F11C8-5793-4AA8-80BA-4D83A45D752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DF3F0713-3CC2-4D33-B76C-648DD388C704}">
      <dgm:prSet phldrT="[Text]"/>
      <dgm:spPr/>
      <dgm:t>
        <a:bodyPr/>
        <a:lstStyle/>
        <a:p>
          <a:endParaRPr lang="en-US" dirty="0"/>
        </a:p>
      </dgm:t>
    </dgm:pt>
    <dgm:pt modelId="{210D6E56-6964-495A-A072-6433FF875BF4}" type="parTrans" cxnId="{6A6344A7-DD70-41F0-8866-83ABC12397D5}">
      <dgm:prSet/>
      <dgm:spPr/>
      <dgm:t>
        <a:bodyPr/>
        <a:lstStyle/>
        <a:p>
          <a:endParaRPr lang="en-US"/>
        </a:p>
      </dgm:t>
    </dgm:pt>
    <dgm:pt modelId="{FCD916BF-3E32-4F55-B24A-95B641761930}" type="sibTrans" cxnId="{6A6344A7-DD70-41F0-8866-83ABC12397D5}">
      <dgm:prSet/>
      <dgm:spPr/>
      <dgm:t>
        <a:bodyPr/>
        <a:lstStyle/>
        <a:p>
          <a:endParaRPr lang="en-US"/>
        </a:p>
      </dgm:t>
    </dgm:pt>
    <dgm:pt modelId="{9B4B1A09-D6F4-46E2-8879-5B367D9F45EA}">
      <dgm:prSet phldrT="[Text]"/>
      <dgm:spPr/>
      <dgm:t>
        <a:bodyPr/>
        <a:lstStyle/>
        <a:p>
          <a:pPr algn="r"/>
          <a:endParaRPr lang="en-US" dirty="0"/>
        </a:p>
      </dgm:t>
    </dgm:pt>
    <dgm:pt modelId="{FC7FD680-A2C7-4171-B369-90C30B513AEF}" type="parTrans" cxnId="{268F30BD-7E51-4479-BCD1-3699F3B2F9A4}">
      <dgm:prSet/>
      <dgm:spPr/>
      <dgm:t>
        <a:bodyPr/>
        <a:lstStyle/>
        <a:p>
          <a:endParaRPr lang="en-US"/>
        </a:p>
      </dgm:t>
    </dgm:pt>
    <dgm:pt modelId="{F7122E47-4B2F-459D-8D78-C561D1DE9AD2}" type="sibTrans" cxnId="{268F30BD-7E51-4479-BCD1-3699F3B2F9A4}">
      <dgm:prSet/>
      <dgm:spPr/>
      <dgm:t>
        <a:bodyPr/>
        <a:lstStyle/>
        <a:p>
          <a:endParaRPr lang="en-US"/>
        </a:p>
      </dgm:t>
    </dgm:pt>
    <dgm:pt modelId="{65F0EA95-4B9B-4F18-9837-DAE866DBCE65}">
      <dgm:prSet phldrT="[Text]"/>
      <dgm:spPr/>
      <dgm:t>
        <a:bodyPr/>
        <a:lstStyle/>
        <a:p>
          <a:pPr algn="l"/>
          <a:endParaRPr lang="en-US" dirty="0"/>
        </a:p>
      </dgm:t>
    </dgm:pt>
    <dgm:pt modelId="{E14239A6-0311-40D5-8CE5-AC937F4C96FA}" type="parTrans" cxnId="{508216F4-94A3-4B00-9F64-6AA0ECA5F361}">
      <dgm:prSet/>
      <dgm:spPr/>
      <dgm:t>
        <a:bodyPr/>
        <a:lstStyle/>
        <a:p>
          <a:endParaRPr lang="en-US"/>
        </a:p>
      </dgm:t>
    </dgm:pt>
    <dgm:pt modelId="{F06ECE60-C628-48B0-B0C8-993FBBB2F612}" type="sibTrans" cxnId="{508216F4-94A3-4B00-9F64-6AA0ECA5F361}">
      <dgm:prSet/>
      <dgm:spPr/>
      <dgm:t>
        <a:bodyPr/>
        <a:lstStyle/>
        <a:p>
          <a:endParaRPr lang="en-US"/>
        </a:p>
      </dgm:t>
    </dgm:pt>
    <dgm:pt modelId="{6FCB888D-455C-4524-9E7B-36AF19526503}" type="pres">
      <dgm:prSet presAssocID="{9B7F11C8-5793-4AA8-80BA-4D83A45D7528}" presName="compositeShape" presStyleCnt="0">
        <dgm:presLayoutVars>
          <dgm:chMax val="7"/>
          <dgm:dir/>
          <dgm:resizeHandles val="exact"/>
        </dgm:presLayoutVars>
      </dgm:prSet>
      <dgm:spPr/>
    </dgm:pt>
    <dgm:pt modelId="{B5DECC9D-D9B1-458F-B4CA-E0A04F58DF33}" type="pres">
      <dgm:prSet presAssocID="{DF3F0713-3CC2-4D33-B76C-648DD388C704}" presName="circ1" presStyleLbl="vennNode1" presStyleIdx="0" presStyleCnt="3" custScaleX="112194" custScaleY="112194"/>
      <dgm:spPr/>
    </dgm:pt>
    <dgm:pt modelId="{F8040965-0DDD-4700-8AE6-95D14B5A6E88}" type="pres">
      <dgm:prSet presAssocID="{DF3F0713-3CC2-4D33-B76C-648DD388C70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CEEB6CE-ECA6-4A6C-ADDB-224E2D790C51}" type="pres">
      <dgm:prSet presAssocID="{9B4B1A09-D6F4-46E2-8879-5B367D9F45EA}" presName="circ2" presStyleLbl="vennNode1" presStyleIdx="1" presStyleCnt="3" custScaleX="112194" custScaleY="112194"/>
      <dgm:spPr/>
    </dgm:pt>
    <dgm:pt modelId="{E5F4635A-99D0-426D-85C7-A6E7CA83A05A}" type="pres">
      <dgm:prSet presAssocID="{9B4B1A09-D6F4-46E2-8879-5B367D9F45E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B2CF1BD-0625-465F-BB40-DFC999877CCB}" type="pres">
      <dgm:prSet presAssocID="{65F0EA95-4B9B-4F18-9837-DAE866DBCE65}" presName="circ3" presStyleLbl="vennNode1" presStyleIdx="2" presStyleCnt="3" custScaleX="112194" custScaleY="112194"/>
      <dgm:spPr/>
    </dgm:pt>
    <dgm:pt modelId="{5BD5E5D0-97DA-4260-BED2-DF33D3FDF16E}" type="pres">
      <dgm:prSet presAssocID="{65F0EA95-4B9B-4F18-9837-DAE866DBCE6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73B790A-8EF4-49B2-A0FE-58A2825790F0}" type="presOf" srcId="{DF3F0713-3CC2-4D33-B76C-648DD388C704}" destId="{B5DECC9D-D9B1-458F-B4CA-E0A04F58DF33}" srcOrd="0" destOrd="0" presId="urn:microsoft.com/office/officeart/2005/8/layout/venn1"/>
    <dgm:cxn modelId="{CE085E0F-4DC9-434C-981F-4C072B96DC41}" type="presOf" srcId="{65F0EA95-4B9B-4F18-9837-DAE866DBCE65}" destId="{5BD5E5D0-97DA-4260-BED2-DF33D3FDF16E}" srcOrd="1" destOrd="0" presId="urn:microsoft.com/office/officeart/2005/8/layout/venn1"/>
    <dgm:cxn modelId="{4A2AA251-44C1-4CC8-9560-CDAFB2426204}" type="presOf" srcId="{65F0EA95-4B9B-4F18-9837-DAE866DBCE65}" destId="{7B2CF1BD-0625-465F-BB40-DFC999877CCB}" srcOrd="0" destOrd="0" presId="urn:microsoft.com/office/officeart/2005/8/layout/venn1"/>
    <dgm:cxn modelId="{68C0506C-AA7D-4DDB-AAFC-3E91B4FCDAC9}" type="presOf" srcId="{DF3F0713-3CC2-4D33-B76C-648DD388C704}" destId="{F8040965-0DDD-4700-8AE6-95D14B5A6E88}" srcOrd="1" destOrd="0" presId="urn:microsoft.com/office/officeart/2005/8/layout/venn1"/>
    <dgm:cxn modelId="{983F4C7E-C445-4DD7-B581-88E8D09B614B}" type="presOf" srcId="{9B4B1A09-D6F4-46E2-8879-5B367D9F45EA}" destId="{E5F4635A-99D0-426D-85C7-A6E7CA83A05A}" srcOrd="1" destOrd="0" presId="urn:microsoft.com/office/officeart/2005/8/layout/venn1"/>
    <dgm:cxn modelId="{6A6344A7-DD70-41F0-8866-83ABC12397D5}" srcId="{9B7F11C8-5793-4AA8-80BA-4D83A45D7528}" destId="{DF3F0713-3CC2-4D33-B76C-648DD388C704}" srcOrd="0" destOrd="0" parTransId="{210D6E56-6964-495A-A072-6433FF875BF4}" sibTransId="{FCD916BF-3E32-4F55-B24A-95B641761930}"/>
    <dgm:cxn modelId="{EA95B1BC-A4EC-455E-AEC3-EA489ECC6F42}" type="presOf" srcId="{9B7F11C8-5793-4AA8-80BA-4D83A45D7528}" destId="{6FCB888D-455C-4524-9E7B-36AF19526503}" srcOrd="0" destOrd="0" presId="urn:microsoft.com/office/officeart/2005/8/layout/venn1"/>
    <dgm:cxn modelId="{268F30BD-7E51-4479-BCD1-3699F3B2F9A4}" srcId="{9B7F11C8-5793-4AA8-80BA-4D83A45D7528}" destId="{9B4B1A09-D6F4-46E2-8879-5B367D9F45EA}" srcOrd="1" destOrd="0" parTransId="{FC7FD680-A2C7-4171-B369-90C30B513AEF}" sibTransId="{F7122E47-4B2F-459D-8D78-C561D1DE9AD2}"/>
    <dgm:cxn modelId="{C7FEDDDA-1AD2-4F8C-9A83-41EF41BC012A}" type="presOf" srcId="{9B4B1A09-D6F4-46E2-8879-5B367D9F45EA}" destId="{BCEEB6CE-ECA6-4A6C-ADDB-224E2D790C51}" srcOrd="0" destOrd="0" presId="urn:microsoft.com/office/officeart/2005/8/layout/venn1"/>
    <dgm:cxn modelId="{508216F4-94A3-4B00-9F64-6AA0ECA5F361}" srcId="{9B7F11C8-5793-4AA8-80BA-4D83A45D7528}" destId="{65F0EA95-4B9B-4F18-9837-DAE866DBCE65}" srcOrd="2" destOrd="0" parTransId="{E14239A6-0311-40D5-8CE5-AC937F4C96FA}" sibTransId="{F06ECE60-C628-48B0-B0C8-993FBBB2F612}"/>
    <dgm:cxn modelId="{3C344EF4-1138-4784-931C-71EDAF703AE0}" type="presParOf" srcId="{6FCB888D-455C-4524-9E7B-36AF19526503}" destId="{B5DECC9D-D9B1-458F-B4CA-E0A04F58DF33}" srcOrd="0" destOrd="0" presId="urn:microsoft.com/office/officeart/2005/8/layout/venn1"/>
    <dgm:cxn modelId="{E70EA98C-F242-4211-B30E-ECDAB48E07EA}" type="presParOf" srcId="{6FCB888D-455C-4524-9E7B-36AF19526503}" destId="{F8040965-0DDD-4700-8AE6-95D14B5A6E88}" srcOrd="1" destOrd="0" presId="urn:microsoft.com/office/officeart/2005/8/layout/venn1"/>
    <dgm:cxn modelId="{368ADDEB-BE9D-4DED-B4EC-6415A69B1C7B}" type="presParOf" srcId="{6FCB888D-455C-4524-9E7B-36AF19526503}" destId="{BCEEB6CE-ECA6-4A6C-ADDB-224E2D790C51}" srcOrd="2" destOrd="0" presId="urn:microsoft.com/office/officeart/2005/8/layout/venn1"/>
    <dgm:cxn modelId="{9AB9A2F7-F827-4BE7-AA09-5EAD238C7809}" type="presParOf" srcId="{6FCB888D-455C-4524-9E7B-36AF19526503}" destId="{E5F4635A-99D0-426D-85C7-A6E7CA83A05A}" srcOrd="3" destOrd="0" presId="urn:microsoft.com/office/officeart/2005/8/layout/venn1"/>
    <dgm:cxn modelId="{A272EB12-D41A-4E1C-AF84-D66840D8B3EC}" type="presParOf" srcId="{6FCB888D-455C-4524-9E7B-36AF19526503}" destId="{7B2CF1BD-0625-465F-BB40-DFC999877CCB}" srcOrd="4" destOrd="0" presId="urn:microsoft.com/office/officeart/2005/8/layout/venn1"/>
    <dgm:cxn modelId="{F52C967E-9616-4990-B2B6-EE84EE9ED04D}" type="presParOf" srcId="{6FCB888D-455C-4524-9E7B-36AF19526503}" destId="{5BD5E5D0-97DA-4260-BED2-DF33D3FDF16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CAE21B-EA7F-644D-B77D-7B6DF30220D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513E7020-0130-8A49-B394-BDDD643E3046}">
      <dgm:prSet phldrT="[Text]" custT="1"/>
      <dgm:spPr/>
      <dgm:t>
        <a:bodyPr/>
        <a:lstStyle/>
        <a:p>
          <a:r>
            <a:rPr lang="en-US" sz="1400" dirty="0"/>
            <a:t>Source Code Build</a:t>
          </a:r>
        </a:p>
      </dgm:t>
    </dgm:pt>
    <dgm:pt modelId="{C2572958-CBDB-214A-A130-00657E2130FA}" type="parTrans" cxnId="{1B6AD6C6-4514-EF45-88C4-2BAC9CB2DD4F}">
      <dgm:prSet/>
      <dgm:spPr/>
      <dgm:t>
        <a:bodyPr/>
        <a:lstStyle/>
        <a:p>
          <a:endParaRPr lang="en-US"/>
        </a:p>
      </dgm:t>
    </dgm:pt>
    <dgm:pt modelId="{A466F9A2-EE39-8B46-A54A-4110F680492B}" type="sibTrans" cxnId="{1B6AD6C6-4514-EF45-88C4-2BAC9CB2DD4F}">
      <dgm:prSet/>
      <dgm:spPr/>
      <dgm:t>
        <a:bodyPr/>
        <a:lstStyle/>
        <a:p>
          <a:endParaRPr lang="en-US"/>
        </a:p>
      </dgm:t>
    </dgm:pt>
    <dgm:pt modelId="{484D633F-3935-9A49-8E79-546B218F66A3}">
      <dgm:prSet phldrT="[Text]" custT="1"/>
      <dgm:spPr/>
      <dgm:t>
        <a:bodyPr/>
        <a:lstStyle/>
        <a:p>
          <a:r>
            <a:rPr lang="en-US" sz="1400" dirty="0"/>
            <a:t>Container Build</a:t>
          </a:r>
        </a:p>
      </dgm:t>
    </dgm:pt>
    <dgm:pt modelId="{37E3DA7C-82EF-564A-9A0D-0F3FF469EFAC}" type="parTrans" cxnId="{E2494BD8-77AA-D34E-94BF-9ECF5A3B9D55}">
      <dgm:prSet/>
      <dgm:spPr/>
      <dgm:t>
        <a:bodyPr/>
        <a:lstStyle/>
        <a:p>
          <a:endParaRPr lang="en-US"/>
        </a:p>
      </dgm:t>
    </dgm:pt>
    <dgm:pt modelId="{7E7F2710-14EE-3D4C-A37C-3E3DC26D54B4}" type="sibTrans" cxnId="{E2494BD8-77AA-D34E-94BF-9ECF5A3B9D55}">
      <dgm:prSet/>
      <dgm:spPr/>
      <dgm:t>
        <a:bodyPr/>
        <a:lstStyle/>
        <a:p>
          <a:endParaRPr lang="en-US"/>
        </a:p>
      </dgm:t>
    </dgm:pt>
    <dgm:pt modelId="{E9B85D75-650E-A24C-9F96-D2ADE387B9F8}">
      <dgm:prSet phldrT="[Text]" custT="1"/>
      <dgm:spPr/>
      <dgm:t>
        <a:bodyPr/>
        <a:lstStyle/>
        <a:p>
          <a:r>
            <a:rPr lang="en-US" sz="1400" dirty="0"/>
            <a:t>Runtime</a:t>
          </a:r>
        </a:p>
        <a:p>
          <a:r>
            <a:rPr lang="en-US" sz="1400" dirty="0"/>
            <a:t>(deployments)</a:t>
          </a:r>
        </a:p>
        <a:p>
          <a:r>
            <a:rPr lang="en-US" sz="1400" dirty="0"/>
            <a:t>Non-Prod &gt;Prod</a:t>
          </a:r>
        </a:p>
      </dgm:t>
    </dgm:pt>
    <dgm:pt modelId="{0F22663F-AE72-604E-9C4E-FE5E5F760B57}" type="parTrans" cxnId="{B5424EFE-C11D-6544-B26C-8497BCDA7C36}">
      <dgm:prSet/>
      <dgm:spPr/>
      <dgm:t>
        <a:bodyPr/>
        <a:lstStyle/>
        <a:p>
          <a:endParaRPr lang="en-US"/>
        </a:p>
      </dgm:t>
    </dgm:pt>
    <dgm:pt modelId="{D4F97C58-127E-CE48-B44B-06731B258E60}" type="sibTrans" cxnId="{B5424EFE-C11D-6544-B26C-8497BCDA7C36}">
      <dgm:prSet/>
      <dgm:spPr/>
      <dgm:t>
        <a:bodyPr/>
        <a:lstStyle/>
        <a:p>
          <a:endParaRPr lang="en-US"/>
        </a:p>
      </dgm:t>
    </dgm:pt>
    <dgm:pt modelId="{BA1F26D6-E197-4C4B-B91B-25CCC5D4C719}" type="pres">
      <dgm:prSet presAssocID="{62CAE21B-EA7F-644D-B77D-7B6DF30220D8}" presName="Name0" presStyleCnt="0">
        <dgm:presLayoutVars>
          <dgm:dir/>
          <dgm:resizeHandles val="exact"/>
        </dgm:presLayoutVars>
      </dgm:prSet>
      <dgm:spPr/>
    </dgm:pt>
    <dgm:pt modelId="{A483CE8E-9C5C-B04E-A685-2B857EB60DA1}" type="pres">
      <dgm:prSet presAssocID="{513E7020-0130-8A49-B394-BDDD643E3046}" presName="node" presStyleLbl="node1" presStyleIdx="0" presStyleCnt="3" custScaleX="178059" custScaleY="103144">
        <dgm:presLayoutVars>
          <dgm:bulletEnabled val="1"/>
        </dgm:presLayoutVars>
      </dgm:prSet>
      <dgm:spPr/>
    </dgm:pt>
    <dgm:pt modelId="{8E4ED456-9A40-5D49-8A3A-2B9FE466B924}" type="pres">
      <dgm:prSet presAssocID="{A466F9A2-EE39-8B46-A54A-4110F680492B}" presName="sibTrans" presStyleLbl="sibTrans2D1" presStyleIdx="0" presStyleCnt="2" custScaleX="146070" custScaleY="62433"/>
      <dgm:spPr/>
    </dgm:pt>
    <dgm:pt modelId="{6B27A8EF-09FC-AC46-A086-C961C5345586}" type="pres">
      <dgm:prSet presAssocID="{A466F9A2-EE39-8B46-A54A-4110F680492B}" presName="connectorText" presStyleLbl="sibTrans2D1" presStyleIdx="0" presStyleCnt="2"/>
      <dgm:spPr/>
    </dgm:pt>
    <dgm:pt modelId="{81376DE8-0583-894E-8563-5CDEC71670A2}" type="pres">
      <dgm:prSet presAssocID="{484D633F-3935-9A49-8E79-546B218F66A3}" presName="node" presStyleLbl="node1" presStyleIdx="1" presStyleCnt="3" custScaleX="178059" custScaleY="102645">
        <dgm:presLayoutVars>
          <dgm:bulletEnabled val="1"/>
        </dgm:presLayoutVars>
      </dgm:prSet>
      <dgm:spPr/>
    </dgm:pt>
    <dgm:pt modelId="{DB625879-B320-8448-A81F-3D1E95865A60}" type="pres">
      <dgm:prSet presAssocID="{7E7F2710-14EE-3D4C-A37C-3E3DC26D54B4}" presName="sibTrans" presStyleLbl="sibTrans2D1" presStyleIdx="1" presStyleCnt="2" custScaleX="146070" custScaleY="62433"/>
      <dgm:spPr/>
    </dgm:pt>
    <dgm:pt modelId="{8EA28E39-C5D8-0341-8047-14883B031194}" type="pres">
      <dgm:prSet presAssocID="{7E7F2710-14EE-3D4C-A37C-3E3DC26D54B4}" presName="connectorText" presStyleLbl="sibTrans2D1" presStyleIdx="1" presStyleCnt="2"/>
      <dgm:spPr/>
    </dgm:pt>
    <dgm:pt modelId="{74F19E05-1B31-8546-A760-1CF2C67D32DD}" type="pres">
      <dgm:prSet presAssocID="{E9B85D75-650E-A24C-9F96-D2ADE387B9F8}" presName="node" presStyleLbl="node1" presStyleIdx="2" presStyleCnt="3" custScaleX="182187" custScaleY="98526">
        <dgm:presLayoutVars>
          <dgm:bulletEnabled val="1"/>
        </dgm:presLayoutVars>
      </dgm:prSet>
      <dgm:spPr/>
    </dgm:pt>
  </dgm:ptLst>
  <dgm:cxnLst>
    <dgm:cxn modelId="{9257E749-2649-1A4D-83E0-30F83F131D8B}" type="presOf" srcId="{484D633F-3935-9A49-8E79-546B218F66A3}" destId="{81376DE8-0583-894E-8563-5CDEC71670A2}" srcOrd="0" destOrd="0" presId="urn:microsoft.com/office/officeart/2005/8/layout/process1"/>
    <dgm:cxn modelId="{5348CD58-ECC1-9342-AC85-FE82820547E8}" type="presOf" srcId="{A466F9A2-EE39-8B46-A54A-4110F680492B}" destId="{6B27A8EF-09FC-AC46-A086-C961C5345586}" srcOrd="1" destOrd="0" presId="urn:microsoft.com/office/officeart/2005/8/layout/process1"/>
    <dgm:cxn modelId="{FF5E5996-ACE4-3342-82AC-2110861BC757}" type="presOf" srcId="{513E7020-0130-8A49-B394-BDDD643E3046}" destId="{A483CE8E-9C5C-B04E-A685-2B857EB60DA1}" srcOrd="0" destOrd="0" presId="urn:microsoft.com/office/officeart/2005/8/layout/process1"/>
    <dgm:cxn modelId="{4A684DB3-7330-7B48-9DD2-D8FDA007BC2A}" type="presOf" srcId="{A466F9A2-EE39-8B46-A54A-4110F680492B}" destId="{8E4ED456-9A40-5D49-8A3A-2B9FE466B924}" srcOrd="0" destOrd="0" presId="urn:microsoft.com/office/officeart/2005/8/layout/process1"/>
    <dgm:cxn modelId="{13E5A3B6-B161-DD45-B8AF-9FA1FFD166CA}" type="presOf" srcId="{62CAE21B-EA7F-644D-B77D-7B6DF30220D8}" destId="{BA1F26D6-E197-4C4B-B91B-25CCC5D4C719}" srcOrd="0" destOrd="0" presId="urn:microsoft.com/office/officeart/2005/8/layout/process1"/>
    <dgm:cxn modelId="{0B26EABD-A05F-BC47-8F6B-709E2F654808}" type="presOf" srcId="{7E7F2710-14EE-3D4C-A37C-3E3DC26D54B4}" destId="{DB625879-B320-8448-A81F-3D1E95865A60}" srcOrd="0" destOrd="0" presId="urn:microsoft.com/office/officeart/2005/8/layout/process1"/>
    <dgm:cxn modelId="{1B6AD6C6-4514-EF45-88C4-2BAC9CB2DD4F}" srcId="{62CAE21B-EA7F-644D-B77D-7B6DF30220D8}" destId="{513E7020-0130-8A49-B394-BDDD643E3046}" srcOrd="0" destOrd="0" parTransId="{C2572958-CBDB-214A-A130-00657E2130FA}" sibTransId="{A466F9A2-EE39-8B46-A54A-4110F680492B}"/>
    <dgm:cxn modelId="{E2494BD8-77AA-D34E-94BF-9ECF5A3B9D55}" srcId="{62CAE21B-EA7F-644D-B77D-7B6DF30220D8}" destId="{484D633F-3935-9A49-8E79-546B218F66A3}" srcOrd="1" destOrd="0" parTransId="{37E3DA7C-82EF-564A-9A0D-0F3FF469EFAC}" sibTransId="{7E7F2710-14EE-3D4C-A37C-3E3DC26D54B4}"/>
    <dgm:cxn modelId="{E5DB07E6-E8A9-794A-A1DD-709390931DE0}" type="presOf" srcId="{E9B85D75-650E-A24C-9F96-D2ADE387B9F8}" destId="{74F19E05-1B31-8546-A760-1CF2C67D32DD}" srcOrd="0" destOrd="0" presId="urn:microsoft.com/office/officeart/2005/8/layout/process1"/>
    <dgm:cxn modelId="{230231E7-9D42-8E4F-A8F1-31F2A3892726}" type="presOf" srcId="{7E7F2710-14EE-3D4C-A37C-3E3DC26D54B4}" destId="{8EA28E39-C5D8-0341-8047-14883B031194}" srcOrd="1" destOrd="0" presId="urn:microsoft.com/office/officeart/2005/8/layout/process1"/>
    <dgm:cxn modelId="{B5424EFE-C11D-6544-B26C-8497BCDA7C36}" srcId="{62CAE21B-EA7F-644D-B77D-7B6DF30220D8}" destId="{E9B85D75-650E-A24C-9F96-D2ADE387B9F8}" srcOrd="2" destOrd="0" parTransId="{0F22663F-AE72-604E-9C4E-FE5E5F760B57}" sibTransId="{D4F97C58-127E-CE48-B44B-06731B258E60}"/>
    <dgm:cxn modelId="{C6867D4C-1A31-8F4F-BBCB-DFC5CC7AC2A3}" type="presParOf" srcId="{BA1F26D6-E197-4C4B-B91B-25CCC5D4C719}" destId="{A483CE8E-9C5C-B04E-A685-2B857EB60DA1}" srcOrd="0" destOrd="0" presId="urn:microsoft.com/office/officeart/2005/8/layout/process1"/>
    <dgm:cxn modelId="{CA911543-7EF9-5F4E-AB82-BE83E63FD8F3}" type="presParOf" srcId="{BA1F26D6-E197-4C4B-B91B-25CCC5D4C719}" destId="{8E4ED456-9A40-5D49-8A3A-2B9FE466B924}" srcOrd="1" destOrd="0" presId="urn:microsoft.com/office/officeart/2005/8/layout/process1"/>
    <dgm:cxn modelId="{6F52A9AA-7F4B-F143-9459-6668863C2E7C}" type="presParOf" srcId="{8E4ED456-9A40-5D49-8A3A-2B9FE466B924}" destId="{6B27A8EF-09FC-AC46-A086-C961C5345586}" srcOrd="0" destOrd="0" presId="urn:microsoft.com/office/officeart/2005/8/layout/process1"/>
    <dgm:cxn modelId="{7640A64C-5493-1E4B-87B0-F7F057697287}" type="presParOf" srcId="{BA1F26D6-E197-4C4B-B91B-25CCC5D4C719}" destId="{81376DE8-0583-894E-8563-5CDEC71670A2}" srcOrd="2" destOrd="0" presId="urn:microsoft.com/office/officeart/2005/8/layout/process1"/>
    <dgm:cxn modelId="{C920A34C-A31F-5C4B-991D-ED7D30E4D2BC}" type="presParOf" srcId="{BA1F26D6-E197-4C4B-B91B-25CCC5D4C719}" destId="{DB625879-B320-8448-A81F-3D1E95865A60}" srcOrd="3" destOrd="0" presId="urn:microsoft.com/office/officeart/2005/8/layout/process1"/>
    <dgm:cxn modelId="{4D5C2F7C-17AA-E040-BC8F-B0C5B5FF6732}" type="presParOf" srcId="{DB625879-B320-8448-A81F-3D1E95865A60}" destId="{8EA28E39-C5D8-0341-8047-14883B031194}" srcOrd="0" destOrd="0" presId="urn:microsoft.com/office/officeart/2005/8/layout/process1"/>
    <dgm:cxn modelId="{7F2BFABD-80DF-5D45-A986-3F7E8594C9E6}" type="presParOf" srcId="{BA1F26D6-E197-4C4B-B91B-25CCC5D4C719}" destId="{74F19E05-1B31-8546-A760-1CF2C67D32D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04A59-39A1-4F22-8ACC-DB97A0F812D1}">
      <dsp:nvSpPr>
        <dsp:cNvPr id="0" name=""/>
        <dsp:cNvSpPr/>
      </dsp:nvSpPr>
      <dsp:spPr>
        <a:xfrm rot="5400000">
          <a:off x="538490" y="756654"/>
          <a:ext cx="532502" cy="60623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69759-4AB6-4D95-A02A-8D798ED631ED}">
      <dsp:nvSpPr>
        <dsp:cNvPr id="0" name=""/>
        <dsp:cNvSpPr/>
      </dsp:nvSpPr>
      <dsp:spPr>
        <a:xfrm>
          <a:off x="1276" y="166364"/>
          <a:ext cx="1688686" cy="62746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Embarrassment</a:t>
          </a:r>
        </a:p>
      </dsp:txBody>
      <dsp:txXfrm>
        <a:off x="31912" y="197000"/>
        <a:ext cx="1627414" cy="566193"/>
      </dsp:txXfrm>
    </dsp:sp>
    <dsp:sp modelId="{D2F2DB0F-E2BD-40F4-83E1-F11012C60BC8}">
      <dsp:nvSpPr>
        <dsp:cNvPr id="0" name=""/>
        <dsp:cNvSpPr/>
      </dsp:nvSpPr>
      <dsp:spPr>
        <a:xfrm>
          <a:off x="1293830" y="226207"/>
          <a:ext cx="651971" cy="50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C142AE-A1C6-45A8-9D11-1E0BF8BFC946}">
      <dsp:nvSpPr>
        <dsp:cNvPr id="0" name=""/>
        <dsp:cNvSpPr/>
      </dsp:nvSpPr>
      <dsp:spPr>
        <a:xfrm rot="5400000">
          <a:off x="1471862" y="1461505"/>
          <a:ext cx="532502" cy="60623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4D841-F956-4AA3-9EA9-A6849DDBB53F}">
      <dsp:nvSpPr>
        <dsp:cNvPr id="0" name=""/>
        <dsp:cNvSpPr/>
      </dsp:nvSpPr>
      <dsp:spPr>
        <a:xfrm>
          <a:off x="934648" y="871215"/>
          <a:ext cx="1688686" cy="62746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Humiliation</a:t>
          </a:r>
        </a:p>
      </dsp:txBody>
      <dsp:txXfrm>
        <a:off x="965284" y="901851"/>
        <a:ext cx="1627414" cy="566193"/>
      </dsp:txXfrm>
    </dsp:sp>
    <dsp:sp modelId="{ADD93D04-5E4D-42F7-AEFD-E41DE3E844B1}">
      <dsp:nvSpPr>
        <dsp:cNvPr id="0" name=""/>
        <dsp:cNvSpPr/>
      </dsp:nvSpPr>
      <dsp:spPr>
        <a:xfrm>
          <a:off x="2227202" y="931058"/>
          <a:ext cx="651971" cy="50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0BB3D7-B0D2-4D2A-AE3C-359498B66F4B}">
      <dsp:nvSpPr>
        <dsp:cNvPr id="0" name=""/>
        <dsp:cNvSpPr/>
      </dsp:nvSpPr>
      <dsp:spPr>
        <a:xfrm rot="5400000">
          <a:off x="2405233" y="2166355"/>
          <a:ext cx="532502" cy="60623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8E2D43-251E-46BE-9AD3-D7072E4032B9}">
      <dsp:nvSpPr>
        <dsp:cNvPr id="0" name=""/>
        <dsp:cNvSpPr/>
      </dsp:nvSpPr>
      <dsp:spPr>
        <a:xfrm>
          <a:off x="1868020" y="1576066"/>
          <a:ext cx="1688686" cy="62746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Exhaustion</a:t>
          </a:r>
        </a:p>
      </dsp:txBody>
      <dsp:txXfrm>
        <a:off x="1898656" y="1606702"/>
        <a:ext cx="1627414" cy="566193"/>
      </dsp:txXfrm>
    </dsp:sp>
    <dsp:sp modelId="{9B60E1D6-FBB0-4394-B33F-489BF192EACC}">
      <dsp:nvSpPr>
        <dsp:cNvPr id="0" name=""/>
        <dsp:cNvSpPr/>
      </dsp:nvSpPr>
      <dsp:spPr>
        <a:xfrm>
          <a:off x="3160573" y="1635909"/>
          <a:ext cx="651971" cy="50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FADC2-4E7C-4672-8FCA-E76775790093}">
      <dsp:nvSpPr>
        <dsp:cNvPr id="0" name=""/>
        <dsp:cNvSpPr/>
      </dsp:nvSpPr>
      <dsp:spPr>
        <a:xfrm rot="5400000">
          <a:off x="3338605" y="2871206"/>
          <a:ext cx="532502" cy="60623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3E038-FEC7-4564-9D8C-8356B1A6E7DE}">
      <dsp:nvSpPr>
        <dsp:cNvPr id="0" name=""/>
        <dsp:cNvSpPr/>
      </dsp:nvSpPr>
      <dsp:spPr>
        <a:xfrm>
          <a:off x="2801392" y="2280917"/>
          <a:ext cx="1688686" cy="62746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Blame</a:t>
          </a:r>
        </a:p>
      </dsp:txBody>
      <dsp:txXfrm>
        <a:off x="2832028" y="2311553"/>
        <a:ext cx="1627414" cy="566193"/>
      </dsp:txXfrm>
    </dsp:sp>
    <dsp:sp modelId="{23E44BAD-70FE-4695-A30B-7EE715221A23}">
      <dsp:nvSpPr>
        <dsp:cNvPr id="0" name=""/>
        <dsp:cNvSpPr/>
      </dsp:nvSpPr>
      <dsp:spPr>
        <a:xfrm>
          <a:off x="4093945" y="2340760"/>
          <a:ext cx="651971" cy="50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3C937-03C5-4CF7-AA35-12365C905AD6}">
      <dsp:nvSpPr>
        <dsp:cNvPr id="0" name=""/>
        <dsp:cNvSpPr/>
      </dsp:nvSpPr>
      <dsp:spPr>
        <a:xfrm>
          <a:off x="3734764" y="2985767"/>
          <a:ext cx="1688686" cy="62746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Fear</a:t>
          </a:r>
        </a:p>
      </dsp:txBody>
      <dsp:txXfrm>
        <a:off x="3765400" y="3016403"/>
        <a:ext cx="1627414" cy="5661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ECC9D-D9B1-458F-B4CA-E0A04F58DF33}">
      <dsp:nvSpPr>
        <dsp:cNvPr id="0" name=""/>
        <dsp:cNvSpPr/>
      </dsp:nvSpPr>
      <dsp:spPr>
        <a:xfrm>
          <a:off x="1468852" y="-92805"/>
          <a:ext cx="2594181" cy="2594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814743" y="361176"/>
        <a:ext cx="1902399" cy="1167381"/>
      </dsp:txXfrm>
    </dsp:sp>
    <dsp:sp modelId="{BCEEB6CE-ECA6-4A6C-ADDB-224E2D790C51}">
      <dsp:nvSpPr>
        <dsp:cNvPr id="0" name=""/>
        <dsp:cNvSpPr/>
      </dsp:nvSpPr>
      <dsp:spPr>
        <a:xfrm>
          <a:off x="2303181" y="1352337"/>
          <a:ext cx="2594181" cy="2594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096568" y="2022501"/>
        <a:ext cx="1556508" cy="1426799"/>
      </dsp:txXfrm>
    </dsp:sp>
    <dsp:sp modelId="{7B2CF1BD-0625-465F-BB40-DFC999877CCB}">
      <dsp:nvSpPr>
        <dsp:cNvPr id="0" name=""/>
        <dsp:cNvSpPr/>
      </dsp:nvSpPr>
      <dsp:spPr>
        <a:xfrm>
          <a:off x="634523" y="1352337"/>
          <a:ext cx="2594181" cy="2594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878808" y="2022501"/>
        <a:ext cx="1556508" cy="14267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3CE8E-9C5C-B04E-A685-2B857EB60DA1}">
      <dsp:nvSpPr>
        <dsp:cNvPr id="0" name=""/>
        <dsp:cNvSpPr/>
      </dsp:nvSpPr>
      <dsp:spPr>
        <a:xfrm>
          <a:off x="6088" y="456492"/>
          <a:ext cx="2103119" cy="904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Source Code Build</a:t>
          </a:r>
        </a:p>
      </dsp:txBody>
      <dsp:txXfrm>
        <a:off x="32582" y="482986"/>
        <a:ext cx="2050131" cy="851576"/>
      </dsp:txXfrm>
    </dsp:sp>
    <dsp:sp modelId="{8E4ED456-9A40-5D49-8A3A-2B9FE466B924}">
      <dsp:nvSpPr>
        <dsp:cNvPr id="0" name=""/>
        <dsp:cNvSpPr/>
      </dsp:nvSpPr>
      <dsp:spPr>
        <a:xfrm>
          <a:off x="2169641" y="817334"/>
          <a:ext cx="365760" cy="1828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500" kern="1200"/>
        </a:p>
      </dsp:txBody>
      <dsp:txXfrm>
        <a:off x="2169641" y="853910"/>
        <a:ext cx="310896" cy="109727"/>
      </dsp:txXfrm>
    </dsp:sp>
    <dsp:sp modelId="{81376DE8-0583-894E-8563-5CDEC71670A2}">
      <dsp:nvSpPr>
        <dsp:cNvPr id="0" name=""/>
        <dsp:cNvSpPr/>
      </dsp:nvSpPr>
      <dsp:spPr>
        <a:xfrm>
          <a:off x="2581661" y="458680"/>
          <a:ext cx="2103119" cy="9001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Container Build</a:t>
          </a:r>
        </a:p>
      </dsp:txBody>
      <dsp:txXfrm>
        <a:off x="2608027" y="485046"/>
        <a:ext cx="2050387" cy="847456"/>
      </dsp:txXfrm>
    </dsp:sp>
    <dsp:sp modelId="{DB625879-B320-8448-A81F-3D1E95865A60}">
      <dsp:nvSpPr>
        <dsp:cNvPr id="0" name=""/>
        <dsp:cNvSpPr/>
      </dsp:nvSpPr>
      <dsp:spPr>
        <a:xfrm>
          <a:off x="4745214" y="817334"/>
          <a:ext cx="365760" cy="1828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745214" y="853910"/>
        <a:ext cx="310896" cy="109727"/>
      </dsp:txXfrm>
    </dsp:sp>
    <dsp:sp modelId="{74F19E05-1B31-8546-A760-1CF2C67D32DD}">
      <dsp:nvSpPr>
        <dsp:cNvPr id="0" name=""/>
        <dsp:cNvSpPr/>
      </dsp:nvSpPr>
      <dsp:spPr>
        <a:xfrm>
          <a:off x="5157235" y="476742"/>
          <a:ext cx="2151876" cy="864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Runtime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(deployments)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Non-Prod &gt;Prod</a:t>
          </a:r>
        </a:p>
      </dsp:txBody>
      <dsp:txXfrm>
        <a:off x="5182543" y="502050"/>
        <a:ext cx="2101260" cy="8134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F9CC7-A661-1A4E-A6A8-32B1898B85F1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A3040-57E1-9842-871F-A54D1C615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978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F8F64-9C61-D445-B66B-487A9AA63591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8E03-19E1-9046-80D8-7C270229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039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shingtonpost.com/national/health-science/healthcaregov-fixes-wont-be-done-until-end-of-november/2013/10/25/22df29ba-3d93-11e3-b7ba-503fb5822c3e_story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shingtonpost.com/national/health-science/healthcaregov-fixes-wont-be-done-until-end-of-november/2013/10/25/22df29ba-3d93-11e3-b7ba-503fb5822c3e_story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shingtonpost.com/national/health-science/healthcaregov-fixes-wont-be-done-until-end-of-november/2013/10/25/22df29ba-3d93-11e3-b7ba-503fb5822c3e_story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shingtonpost.com/national/health-science/healthcaregov-fixes-wont-be-done-until-end-of-november/2013/10/25/22df29ba-3d93-11e3-b7ba-503fb5822c3e_story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vulnerabilities in software could be in 3</a:t>
            </a:r>
            <a:r>
              <a:rPr lang="en-US" baseline="30000" dirty="0"/>
              <a:t>rd</a:t>
            </a:r>
            <a:r>
              <a:rPr lang="en-US" dirty="0"/>
              <a:t> party or open source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11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QSSI - </a:t>
            </a:r>
            <a:r>
              <a:rPr lang="en-US" dirty="0">
                <a:hlinkClick r:id="rId3"/>
              </a:rPr>
              <a:t>https://www.washingtonpost.com/national/health-science/healthcaregov-fixes-wont-be-done-until-end-of-november/2013/10/25/22df29ba-3d93-11e3-b7ba-503fb5822c3e_story.html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New Delivery Date: November 30, 2013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14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74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QSSI - </a:t>
            </a:r>
            <a:r>
              <a:rPr lang="en-US" dirty="0">
                <a:hlinkClick r:id="rId3"/>
              </a:rPr>
              <a:t>https://www.washingtonpost.com/national/health-science/healthcaregov-fixes-wont-be-done-until-end-of-november/2013/10/25/22df29ba-3d93-11e3-b7ba-503fb5822c3e_story.html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New Delivery Date: November 30, 2013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94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QSSI - </a:t>
            </a:r>
            <a:r>
              <a:rPr lang="en-US" dirty="0">
                <a:hlinkClick r:id="rId3"/>
              </a:rPr>
              <a:t>https://www.washingtonpost.com/national/health-science/healthcaregov-fixes-wont-be-done-until-end-of-november/2013/10/25/22df29ba-3d93-11e3-b7ba-503fb5822c3e_story.html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New Delivery Date: November 30, 2013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53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0.3% Success Rate</a:t>
            </a:r>
          </a:p>
          <a:p>
            <a:endParaRPr lang="en-US" dirty="0"/>
          </a:p>
          <a:p>
            <a:pPr lvl="0"/>
            <a:r>
              <a:rPr lang="en-US" sz="1400" dirty="0"/>
              <a:t>Operations had no idea when servers were down.</a:t>
            </a:r>
          </a:p>
          <a:p>
            <a:pPr lvl="0"/>
            <a:r>
              <a:rPr lang="en-US" sz="1400" dirty="0">
                <a:sym typeface="Wingdings" pitchFamily="2" charset="2"/>
              </a:rPr>
              <a:t>All Hands on Deck WAR Rooms with Engineers logging into hundreds of servers and reading </a:t>
            </a:r>
            <a:r>
              <a:rPr lang="en-US" sz="1400" dirty="0" err="1">
                <a:sym typeface="Wingdings" pitchFamily="2" charset="2"/>
              </a:rPr>
              <a:t>logfiles</a:t>
            </a:r>
            <a:r>
              <a:rPr lang="en-US" sz="1400" dirty="0">
                <a:sym typeface="Wingdings" pitchFamily="2" charset="2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69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if you were in charge and you could begin developing this entire application again from the beginning?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53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all about the people or better said, It’s all about having the right leadership to create the right environment where the people, processes and technology can flourish.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44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QSSI - </a:t>
            </a:r>
            <a:r>
              <a:rPr lang="en-US" dirty="0">
                <a:hlinkClick r:id="rId3"/>
              </a:rPr>
              <a:t>https://www.washingtonpost.com/national/health-science/healthcaregov-fixes-wont-be-done-until-end-of-november/2013/10/25/22df29ba-3d93-11e3-b7ba-503fb5822c3e_story.html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New Delivery Date: November 30, 2013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0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the total solution.  To properly address Security to avoid a Zero Day Attack would take a 3-4 week, 8 hour a day training that still probably wouldn’t be complete.</a:t>
            </a:r>
          </a:p>
          <a:p>
            <a:r>
              <a:rPr lang="en-US" dirty="0"/>
              <a:t>I confess, the title “Prepping for a Zero Day Attack” was a little but of “Click Bait”.</a:t>
            </a:r>
          </a:p>
          <a:p>
            <a:r>
              <a:rPr lang="en-US" dirty="0"/>
              <a:t>I do; however, have a solution for part of the problem that I see getting ignored all the time.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security challenges are  enormous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knowledge necessary to prevent security breaches is vast and changing daily.</a:t>
            </a:r>
          </a:p>
          <a:p>
            <a:pPr marL="171450" indent="-171450">
              <a:buFontTx/>
              <a:buChar char="-"/>
            </a:pPr>
            <a:r>
              <a:rPr lang="en-US" dirty="0"/>
              <a:t>Automation, Tooling and a solid repeatable process are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78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52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58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you ever been on a team that decided to delay their security scan or their security scan results until right before you deploy to Production?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62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Commit runs through the pipeline</a:t>
            </a:r>
          </a:p>
          <a:p>
            <a:r>
              <a:rPr lang="en-US" dirty="0"/>
              <a:t>Only commits to “master” deploy to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46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9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= Continuous Integration</a:t>
            </a:r>
          </a:p>
          <a:p>
            <a:r>
              <a:rPr lang="en-US" dirty="0"/>
              <a:t>CD = Continuous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64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Automating a Process with Poor CICD Security enables you to deliver Vulnerabilities very quickly</a:t>
            </a:r>
          </a:p>
          <a:p>
            <a:r>
              <a:rPr lang="en-US" dirty="0"/>
              <a:t>Every Commit runs through the pipeline</a:t>
            </a:r>
          </a:p>
          <a:p>
            <a:r>
              <a:rPr lang="en-US" dirty="0"/>
              <a:t>Only commits to “master” deploy to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22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Automating a Process with Poor CICD Security enables you to deliver Vulnerabilities very quickly</a:t>
            </a:r>
          </a:p>
          <a:p>
            <a:r>
              <a:rPr lang="en-US" dirty="0"/>
              <a:t>Every Commit runs through the pipeline</a:t>
            </a:r>
          </a:p>
          <a:p>
            <a:r>
              <a:rPr lang="en-US" dirty="0"/>
              <a:t>Only commits to “master” deploy to production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7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56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not covering this well enough.</a:t>
            </a:r>
          </a:p>
          <a:p>
            <a:r>
              <a:rPr lang="en-US" dirty="0"/>
              <a:t>1 – Security in the Pipeline is Step 1</a:t>
            </a:r>
          </a:p>
          <a:p>
            <a:r>
              <a:rPr lang="en-US" dirty="0"/>
              <a:t>2 – There are other areas that need to be addressed to have adequate security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9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05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more work to do with Network Security</a:t>
            </a:r>
          </a:p>
          <a:p>
            <a:r>
              <a:rPr lang="en-US" dirty="0"/>
              <a:t>Ex – </a:t>
            </a:r>
            <a:r>
              <a:rPr lang="en-US"/>
              <a:t>SonarQube with no SSL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58E03-19E1-9046-80D8-7C270229610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3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3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 description needs help – explain the “Why”</a:t>
            </a:r>
          </a:p>
          <a:p>
            <a:r>
              <a:rPr lang="en-US" dirty="0"/>
              <a:t>Speed – How to Delivering Application (code, infrastructure, database, etc..) changes quickly to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268FD1-8F05-4A47-ACB6-864BEBDC9B7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62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18" Type="http://schemas.openxmlformats.org/officeDocument/2006/relationships/image" Target="../media/image2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12" Type="http://schemas.openxmlformats.org/officeDocument/2006/relationships/image" Target="../media/image14.emf"/><Relationship Id="rId17" Type="http://schemas.openxmlformats.org/officeDocument/2006/relationships/image" Target="../media/image19.emf"/><Relationship Id="rId2" Type="http://schemas.openxmlformats.org/officeDocument/2006/relationships/image" Target="../media/image4.emf"/><Relationship Id="rId16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11" Type="http://schemas.openxmlformats.org/officeDocument/2006/relationships/image" Target="../media/image13.emf"/><Relationship Id="rId5" Type="http://schemas.openxmlformats.org/officeDocument/2006/relationships/image" Target="../media/image7.emf"/><Relationship Id="rId15" Type="http://schemas.openxmlformats.org/officeDocument/2006/relationships/image" Target="../media/image17.emf"/><Relationship Id="rId10" Type="http://schemas.openxmlformats.org/officeDocument/2006/relationships/image" Target="../media/image12.emf"/><Relationship Id="rId19" Type="http://schemas.openxmlformats.org/officeDocument/2006/relationships/image" Target="../media/image21.emf"/><Relationship Id="rId4" Type="http://schemas.openxmlformats.org/officeDocument/2006/relationships/image" Target="../media/image6.emf"/><Relationship Id="rId9" Type="http://schemas.openxmlformats.org/officeDocument/2006/relationships/image" Target="../media/image11.emf"/><Relationship Id="rId14" Type="http://schemas.openxmlformats.org/officeDocument/2006/relationships/image" Target="../media/image16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-No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85800" y="4800602"/>
            <a:ext cx="6680200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sz="600" dirty="0">
                <a:solidFill>
                  <a:srgbClr val="FFFFFF"/>
                </a:solidFill>
              </a:rPr>
              <a:t>© 2019 UnitedHealth Group. Any use, copying or distribution without written permission from UnitedHealth Group is prohibited.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1" y="1716741"/>
            <a:ext cx="7956529" cy="1121709"/>
          </a:xfrm>
          <a:prstGeom prst="rect">
            <a:avLst/>
          </a:prstGeom>
        </p:spPr>
        <p:txBody>
          <a:bodyPr vert="horz" lIns="0" rIns="0" anchor="b"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Title Arial Bold 48pt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2866956"/>
            <a:ext cx="7956529" cy="783431"/>
          </a:xfrm>
          <a:prstGeom prst="rect">
            <a:avLst/>
          </a:prstGeom>
        </p:spPr>
        <p:txBody>
          <a:bodyPr vert="horz" lIns="0" rIns="0">
            <a:normAutofit/>
          </a:bodyPr>
          <a:lstStyle>
            <a:lvl1pPr marL="0" indent="0">
              <a:buNone/>
              <a:defRPr sz="2000" b="1" i="0">
                <a:solidFill>
                  <a:schemeClr val="accent4"/>
                </a:solidFill>
                <a:latin typeface="+mn-lt"/>
                <a:cs typeface="Arial"/>
              </a:defRPr>
            </a:lvl1pPr>
          </a:lstStyle>
          <a:p>
            <a:r>
              <a:rPr lang="en-US" dirty="0"/>
              <a:t>Subtitle Here Arial 20pt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B4C3A6-4B3F-46E6-8D2E-2A97869C20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" r="2064" b="-1"/>
          <a:stretch/>
        </p:blipFill>
        <p:spPr>
          <a:xfrm>
            <a:off x="685803" y="514351"/>
            <a:ext cx="1789953" cy="1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1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d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257550"/>
            <a:ext cx="9144000" cy="1885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5800" y="4812144"/>
            <a:ext cx="6680200" cy="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sz="525" dirty="0">
                <a:solidFill>
                  <a:srgbClr val="FFFFFF"/>
                </a:solidFill>
              </a:rPr>
              <a:t>© 2019 UnitedHealth Group. Any use, copying or distribution without written permission from UnitedHealth Group is prohibited.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1" y="3345224"/>
            <a:ext cx="7956529" cy="783431"/>
          </a:xfrm>
          <a:prstGeom prst="rect">
            <a:avLst/>
          </a:prstGeom>
        </p:spPr>
        <p:txBody>
          <a:bodyPr vert="horz" lIns="0" rIns="0" anchor="b">
            <a:noAutofit/>
          </a:bodyPr>
          <a:lstStyle>
            <a:lvl1pPr marL="0" indent="0">
              <a:buNone/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Title Arial Bold 48pt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1" y="4157162"/>
            <a:ext cx="7956529" cy="404418"/>
          </a:xfrm>
          <a:prstGeom prst="rect">
            <a:avLst/>
          </a:prstGeom>
        </p:spPr>
        <p:txBody>
          <a:bodyPr vert="horz" lIns="0" rIns="0">
            <a:normAutofit/>
          </a:bodyPr>
          <a:lstStyle>
            <a:lvl1pPr marL="0" indent="0">
              <a:buNone/>
              <a:defRPr sz="2000" b="1" i="0">
                <a:solidFill>
                  <a:schemeClr val="accent4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Subtitle Here Arial 20pt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88F558-8576-42A0-963D-4D545F5B5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2147" b="-2"/>
          <a:stretch/>
        </p:blipFill>
        <p:spPr>
          <a:xfrm>
            <a:off x="685801" y="520356"/>
            <a:ext cx="1792224" cy="13401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E736AD-9A94-4FFF-824B-401F7808E5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796925"/>
            <a:ext cx="9144000" cy="2460625"/>
          </a:xfrm>
          <a:solidFill>
            <a:schemeClr val="bg2"/>
          </a:solidFill>
        </p:spPr>
        <p:txBody>
          <a:bodyPr/>
          <a:lstStyle>
            <a:lvl1pPr marL="0" marR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Tx/>
              <a:buNone/>
              <a:tabLst/>
              <a:defRPr/>
            </a:lvl1pPr>
          </a:lstStyle>
          <a:p>
            <a:pPr marL="257175" marR="0" lvl="0" indent="-257175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/>
              <a:t>Click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222910097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-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668" y="1869562"/>
            <a:ext cx="7956529" cy="1665208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0" indent="0" defTabSz="1018824">
              <a:lnSpc>
                <a:spcPts val="6685"/>
              </a:lnSpc>
              <a:spcBef>
                <a:spcPts val="0"/>
              </a:spcBef>
              <a:buClr>
                <a:schemeClr val="accent5"/>
              </a:buClr>
              <a:buNone/>
              <a:defRPr sz="60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marL="0" lvl="0" indent="0" defTabSz="1018824">
              <a:lnSpc>
                <a:spcPts val="6685"/>
              </a:lnSpc>
              <a:buClr>
                <a:schemeClr val="accent5"/>
              </a:buClr>
              <a:buNone/>
            </a:pPr>
            <a:r>
              <a:rPr lang="en-US" dirty="0"/>
              <a:t>BREAKER </a:t>
            </a:r>
            <a:br>
              <a:rPr lang="en-US" dirty="0"/>
            </a:br>
            <a:r>
              <a:rPr lang="en-US" dirty="0"/>
              <a:t>ARIAL BOLD 60PT</a:t>
            </a:r>
          </a:p>
        </p:txBody>
      </p:sp>
    </p:spTree>
    <p:extLst>
      <p:ext uri="{BB962C8B-B14F-4D97-AF65-F5344CB8AC3E}">
        <p14:creationId xmlns:p14="http://schemas.microsoft.com/office/powerpoint/2010/main" val="258155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-L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2CD38B8-AC7E-43B4-8C33-BAAD490870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668" y="1869562"/>
            <a:ext cx="7956529" cy="1665208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0" indent="0" defTabSz="1018824">
              <a:lnSpc>
                <a:spcPts val="6685"/>
              </a:lnSpc>
              <a:spcBef>
                <a:spcPts val="0"/>
              </a:spcBef>
              <a:buClr>
                <a:schemeClr val="accent5"/>
              </a:buClr>
              <a:buNone/>
              <a:defRPr sz="60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marL="0" lvl="0" indent="0" defTabSz="1018824">
              <a:lnSpc>
                <a:spcPts val="6685"/>
              </a:lnSpc>
              <a:buClr>
                <a:schemeClr val="accent5"/>
              </a:buClr>
              <a:buNone/>
            </a:pPr>
            <a:r>
              <a:rPr lang="en-US" dirty="0"/>
              <a:t>BREAKER </a:t>
            </a:r>
            <a:br>
              <a:rPr lang="en-US" dirty="0"/>
            </a:br>
            <a:r>
              <a:rPr lang="en-US" dirty="0"/>
              <a:t>ARIAL BOLD 60PT</a:t>
            </a:r>
          </a:p>
        </p:txBody>
      </p:sp>
    </p:spTree>
    <p:extLst>
      <p:ext uri="{BB962C8B-B14F-4D97-AF65-F5344CB8AC3E}">
        <p14:creationId xmlns:p14="http://schemas.microsoft.com/office/powerpoint/2010/main" val="186272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-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8D84EE0-D6D3-4DF7-89EB-A48359120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668" y="1869562"/>
            <a:ext cx="7956529" cy="1665208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0" indent="0" defTabSz="1018824">
              <a:lnSpc>
                <a:spcPts val="6685"/>
              </a:lnSpc>
              <a:spcBef>
                <a:spcPts val="0"/>
              </a:spcBef>
              <a:buClr>
                <a:schemeClr val="accent5"/>
              </a:buClr>
              <a:buNone/>
              <a:defRPr sz="60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marL="0" lvl="0" indent="0" defTabSz="1018824">
              <a:lnSpc>
                <a:spcPts val="6685"/>
              </a:lnSpc>
              <a:buClr>
                <a:schemeClr val="accent5"/>
              </a:buClr>
              <a:buNone/>
            </a:pPr>
            <a:r>
              <a:rPr lang="en-US" dirty="0"/>
              <a:t>BREAKER </a:t>
            </a:r>
            <a:br>
              <a:rPr lang="en-US" dirty="0"/>
            </a:br>
            <a:r>
              <a:rPr lang="en-US" dirty="0"/>
              <a:t>ARIAL BOLD 60PT</a:t>
            </a:r>
          </a:p>
        </p:txBody>
      </p:sp>
    </p:spTree>
    <p:extLst>
      <p:ext uri="{BB962C8B-B14F-4D97-AF65-F5344CB8AC3E}">
        <p14:creationId xmlns:p14="http://schemas.microsoft.com/office/powerpoint/2010/main" val="66547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-Grey">
    <p:bg>
      <p:bgPr>
        <a:solidFill>
          <a:srgbClr val="99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F3880FB-D2C3-4337-B7B6-06E1B7DC6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668" y="1869562"/>
            <a:ext cx="7956529" cy="1665208"/>
          </a:xfrm>
          <a:prstGeom prst="rect">
            <a:avLst/>
          </a:prstGeom>
        </p:spPr>
        <p:txBody>
          <a:bodyPr vert="horz" lIns="0" rIns="0" anchor="ctr">
            <a:noAutofit/>
          </a:bodyPr>
          <a:lstStyle>
            <a:lvl1pPr marL="0" indent="0" defTabSz="1018824">
              <a:lnSpc>
                <a:spcPts val="6685"/>
              </a:lnSpc>
              <a:spcBef>
                <a:spcPts val="0"/>
              </a:spcBef>
              <a:buClr>
                <a:schemeClr val="accent5"/>
              </a:buClr>
              <a:buNone/>
              <a:defRPr sz="60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marL="0" lvl="0" indent="0" defTabSz="1018824">
              <a:lnSpc>
                <a:spcPts val="6685"/>
              </a:lnSpc>
              <a:buClr>
                <a:schemeClr val="accent5"/>
              </a:buClr>
              <a:buNone/>
            </a:pPr>
            <a:r>
              <a:rPr lang="en-US" dirty="0"/>
              <a:t>BREAKER </a:t>
            </a:r>
            <a:br>
              <a:rPr lang="en-US" dirty="0"/>
            </a:br>
            <a:r>
              <a:rPr lang="en-US" dirty="0"/>
              <a:t>ARIAL BOLD 60PT</a:t>
            </a:r>
          </a:p>
        </p:txBody>
      </p:sp>
    </p:spTree>
    <p:extLst>
      <p:ext uri="{BB962C8B-B14F-4D97-AF65-F5344CB8AC3E}">
        <p14:creationId xmlns:p14="http://schemas.microsoft.com/office/powerpoint/2010/main" val="339761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B18392-0FDE-4A9D-8675-682554B980EC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E40C9-7517-4B2D-AAB7-5F2E4A6EF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6DBF8-2606-48AE-B144-B248B9B846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088" y="1405890"/>
            <a:ext cx="7982712" cy="32804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042B-8F0F-4283-A029-A5A4A27BE0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E75CA7-F867-4BE9-B137-EBA615DB60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2147" b="-2"/>
          <a:stretch/>
        </p:blipFill>
        <p:spPr>
          <a:xfrm>
            <a:off x="685801" y="4889754"/>
            <a:ext cx="1366859" cy="1022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C65A50-DEA6-4CC9-8E90-5F13B4BCA2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161087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644B7D-EB0F-436E-9968-604FA60335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09027235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1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F644B7D-EB0F-436E-9968-604FA6033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D316E1B-CC8A-4535-8B29-F32E4F33F4BB}"/>
              </a:ext>
            </a:extLst>
          </p:cNvPr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63E92-64DE-40BC-845A-2B9C514D8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7185B-7B77-40DF-9AE9-0B7AC509CDB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088" y="1405890"/>
            <a:ext cx="7982712" cy="32861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5F6AA-99CB-468F-8116-E8CAEF4A8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D541F-1852-4358-AE90-42ED9E8DDC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" r="1909" b="-1"/>
          <a:stretch/>
        </p:blipFill>
        <p:spPr>
          <a:xfrm>
            <a:off x="685801" y="4892521"/>
            <a:ext cx="1333070" cy="99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025355-9375-403E-9D97-ADA1DD4443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145427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B5CC5C-F030-4724-81FA-33C3B9159A3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43464" y="1400176"/>
            <a:ext cx="3546475" cy="31087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EB30387D-7E51-4F68-8F96-43BFBF86D0D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5800" y="1400176"/>
            <a:ext cx="3888512" cy="312538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4E6F08-3FBF-486D-9237-EECD97B54844}"/>
              </a:ext>
            </a:extLst>
          </p:cNvPr>
          <p:cNvSpPr/>
          <p:nvPr userDrawn="1"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45240704-9DD9-4D59-BBFF-411FC9AAEC4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5979103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45240704-9DD9-4D59-BBFF-411FC9AAE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6A73B-A327-4304-AE2F-3414E47D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3337D0-5BDC-4C8C-A86F-6EC63BA477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" r="1909" b="-1"/>
          <a:stretch/>
        </p:blipFill>
        <p:spPr>
          <a:xfrm>
            <a:off x="685801" y="4892521"/>
            <a:ext cx="1333070" cy="994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045B41-B935-4648-82FB-DD59221EF1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403386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CEB07A22-DB36-4F5C-8F7B-5F8983EF0C3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6724946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8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CEB07A22-DB36-4F5C-8F7B-5F8983EF0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E31FD-76CB-4691-BC02-CD0A00A2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9ED14C-F6CB-485D-8587-48893DD8E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" r="1909" b="-1"/>
          <a:stretch/>
        </p:blipFill>
        <p:spPr>
          <a:xfrm>
            <a:off x="685801" y="4892521"/>
            <a:ext cx="1333070" cy="994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D2CDE3-20DC-4C4A-BBDB-67D563FC97D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F5FB23F-1707-49AF-9719-58956A258E2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43464" y="1400176"/>
            <a:ext cx="3546475" cy="31087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1981F70E-E282-4481-8640-3169F7AD4F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5800" y="1400176"/>
            <a:ext cx="3888512" cy="312538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</p:spTree>
    <p:extLst>
      <p:ext uri="{BB962C8B-B14F-4D97-AF65-F5344CB8AC3E}">
        <p14:creationId xmlns:p14="http://schemas.microsoft.com/office/powerpoint/2010/main" val="98810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Blu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CE784BDB-E988-46C6-870F-D47074561CA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7681587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CE784BDB-E988-46C6-870F-D47074561C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ABCBEB69-3596-474E-9135-A9830D9A4E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43464" y="1400176"/>
            <a:ext cx="3546475" cy="31087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59EC4164-BF83-4701-B080-54331D7343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5800" y="1400176"/>
            <a:ext cx="3888512" cy="312538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</p:spTree>
    <p:extLst>
      <p:ext uri="{BB962C8B-B14F-4D97-AF65-F5344CB8AC3E}">
        <p14:creationId xmlns:p14="http://schemas.microsoft.com/office/powerpoint/2010/main" val="3901643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Grey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9D666CB8-BE49-43A5-891C-D674DD7EAC6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6457931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8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9D666CB8-BE49-43A5-891C-D674DD7EA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rgbClr val="003C7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C51204B-23C2-4328-9E01-1ABF4E53A65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43464" y="1400176"/>
            <a:ext cx="3546475" cy="31087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0391FB2-AFE5-45D8-A37D-D26598F5A45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5800" y="1400176"/>
            <a:ext cx="3888512" cy="312538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</p:spTree>
    <p:extLst>
      <p:ext uri="{BB962C8B-B14F-4D97-AF65-F5344CB8AC3E}">
        <p14:creationId xmlns:p14="http://schemas.microsoft.com/office/powerpoint/2010/main" val="3634586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9283DE3-A361-44CB-A7DB-BB4BA7CA63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0939402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0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9283DE3-A361-44CB-A7DB-BB4BA7CA63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9346EB-56AE-4AF5-897A-A3F2927E236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850" y="1400175"/>
            <a:ext cx="4572000" cy="311229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4A8A23-9D14-4EAB-8517-67BEE952D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2EECD7-8DE4-4843-81AB-C8528D3BDB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" r="1909" b="-1"/>
          <a:stretch/>
        </p:blipFill>
        <p:spPr>
          <a:xfrm>
            <a:off x="685801" y="4892521"/>
            <a:ext cx="1333070" cy="994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BA9FE6-5D3D-4CD9-9F1E-5995194619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1425417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885F07E-1995-4D79-913A-0FE00230E8C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4057228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4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885F07E-1995-4D79-913A-0FE00230E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2AA7B9-FD94-4FA2-91D7-313588B4E3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850" y="1400175"/>
            <a:ext cx="4572000" cy="311229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2378" y="376669"/>
            <a:ext cx="7994423" cy="475722"/>
          </a:xfrm>
          <a:prstGeom prst="rect">
            <a:avLst/>
          </a:prstGeom>
        </p:spPr>
        <p:txBody>
          <a:bodyPr vert="horz" lIns="0" rIns="0" anchor="ctr"/>
          <a:lstStyle>
            <a:lvl1pPr>
              <a:defRPr sz="3600" b="1" i="0">
                <a:solidFill>
                  <a:srgbClr val="003C7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EE624-2216-435F-988E-56B329CCA9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970F7C-EB02-4AC9-92D2-56B162379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" r="1909" b="-1"/>
          <a:stretch/>
        </p:blipFill>
        <p:spPr>
          <a:xfrm>
            <a:off x="685801" y="4892521"/>
            <a:ext cx="1333070" cy="99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DB6B2B-8290-4419-B4A6-AD60B060B8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3186734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Slide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3B5F5B-6677-4944-B6D3-69D8D537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D8A6F42-7A4A-477C-804A-281B93939E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60525" y="1077913"/>
            <a:ext cx="5822950" cy="2987675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342900" indent="0" algn="ctr">
              <a:buNone/>
              <a:defRPr sz="3200">
                <a:solidFill>
                  <a:schemeClr val="bg1"/>
                </a:solidFill>
              </a:defRPr>
            </a:lvl2pPr>
            <a:lvl3pPr marL="685800" indent="0" algn="ctr">
              <a:buNone/>
              <a:defRPr sz="3200">
                <a:solidFill>
                  <a:schemeClr val="bg1"/>
                </a:solidFill>
              </a:defRPr>
            </a:lvl3pPr>
            <a:lvl4pPr marL="1028700" indent="0" algn="ctr">
              <a:buNone/>
              <a:defRPr sz="3200">
                <a:solidFill>
                  <a:schemeClr val="bg1"/>
                </a:solidFill>
              </a:defRPr>
            </a:lvl4pPr>
            <a:lvl5pPr marL="1371600" indent="0" algn="ctr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Arial 32pt</a:t>
            </a:r>
          </a:p>
        </p:txBody>
      </p:sp>
    </p:spTree>
    <p:extLst>
      <p:ext uri="{BB962C8B-B14F-4D97-AF65-F5344CB8AC3E}">
        <p14:creationId xmlns:p14="http://schemas.microsoft.com/office/powerpoint/2010/main" val="2080889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Slide -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09AC4-8FA3-46DD-A62A-C8969FCA1F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F9F47-EC76-421B-9FFD-7AE95FA5A0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60525" y="1077913"/>
            <a:ext cx="5822950" cy="2987675"/>
          </a:xfrm>
        </p:spPr>
        <p:txBody>
          <a:bodyPr anchor="ctr">
            <a:no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342900" indent="0" algn="ctr">
              <a:buNone/>
              <a:defRPr sz="3200">
                <a:solidFill>
                  <a:schemeClr val="bg1"/>
                </a:solidFill>
              </a:defRPr>
            </a:lvl2pPr>
            <a:lvl3pPr marL="685800" indent="0" algn="ctr">
              <a:buNone/>
              <a:defRPr sz="3200">
                <a:solidFill>
                  <a:schemeClr val="bg1"/>
                </a:solidFill>
              </a:defRPr>
            </a:lvl3pPr>
            <a:lvl4pPr marL="1028700" indent="0" algn="ctr">
              <a:buNone/>
              <a:defRPr sz="3200">
                <a:solidFill>
                  <a:schemeClr val="bg1"/>
                </a:solidFill>
              </a:defRPr>
            </a:lvl4pPr>
            <a:lvl5pPr marL="1371600" indent="0" algn="ctr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Arial 32pt</a:t>
            </a:r>
          </a:p>
        </p:txBody>
      </p:sp>
    </p:spTree>
    <p:extLst>
      <p:ext uri="{BB962C8B-B14F-4D97-AF65-F5344CB8AC3E}">
        <p14:creationId xmlns:p14="http://schemas.microsoft.com/office/powerpoint/2010/main" val="4243342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llout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D19DF3-147D-4708-B2F3-7D803781B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8" name="Group 47"/>
          <p:cNvGrpSpPr>
            <a:grpSpLocks noChangeAspect="1"/>
          </p:cNvGrpSpPr>
          <p:nvPr userDrawn="1"/>
        </p:nvGrpSpPr>
        <p:grpSpPr>
          <a:xfrm>
            <a:off x="4206199" y="1112114"/>
            <a:ext cx="4871405" cy="2968350"/>
            <a:chOff x="1111594" y="437716"/>
            <a:chExt cx="6739341" cy="4106556"/>
          </a:xfrm>
        </p:grpSpPr>
        <p:sp>
          <p:nvSpPr>
            <p:cNvPr id="49" name="line11"/>
            <p:cNvSpPr/>
            <p:nvPr userDrawn="1"/>
          </p:nvSpPr>
          <p:spPr>
            <a:xfrm rot="5400000">
              <a:off x="3381718" y="949096"/>
              <a:ext cx="408426" cy="433785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3" name="line12"/>
            <p:cNvSpPr/>
            <p:nvPr userDrawn="1"/>
          </p:nvSpPr>
          <p:spPr>
            <a:xfrm rot="5400000">
              <a:off x="2686902" y="1347258"/>
              <a:ext cx="408426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4" name="line10"/>
            <p:cNvSpPr/>
            <p:nvPr userDrawn="1"/>
          </p:nvSpPr>
          <p:spPr>
            <a:xfrm rot="5400000">
              <a:off x="2312985" y="2008914"/>
              <a:ext cx="208285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5" name="line9"/>
            <p:cNvSpPr/>
            <p:nvPr userDrawn="1"/>
          </p:nvSpPr>
          <p:spPr>
            <a:xfrm rot="5400000">
              <a:off x="2595393" y="2882789"/>
              <a:ext cx="208285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6" name="line8"/>
            <p:cNvSpPr/>
            <p:nvPr userDrawn="1"/>
          </p:nvSpPr>
          <p:spPr>
            <a:xfrm rot="5400000">
              <a:off x="2828751" y="2911826"/>
              <a:ext cx="208285" cy="200074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7" name="line7"/>
            <p:cNvSpPr/>
            <p:nvPr userDrawn="1"/>
          </p:nvSpPr>
          <p:spPr>
            <a:xfrm rot="16200000" flipV="1">
              <a:off x="3024041" y="3944448"/>
              <a:ext cx="208285" cy="68579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8" name="line6"/>
            <p:cNvSpPr/>
            <p:nvPr userDrawn="1"/>
          </p:nvSpPr>
          <p:spPr>
            <a:xfrm rot="5400000" flipH="1" flipV="1">
              <a:off x="5240288" y="3849539"/>
              <a:ext cx="398101" cy="68579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9" name="line5"/>
            <p:cNvSpPr/>
            <p:nvPr userDrawn="1"/>
          </p:nvSpPr>
          <p:spPr>
            <a:xfrm rot="5400000" flipH="1" flipV="1">
              <a:off x="5736620" y="2891042"/>
              <a:ext cx="288010" cy="152808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0" name="line4"/>
            <p:cNvSpPr/>
            <p:nvPr userDrawn="1"/>
          </p:nvSpPr>
          <p:spPr>
            <a:xfrm rot="5400000" flipH="1" flipV="1">
              <a:off x="5609901" y="2512168"/>
              <a:ext cx="288010" cy="94979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1" name="line3"/>
            <p:cNvSpPr/>
            <p:nvPr userDrawn="1"/>
          </p:nvSpPr>
          <p:spPr>
            <a:xfrm rot="5400000" flipH="1" flipV="1">
              <a:off x="5757188" y="1531171"/>
              <a:ext cx="288010" cy="1244362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2" name="line2"/>
            <p:cNvSpPr/>
            <p:nvPr userDrawn="1"/>
          </p:nvSpPr>
          <p:spPr>
            <a:xfrm rot="16200000" flipH="1">
              <a:off x="5419026" y="1038421"/>
              <a:ext cx="144005" cy="1244362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3" name="line1"/>
            <p:cNvSpPr/>
            <p:nvPr userDrawn="1"/>
          </p:nvSpPr>
          <p:spPr>
            <a:xfrm rot="16200000" flipH="1">
              <a:off x="4739290" y="969300"/>
              <a:ext cx="445353" cy="430304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pic>
          <p:nvPicPr>
            <p:cNvPr id="104" name="Picture 78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560" y="1013460"/>
              <a:ext cx="3398520" cy="3398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5" name="Picture 79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8387" y="3247273"/>
              <a:ext cx="521283" cy="409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" name="Picture 80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1604" y="3247273"/>
              <a:ext cx="536074" cy="4639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7" name="Picture 82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6083" y="1557104"/>
              <a:ext cx="606741" cy="494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8" name="Picture 84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46" y="1587747"/>
              <a:ext cx="476277" cy="476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9" name="Picture 86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011" y="449100"/>
              <a:ext cx="628956" cy="427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0" name="Picture 87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5178" y="771748"/>
              <a:ext cx="436042" cy="736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1" name="Picture 89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503" y="2664907"/>
              <a:ext cx="293272" cy="449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" name="Picture 90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2820" y="3250406"/>
              <a:ext cx="441734" cy="46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3" name="Picture 91"/>
            <p:cNvPicPr>
              <a:picLocks noChangeAspect="1" noChangeArrowheads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4282" y="3869181"/>
              <a:ext cx="575152" cy="326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4" name="Picture 92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1058" y="1648263"/>
              <a:ext cx="431866" cy="574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" name="Picture 94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9990" y="1079562"/>
              <a:ext cx="399932" cy="374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6" name="Picture 9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5183" y="2598232"/>
              <a:ext cx="436378" cy="445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" name="Picture 97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0873" y="3217510"/>
              <a:ext cx="510405" cy="53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8" name="Picture 9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9024" y="3932368"/>
              <a:ext cx="654152" cy="337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9" name="TextBox 118"/>
            <p:cNvSpPr txBox="1"/>
            <p:nvPr userDrawn="1"/>
          </p:nvSpPr>
          <p:spPr>
            <a:xfrm>
              <a:off x="2455421" y="895275"/>
              <a:ext cx="904810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greater team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collaboration</a:t>
              </a:r>
            </a:p>
          </p:txBody>
        </p:sp>
        <p:sp>
          <p:nvSpPr>
            <p:cNvPr id="120" name="TextBox 119"/>
            <p:cNvSpPr txBox="1"/>
            <p:nvPr userDrawn="1"/>
          </p:nvSpPr>
          <p:spPr>
            <a:xfrm>
              <a:off x="1846973" y="1489160"/>
              <a:ext cx="656431" cy="517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bring the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customer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closer</a:t>
              </a:r>
            </a:p>
          </p:txBody>
        </p:sp>
        <p:sp>
          <p:nvSpPr>
            <p:cNvPr id="121" name="TextBox 120"/>
            <p:cNvSpPr txBox="1"/>
            <p:nvPr userDrawn="1"/>
          </p:nvSpPr>
          <p:spPr>
            <a:xfrm>
              <a:off x="1111594" y="2250116"/>
              <a:ext cx="1002388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partnerships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over contracts</a:t>
              </a:r>
            </a:p>
          </p:txBody>
        </p:sp>
        <p:sp>
          <p:nvSpPr>
            <p:cNvPr id="122" name="TextBox 121"/>
            <p:cNvSpPr txBox="1"/>
            <p:nvPr userDrawn="1"/>
          </p:nvSpPr>
          <p:spPr>
            <a:xfrm>
              <a:off x="1975804" y="3108774"/>
              <a:ext cx="549983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lean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thinking</a:t>
              </a:r>
            </a:p>
          </p:txBody>
        </p:sp>
        <p:sp>
          <p:nvSpPr>
            <p:cNvPr id="123" name="TextBox 122"/>
            <p:cNvSpPr txBox="1"/>
            <p:nvPr userDrawn="1"/>
          </p:nvSpPr>
          <p:spPr>
            <a:xfrm>
              <a:off x="1157350" y="3721272"/>
              <a:ext cx="771750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continuous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quality</a:t>
              </a:r>
            </a:p>
          </p:txBody>
        </p:sp>
        <p:sp>
          <p:nvSpPr>
            <p:cNvPr id="124" name="TextBox 123"/>
            <p:cNvSpPr txBox="1"/>
            <p:nvPr userDrawn="1"/>
          </p:nvSpPr>
          <p:spPr>
            <a:xfrm>
              <a:off x="2353308" y="4199380"/>
              <a:ext cx="833844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empowered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teams</a:t>
              </a:r>
            </a:p>
          </p:txBody>
        </p:sp>
        <p:sp>
          <p:nvSpPr>
            <p:cNvPr id="125" name="TextBox 124"/>
            <p:cNvSpPr txBox="1"/>
            <p:nvPr userDrawn="1"/>
          </p:nvSpPr>
          <p:spPr>
            <a:xfrm>
              <a:off x="5838952" y="4303194"/>
              <a:ext cx="816103" cy="1724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higher NPS</a:t>
              </a:r>
            </a:p>
          </p:txBody>
        </p:sp>
        <p:sp>
          <p:nvSpPr>
            <p:cNvPr id="126" name="TextBox 125"/>
            <p:cNvSpPr txBox="1"/>
            <p:nvPr userDrawn="1"/>
          </p:nvSpPr>
          <p:spPr>
            <a:xfrm>
              <a:off x="6681010" y="3730682"/>
              <a:ext cx="887068" cy="1724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predictability</a:t>
              </a:r>
            </a:p>
          </p:txBody>
        </p:sp>
        <p:sp>
          <p:nvSpPr>
            <p:cNvPr id="127" name="TextBox 126"/>
            <p:cNvSpPr txBox="1"/>
            <p:nvPr userDrawn="1"/>
          </p:nvSpPr>
          <p:spPr>
            <a:xfrm>
              <a:off x="6349676" y="3050822"/>
              <a:ext cx="629819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business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value</a:t>
              </a:r>
            </a:p>
          </p:txBody>
        </p:sp>
        <p:sp>
          <p:nvSpPr>
            <p:cNvPr id="128" name="TextBox 127"/>
            <p:cNvSpPr txBox="1"/>
            <p:nvPr userDrawn="1"/>
          </p:nvSpPr>
          <p:spPr>
            <a:xfrm>
              <a:off x="6582427" y="2225875"/>
              <a:ext cx="1268508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quicker value with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incremental work</a:t>
              </a:r>
            </a:p>
          </p:txBody>
        </p:sp>
        <p:sp>
          <p:nvSpPr>
            <p:cNvPr id="129" name="TextBox 128"/>
            <p:cNvSpPr txBox="1"/>
            <p:nvPr userDrawn="1"/>
          </p:nvSpPr>
          <p:spPr>
            <a:xfrm>
              <a:off x="6155751" y="1531219"/>
              <a:ext cx="612077" cy="517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improve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products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faster</a:t>
              </a:r>
            </a:p>
          </p:txBody>
        </p:sp>
        <p:sp>
          <p:nvSpPr>
            <p:cNvPr id="130" name="TextBox 129"/>
            <p:cNvSpPr txBox="1"/>
            <p:nvPr userDrawn="1"/>
          </p:nvSpPr>
          <p:spPr>
            <a:xfrm>
              <a:off x="5236450" y="884776"/>
              <a:ext cx="931422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respond to</a:t>
              </a:r>
              <a:b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</a:br>
              <a:r>
                <a:rPr lang="en-US" sz="900" dirty="0">
                  <a:solidFill>
                    <a:schemeClr val="bg1">
                      <a:lumMod val="95000"/>
                    </a:schemeClr>
                  </a:solidFill>
                </a:rPr>
                <a:t>market faster</a:t>
              </a:r>
            </a:p>
          </p:txBody>
        </p:sp>
        <p:pic>
          <p:nvPicPr>
            <p:cNvPr id="131" name="Picture 99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125" y="437716"/>
              <a:ext cx="832582" cy="439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" name="Picture 100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270" y="1811928"/>
              <a:ext cx="1681378" cy="1629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" name="Picture 101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2756" y="1763177"/>
              <a:ext cx="451591" cy="410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4" name="TextBox 133"/>
            <p:cNvSpPr txBox="1"/>
            <p:nvPr userDrawn="1"/>
          </p:nvSpPr>
          <p:spPr>
            <a:xfrm>
              <a:off x="4068681" y="2226529"/>
              <a:ext cx="558853" cy="38321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900" dirty="0"/>
                <a:t>Agile</a:t>
              </a:r>
              <a:br>
                <a:rPr lang="en-US" sz="900" dirty="0"/>
              </a:br>
              <a:r>
                <a:rPr lang="en-US" sz="900" dirty="0"/>
                <a:t>Mindset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3103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llout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D19DF3-147D-4708-B2F3-7D803781B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31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C494E-489C-428C-9F7A-FE2481D20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66FF79-1096-4893-96E2-9D59D69F2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grpSp>
        <p:nvGrpSpPr>
          <p:cNvPr id="48" name="Group 47"/>
          <p:cNvGrpSpPr>
            <a:grpSpLocks noChangeAspect="1"/>
          </p:cNvGrpSpPr>
          <p:nvPr userDrawn="1"/>
        </p:nvGrpSpPr>
        <p:grpSpPr>
          <a:xfrm>
            <a:off x="4206199" y="1112114"/>
            <a:ext cx="4871405" cy="2968350"/>
            <a:chOff x="1111594" y="437716"/>
            <a:chExt cx="6739341" cy="4106556"/>
          </a:xfrm>
        </p:grpSpPr>
        <p:sp>
          <p:nvSpPr>
            <p:cNvPr id="49" name="line11"/>
            <p:cNvSpPr/>
            <p:nvPr userDrawn="1"/>
          </p:nvSpPr>
          <p:spPr>
            <a:xfrm rot="5400000">
              <a:off x="3381718" y="949096"/>
              <a:ext cx="408426" cy="433785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3" name="line12"/>
            <p:cNvSpPr/>
            <p:nvPr userDrawn="1"/>
          </p:nvSpPr>
          <p:spPr>
            <a:xfrm rot="5400000">
              <a:off x="2686902" y="1347258"/>
              <a:ext cx="408426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4" name="line10"/>
            <p:cNvSpPr/>
            <p:nvPr userDrawn="1"/>
          </p:nvSpPr>
          <p:spPr>
            <a:xfrm rot="5400000">
              <a:off x="2312985" y="2008914"/>
              <a:ext cx="208285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5" name="line9"/>
            <p:cNvSpPr/>
            <p:nvPr userDrawn="1"/>
          </p:nvSpPr>
          <p:spPr>
            <a:xfrm rot="5400000">
              <a:off x="2595393" y="2882789"/>
              <a:ext cx="208285" cy="82812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6" name="line8"/>
            <p:cNvSpPr/>
            <p:nvPr userDrawn="1"/>
          </p:nvSpPr>
          <p:spPr>
            <a:xfrm rot="5400000">
              <a:off x="2828751" y="2911826"/>
              <a:ext cx="208285" cy="200074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7" name="line7"/>
            <p:cNvSpPr/>
            <p:nvPr userDrawn="1"/>
          </p:nvSpPr>
          <p:spPr>
            <a:xfrm rot="16200000" flipV="1">
              <a:off x="3024041" y="3944448"/>
              <a:ext cx="208285" cy="68579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8" name="line6"/>
            <p:cNvSpPr/>
            <p:nvPr userDrawn="1"/>
          </p:nvSpPr>
          <p:spPr>
            <a:xfrm rot="5400000" flipH="1" flipV="1">
              <a:off x="5240288" y="3849539"/>
              <a:ext cx="398101" cy="68579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99" name="line5"/>
            <p:cNvSpPr/>
            <p:nvPr userDrawn="1"/>
          </p:nvSpPr>
          <p:spPr>
            <a:xfrm rot="5400000" flipH="1" flipV="1">
              <a:off x="5736620" y="2891042"/>
              <a:ext cx="288010" cy="1528087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0" name="line4"/>
            <p:cNvSpPr/>
            <p:nvPr userDrawn="1"/>
          </p:nvSpPr>
          <p:spPr>
            <a:xfrm rot="5400000" flipH="1" flipV="1">
              <a:off x="5609901" y="2512168"/>
              <a:ext cx="288010" cy="949791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1" name="line3"/>
            <p:cNvSpPr/>
            <p:nvPr userDrawn="1"/>
          </p:nvSpPr>
          <p:spPr>
            <a:xfrm rot="5400000" flipH="1" flipV="1">
              <a:off x="5757188" y="1531171"/>
              <a:ext cx="288010" cy="1244362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2" name="line2"/>
            <p:cNvSpPr/>
            <p:nvPr userDrawn="1"/>
          </p:nvSpPr>
          <p:spPr>
            <a:xfrm rot="16200000" flipH="1">
              <a:off x="5419026" y="1038421"/>
              <a:ext cx="144005" cy="1244362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sp>
          <p:nvSpPr>
            <p:cNvPr id="103" name="line1"/>
            <p:cNvSpPr/>
            <p:nvPr userDrawn="1"/>
          </p:nvSpPr>
          <p:spPr>
            <a:xfrm rot="16200000" flipH="1">
              <a:off x="4739290" y="969300"/>
              <a:ext cx="445353" cy="430304"/>
            </a:xfrm>
            <a:custGeom>
              <a:avLst/>
              <a:gdLst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0 w 867571"/>
                <a:gd name="connsiteY0" fmla="*/ 0 h 867571"/>
                <a:gd name="connsiteX1" fmla="*/ 867571 w 867571"/>
                <a:gd name="connsiteY1" fmla="*/ 0 h 867571"/>
                <a:gd name="connsiteX2" fmla="*/ 867571 w 867571"/>
                <a:gd name="connsiteY2" fmla="*/ 867571 h 867571"/>
                <a:gd name="connsiteX3" fmla="*/ 0 w 867571"/>
                <a:gd name="connsiteY3" fmla="*/ 867571 h 867571"/>
                <a:gd name="connsiteX4" fmla="*/ 0 w 867571"/>
                <a:gd name="connsiteY4" fmla="*/ 0 h 867571"/>
                <a:gd name="connsiteX0" fmla="*/ 867571 w 959011"/>
                <a:gd name="connsiteY0" fmla="*/ 867571 h 959011"/>
                <a:gd name="connsiteX1" fmla="*/ 0 w 959011"/>
                <a:gd name="connsiteY1" fmla="*/ 867571 h 959011"/>
                <a:gd name="connsiteX2" fmla="*/ 0 w 959011"/>
                <a:gd name="connsiteY2" fmla="*/ 0 h 959011"/>
                <a:gd name="connsiteX3" fmla="*/ 867571 w 959011"/>
                <a:gd name="connsiteY3" fmla="*/ 0 h 959011"/>
                <a:gd name="connsiteX4" fmla="*/ 959011 w 959011"/>
                <a:gd name="connsiteY4" fmla="*/ 959011 h 95901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867571 w 867571"/>
                <a:gd name="connsiteY0" fmla="*/ 867571 h 867571"/>
                <a:gd name="connsiteX1" fmla="*/ 0 w 867571"/>
                <a:gd name="connsiteY1" fmla="*/ 867571 h 867571"/>
                <a:gd name="connsiteX2" fmla="*/ 0 w 867571"/>
                <a:gd name="connsiteY2" fmla="*/ 0 h 867571"/>
                <a:gd name="connsiteX3" fmla="*/ 867571 w 867571"/>
                <a:gd name="connsiteY3" fmla="*/ 0 h 867571"/>
                <a:gd name="connsiteX0" fmla="*/ 0 w 867571"/>
                <a:gd name="connsiteY0" fmla="*/ 867571 h 867571"/>
                <a:gd name="connsiteX1" fmla="*/ 0 w 867571"/>
                <a:gd name="connsiteY1" fmla="*/ 0 h 867571"/>
                <a:gd name="connsiteX2" fmla="*/ 867571 w 867571"/>
                <a:gd name="connsiteY2" fmla="*/ 0 h 86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7571" h="867571">
                  <a:moveTo>
                    <a:pt x="0" y="867571"/>
                  </a:moveTo>
                  <a:lnTo>
                    <a:pt x="0" y="0"/>
                  </a:lnTo>
                  <a:lnTo>
                    <a:pt x="867571" y="0"/>
                  </a:lnTo>
                </a:path>
              </a:pathLst>
            </a:cu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/>
            </a:p>
          </p:txBody>
        </p:sp>
        <p:pic>
          <p:nvPicPr>
            <p:cNvPr id="104" name="Picture 78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5560" y="1013460"/>
              <a:ext cx="3398520" cy="3398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5" name="Picture 79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8387" y="3247273"/>
              <a:ext cx="521283" cy="409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" name="Picture 80"/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1604" y="3247273"/>
              <a:ext cx="536074" cy="4639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7" name="Picture 82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6083" y="1557104"/>
              <a:ext cx="606741" cy="494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8" name="Picture 84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46" y="1587747"/>
              <a:ext cx="476277" cy="476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9" name="Picture 86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011" y="449100"/>
              <a:ext cx="628956" cy="427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0" name="Picture 87"/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5178" y="771748"/>
              <a:ext cx="436042" cy="736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1" name="Picture 89"/>
            <p:cNvPicPr>
              <a:picLocks noChangeAspect="1" noChangeArrowheads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503" y="2664907"/>
              <a:ext cx="293272" cy="449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" name="Picture 90"/>
            <p:cNvPicPr>
              <a:picLocks noChangeAspect="1" noChangeArrowheads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2820" y="3250406"/>
              <a:ext cx="441734" cy="46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3" name="Picture 91"/>
            <p:cNvPicPr>
              <a:picLocks noChangeAspect="1" noChangeArrowheads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4282" y="3869181"/>
              <a:ext cx="575152" cy="3267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4" name="Picture 92"/>
            <p:cNvPicPr>
              <a:picLocks noChangeAspect="1" noChangeArrowheads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1058" y="1648263"/>
              <a:ext cx="431866" cy="574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" name="Picture 94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9990" y="1079562"/>
              <a:ext cx="399932" cy="374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6" name="Picture 96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5183" y="2598232"/>
              <a:ext cx="436378" cy="445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" name="Picture 97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0873" y="3217510"/>
              <a:ext cx="510405" cy="534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8" name="Picture 98"/>
            <p:cNvPicPr>
              <a:picLocks noChangeAspect="1" noChangeArrowheads="1"/>
            </p:cNvPicPr>
            <p:nvPr userDrawn="1"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9024" y="3932368"/>
              <a:ext cx="654152" cy="337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9" name="TextBox 118"/>
            <p:cNvSpPr txBox="1"/>
            <p:nvPr userDrawn="1"/>
          </p:nvSpPr>
          <p:spPr>
            <a:xfrm>
              <a:off x="2455421" y="895275"/>
              <a:ext cx="904810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greater team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collaboration</a:t>
              </a:r>
            </a:p>
          </p:txBody>
        </p:sp>
        <p:sp>
          <p:nvSpPr>
            <p:cNvPr id="120" name="TextBox 119"/>
            <p:cNvSpPr txBox="1"/>
            <p:nvPr userDrawn="1"/>
          </p:nvSpPr>
          <p:spPr>
            <a:xfrm>
              <a:off x="1846973" y="1489160"/>
              <a:ext cx="656431" cy="517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bring the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customer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closer</a:t>
              </a:r>
            </a:p>
          </p:txBody>
        </p:sp>
        <p:sp>
          <p:nvSpPr>
            <p:cNvPr id="121" name="TextBox 120"/>
            <p:cNvSpPr txBox="1"/>
            <p:nvPr userDrawn="1"/>
          </p:nvSpPr>
          <p:spPr>
            <a:xfrm>
              <a:off x="1111594" y="2250116"/>
              <a:ext cx="1002388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partnerships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over contracts</a:t>
              </a:r>
            </a:p>
          </p:txBody>
        </p:sp>
        <p:sp>
          <p:nvSpPr>
            <p:cNvPr id="122" name="TextBox 121"/>
            <p:cNvSpPr txBox="1"/>
            <p:nvPr userDrawn="1"/>
          </p:nvSpPr>
          <p:spPr>
            <a:xfrm>
              <a:off x="1975804" y="3108774"/>
              <a:ext cx="549983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lean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thinking</a:t>
              </a:r>
            </a:p>
          </p:txBody>
        </p:sp>
        <p:sp>
          <p:nvSpPr>
            <p:cNvPr id="123" name="TextBox 122"/>
            <p:cNvSpPr txBox="1"/>
            <p:nvPr userDrawn="1"/>
          </p:nvSpPr>
          <p:spPr>
            <a:xfrm>
              <a:off x="1157350" y="3721272"/>
              <a:ext cx="771750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continuous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quality</a:t>
              </a:r>
            </a:p>
          </p:txBody>
        </p:sp>
        <p:sp>
          <p:nvSpPr>
            <p:cNvPr id="124" name="TextBox 123"/>
            <p:cNvSpPr txBox="1"/>
            <p:nvPr userDrawn="1"/>
          </p:nvSpPr>
          <p:spPr>
            <a:xfrm>
              <a:off x="2353308" y="4199380"/>
              <a:ext cx="833844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empowered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teams</a:t>
              </a:r>
            </a:p>
          </p:txBody>
        </p:sp>
        <p:sp>
          <p:nvSpPr>
            <p:cNvPr id="125" name="TextBox 124"/>
            <p:cNvSpPr txBox="1"/>
            <p:nvPr userDrawn="1"/>
          </p:nvSpPr>
          <p:spPr>
            <a:xfrm>
              <a:off x="5838952" y="4303194"/>
              <a:ext cx="816103" cy="1724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higher NPS</a:t>
              </a:r>
            </a:p>
          </p:txBody>
        </p:sp>
        <p:sp>
          <p:nvSpPr>
            <p:cNvPr id="126" name="TextBox 125"/>
            <p:cNvSpPr txBox="1"/>
            <p:nvPr userDrawn="1"/>
          </p:nvSpPr>
          <p:spPr>
            <a:xfrm>
              <a:off x="6681010" y="3730682"/>
              <a:ext cx="887068" cy="1724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predictability</a:t>
              </a:r>
            </a:p>
          </p:txBody>
        </p:sp>
        <p:sp>
          <p:nvSpPr>
            <p:cNvPr id="127" name="TextBox 126"/>
            <p:cNvSpPr txBox="1"/>
            <p:nvPr userDrawn="1"/>
          </p:nvSpPr>
          <p:spPr>
            <a:xfrm>
              <a:off x="6349676" y="3050822"/>
              <a:ext cx="629819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business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value</a:t>
              </a:r>
            </a:p>
          </p:txBody>
        </p:sp>
        <p:sp>
          <p:nvSpPr>
            <p:cNvPr id="128" name="TextBox 127"/>
            <p:cNvSpPr txBox="1"/>
            <p:nvPr userDrawn="1"/>
          </p:nvSpPr>
          <p:spPr>
            <a:xfrm>
              <a:off x="6582427" y="2225875"/>
              <a:ext cx="1268508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quicker value with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incremental work</a:t>
              </a:r>
            </a:p>
          </p:txBody>
        </p:sp>
        <p:sp>
          <p:nvSpPr>
            <p:cNvPr id="129" name="TextBox 128"/>
            <p:cNvSpPr txBox="1"/>
            <p:nvPr userDrawn="1"/>
          </p:nvSpPr>
          <p:spPr>
            <a:xfrm>
              <a:off x="6155751" y="1531219"/>
              <a:ext cx="612077" cy="5173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improve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products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faster</a:t>
              </a:r>
            </a:p>
          </p:txBody>
        </p:sp>
        <p:sp>
          <p:nvSpPr>
            <p:cNvPr id="130" name="TextBox 129"/>
            <p:cNvSpPr txBox="1"/>
            <p:nvPr userDrawn="1"/>
          </p:nvSpPr>
          <p:spPr>
            <a:xfrm>
              <a:off x="5236450" y="884776"/>
              <a:ext cx="931422" cy="3448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chemeClr val="tx1"/>
                  </a:solidFill>
                </a:rPr>
                <a:t>respond to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market faster</a:t>
              </a:r>
            </a:p>
          </p:txBody>
        </p:sp>
        <p:pic>
          <p:nvPicPr>
            <p:cNvPr id="131" name="Picture 99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0125" y="437716"/>
              <a:ext cx="832582" cy="439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2" name="Picture 100"/>
            <p:cNvPicPr>
              <a:picLocks noChangeAspect="1" noChangeArrowheads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270" y="1811928"/>
              <a:ext cx="1681378" cy="1629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" name="Picture 101"/>
            <p:cNvPicPr>
              <a:picLocks noChangeAspect="1"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2756" y="1763177"/>
              <a:ext cx="451591" cy="410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4" name="TextBox 133"/>
            <p:cNvSpPr txBox="1"/>
            <p:nvPr userDrawn="1"/>
          </p:nvSpPr>
          <p:spPr>
            <a:xfrm>
              <a:off x="4068681" y="2226529"/>
              <a:ext cx="558853" cy="38321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900" dirty="0"/>
                <a:t>Agile</a:t>
              </a:r>
              <a:br>
                <a:rPr lang="en-US" sz="900" dirty="0"/>
              </a:br>
              <a:r>
                <a:rPr lang="en-US" sz="900" dirty="0"/>
                <a:t>Mindset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65310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allou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C494E-489C-428C-9F7A-FE2481D20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66FF79-1096-4893-96E2-9D59D69F2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574621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Key Callouts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5E1CC8-863A-4E30-B0CD-2D7D58DB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B8395C-9ED9-4E60-AADF-9D31FFCD1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0248F4D-8066-414E-9636-AEB6A7A654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4630" y="1285875"/>
            <a:ext cx="3511550" cy="256381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2699412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Key Callouts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3BFE0A-41E4-4215-A8D5-C69FDF59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EA95BD-2B33-48E4-B2D9-0462FC67D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A135A51-B1BD-4414-8DAC-E981669E2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4630" y="1285875"/>
            <a:ext cx="3511550" cy="256381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3867096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Key Callouts -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AF119C-904B-4C64-A89E-A937DFB8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3D9056-AEB7-4C9D-9C19-D04468A5E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533B8-9217-4751-8BF0-C1181127E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4630" y="1285875"/>
            <a:ext cx="3511550" cy="25638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6895224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Key Callouts -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D679628-AC3D-4B88-BFD1-D3F1240CCAC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91334139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4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D679628-AC3D-4B88-BFD1-D3F1240CCA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8B8B3B3-B4BA-44ED-BCBD-9BE67E5C5939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8BA86-FFEE-4622-BBB5-A1E903FF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F62922-61D2-43A6-B8DE-FFDF3C355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175" y="1285297"/>
            <a:ext cx="3512956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2717245-58C3-429D-B775-6F5D87D76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4630" y="1285875"/>
            <a:ext cx="3511550" cy="25638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3602610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514350"/>
            <a:ext cx="5943600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68014" y="1285297"/>
            <a:ext cx="4807575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A0AF8-80EB-4DC1-9CC7-8D5DB2BA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3057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43600" y="0"/>
            <a:ext cx="3200400" cy="4629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6AFB9C0-8003-4855-B8A8-12A3A1EF9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9326" y="1285296"/>
            <a:ext cx="2428948" cy="25637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4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14350"/>
            <a:ext cx="5943600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0AF651-02E6-4B30-A22D-888B2699DF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BF864C-6942-4A53-A7BC-F9F4980F87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014" y="1285297"/>
            <a:ext cx="4807575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2438630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514350"/>
            <a:ext cx="5943600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3200400" cy="462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0E4DE-5492-4AD5-92C8-E0776A214A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4727030-CC6F-47DA-A8FF-A51BE816C4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9326" y="1285296"/>
            <a:ext cx="2428948" cy="25637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4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90C23-CC2E-4D28-B230-8047B4B5D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014" y="1285297"/>
            <a:ext cx="4807575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4366875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514350"/>
            <a:ext cx="5943600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3200400" cy="46291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>
              <a:solidFill>
                <a:schemeClr val="bg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F4FD2-137B-4DA9-9C4E-1C98408E30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DDAD72D0-D49B-4C52-87C7-0375CDE278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9326" y="1285296"/>
            <a:ext cx="2428948" cy="25637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4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37DEC9-EE1B-4C68-80EC-24BD45907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014" y="1285297"/>
            <a:ext cx="4807575" cy="2563751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2795277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71824-AB27-4A04-A61E-6CA454917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AD1EF-2822-4F1E-8399-8C17B38C6F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F8A284-6FAE-48F8-B310-72F1B8144A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7720605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cked - Key Callouts 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A15AF5-4611-427F-B6D7-1BF2272D3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327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cked - Key Callouts 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1454151" y="2800351"/>
            <a:ext cx="6202363" cy="1765697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0ECD9-04D3-4F17-86BE-B9E55D6D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A1ED42-DC5A-485A-9A02-28E5B571F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3467475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cked - Key Callouts 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372490-5BB5-4E46-80F8-94B4E97B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67C875-BB11-4913-BBD8-EA3E407A6E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4151" y="2800351"/>
            <a:ext cx="6202363" cy="1765697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7A3B00-7469-4656-A6B9-34CB681AB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1526683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cked - Key Callouts 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F35B5-B3DE-44ED-93D1-EFEB2CC7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827B22-9442-4E00-843D-EFE5081607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4151" y="2800351"/>
            <a:ext cx="6202363" cy="1765697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8B6A40-A954-4726-BD1A-5C5D060FBB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42109205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cked - Key Callouts 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E1AE0A-DC89-4EA6-B36F-D24225FF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2BDB48-468F-4D12-AD39-9CF2E8D99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4151" y="2800351"/>
            <a:ext cx="6202363" cy="1765697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4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EAA90FE-39B8-44F3-B624-0734659E3F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4938" y="416103"/>
            <a:ext cx="6194124" cy="1750038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r>
              <a:rPr lang="en-US" dirty="0"/>
              <a:t>Arial 24pt</a:t>
            </a:r>
          </a:p>
        </p:txBody>
      </p:sp>
    </p:spTree>
    <p:extLst>
      <p:ext uri="{BB962C8B-B14F-4D97-AF65-F5344CB8AC3E}">
        <p14:creationId xmlns:p14="http://schemas.microsoft.com/office/powerpoint/2010/main" val="40679582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- Key Callouts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4952" y="514350"/>
            <a:ext cx="3054096" cy="462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044952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D84179-83D2-4D72-B343-D5999BEE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49AC607-6E56-43DE-9ED4-D638851806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608" y="1183583"/>
            <a:ext cx="2623658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087A13-B3B9-4620-8299-8325476CC2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7261" y="1183583"/>
            <a:ext cx="2623658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37313968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 - Key Callouts -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4952" y="514350"/>
            <a:ext cx="3054096" cy="4629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044952" cy="4629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6096000" y="0"/>
            <a:ext cx="3063240" cy="46291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65D36-7F11-4FC3-8499-1D7016E2C6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EAC83AA-D84E-48C1-AD66-D71DF76EF4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1608" y="1183583"/>
            <a:ext cx="2623658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08FD0D-8B2A-4BDC-AE36-6B880C2B37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7261" y="1183583"/>
            <a:ext cx="2623658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97FF39F-B11E-45C8-81F5-34208026D0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0501" y="1183583"/>
            <a:ext cx="2623658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4811108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8DC506-2E65-435F-BC2D-518DDD8F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E35DE89-3D85-4C7C-BB2A-E6E4E8390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accent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2973438-EF4E-4C65-84D6-95D5BE61E0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22979107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6C2C92-2CE5-4ABD-972B-42B5B523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AFFF825-44D9-4E24-AE16-B25BC7A3AD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CD279F6-E27E-4AD1-80C2-55CDF8F7D3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003C7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33460780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1A15D-16B9-4A74-B0F1-B3E47DF1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6F490BF-9532-4FCD-B2D3-418BF517E7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CD3F6E3-FA85-444A-AB5A-EC17B396D3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14021669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0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601C5-02F7-445D-AB36-350CE6DF4B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18A3D4-6F7E-4E71-A0DD-92C5BB4B5E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0C9A2EB-FA32-45BF-9CE6-FE3B91C1D6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D79AE23-A75B-49A1-B8C2-914AFA6BAD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3682" y="1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40761044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0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3501CD-FBDB-4BFE-8B67-3F9CEC46E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F0C22E-24C4-425B-AD00-57F80463E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E4B1944-F748-46C2-A158-AF11D46D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1343BEA-428F-426E-81AD-9C107093DA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3682" y="1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1275903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- Key Callouts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0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10" name="Rectangle 9"/>
          <p:cNvSpPr/>
          <p:nvPr/>
        </p:nvSpPr>
        <p:spPr>
          <a:xfrm>
            <a:off x="4572000" y="1714500"/>
            <a:ext cx="45720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6E48B6-20E6-4119-8366-1E4FE241DFD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D72B495-1B75-421F-8509-FA88C4C94B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bg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473FFFA9-53F4-41A9-8B65-75C793B61A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1C6E911-B68A-48DC-8F9A-DD26D4C5F6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3682" y="1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CFD84F5D-F59D-4554-B3C3-B9AD9BB993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3682" y="17160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</p:spTree>
    <p:extLst>
      <p:ext uri="{BB962C8B-B14F-4D97-AF65-F5344CB8AC3E}">
        <p14:creationId xmlns:p14="http://schemas.microsoft.com/office/powerpoint/2010/main" val="387568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olumn - Key Callouts -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0" y="3429000"/>
            <a:ext cx="4572000" cy="171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171" y="1183583"/>
            <a:ext cx="3440306" cy="2782929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24pt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273682" y="3430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45720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5273682" y="15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714500"/>
            <a:ext cx="45720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350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5273682" y="1716041"/>
            <a:ext cx="3073514" cy="1722206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accent5"/>
              </a:buClr>
              <a:buSzTx/>
              <a:buFont typeface="Arial" pitchFamily="34" charset="0"/>
              <a:buNone/>
              <a:tabLst/>
              <a:defRPr sz="2000" b="0" i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Arial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0658-C736-4E01-9628-4A4310E4CC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75370D-4E78-C44F-8DB3-41D140BF8D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3931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FBE2-E8AC-4DC9-BEC5-86D077626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3DF7E-82DA-4511-9613-383EAB5DF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CA7E87-410D-4887-AABD-1ABCEA8A29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90F4-B4B6-4D00-B061-469B72C01C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02000" y="4900549"/>
            <a:ext cx="5173133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>
              <a:defRPr/>
            </a:pPr>
            <a:r>
              <a:rPr lang="en-US" sz="600" dirty="0"/>
              <a:t>© 2019 UnitedHealth Group. Any use, copying or distribution without written permission from UnitedHealth Group is prohibited.</a:t>
            </a:r>
          </a:p>
        </p:txBody>
      </p:sp>
    </p:spTree>
    <p:extLst>
      <p:ext uri="{BB962C8B-B14F-4D97-AF65-F5344CB8AC3E}">
        <p14:creationId xmlns:p14="http://schemas.microsoft.com/office/powerpoint/2010/main" val="2615631773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Full Pag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F644B7D-EB0F-436E-9968-604FA603350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7018173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D316E1B-CC8A-4535-8B29-F32E4F33F4BB}"/>
              </a:ext>
            </a:extLst>
          </p:cNvPr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42424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63E92-64DE-40BC-845A-2B9C514D8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Arial Bold 36pt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7185B-7B77-40DF-9AE9-0B7AC509CDB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088" y="1405891"/>
            <a:ext cx="7982712" cy="32861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5F6AA-99CB-468F-8116-E8CAEF4A8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>
                <a:solidFill>
                  <a:srgbClr val="424242"/>
                </a:solidFill>
              </a:rPr>
              <a:pPr/>
              <a:t>‹#›</a:t>
            </a:fld>
            <a:endParaRPr lang="en-US" dirty="0">
              <a:solidFill>
                <a:srgbClr val="4242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9466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229600" y="4881126"/>
            <a:ext cx="457200" cy="15716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E22CD0-11F5-4647-B802-77FC0A9339C4}" type="slidenum">
              <a:rPr lang="en-US" smtClean="0">
                <a:solidFill>
                  <a:srgbClr val="53565A"/>
                </a:solidFill>
              </a:rPr>
              <a:pPr/>
              <a:t>‹#›</a:t>
            </a:fld>
            <a:endParaRPr lang="en-US" sz="900" dirty="0">
              <a:solidFill>
                <a:srgbClr val="53565A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453167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A8C8-5205-6B4B-8683-9DBBD3AF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2627E-9BFE-AF44-948A-5BBFE20CE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D3CE-7031-BC4D-83F9-C82C9FA6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FB0E-9E39-1F4B-B1CA-999922E9CF1A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193A-901C-BD44-992D-9EFB6C33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04E1E-E546-3F40-88A7-A185045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291C8-C74F-2A48-8F3A-5D6B6F800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50"/>
            </p:custDataLst>
            <p:extLst>
              <p:ext uri="{D42A27DB-BD31-4B8C-83A1-F6EECF244321}">
                <p14:modId xmlns:p14="http://schemas.microsoft.com/office/powerpoint/2010/main" val="1887562698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" name="think-cell Slide" r:id="rId51" imgW="408" imgH="408" progId="TCLayout.ActiveDocument.1">
                  <p:embed/>
                </p:oleObj>
              </mc:Choice>
              <mc:Fallback>
                <p:oleObj name="think-cell Slide" r:id="rId51" imgW="408" imgH="40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4506607-EB73-43D2-BE51-66EA2B0D2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405890"/>
            <a:ext cx="7982712" cy="3281742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Arial 24pt </a:t>
            </a:r>
          </a:p>
          <a:p>
            <a:pPr lvl="1"/>
            <a:r>
              <a:rPr lang="en-US" dirty="0"/>
              <a:t>Arial 24pt </a:t>
            </a:r>
          </a:p>
          <a:p>
            <a:pPr lvl="2"/>
            <a:r>
              <a:rPr lang="en-US" dirty="0"/>
              <a:t>Arial 20pt </a:t>
            </a:r>
          </a:p>
          <a:p>
            <a:pPr lvl="3"/>
            <a:r>
              <a:rPr lang="en-US" dirty="0"/>
              <a:t>Arial 20pt </a:t>
            </a:r>
          </a:p>
          <a:p>
            <a:pPr lvl="4"/>
            <a:r>
              <a:rPr lang="en-US" dirty="0"/>
              <a:t>Arial 20pt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BB91F-DEA0-4B10-BA5B-6F6730BF7DB1}"/>
              </a:ext>
            </a:extLst>
          </p:cNvPr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E3BE5EAD-7101-4A5C-91EA-76D1064E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77190"/>
            <a:ext cx="7991856" cy="47320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C6CEFB6-0A93-463B-A478-FF601D39B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368" y="4889754"/>
            <a:ext cx="256032" cy="10287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C7CA7E87-410D-4887-AABD-1ABCEA8A29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7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5" r:id="rId13"/>
    <p:sldLayoutId id="2147483726" r:id="rId14"/>
    <p:sldLayoutId id="2147483729" r:id="rId15"/>
    <p:sldLayoutId id="2147483730" r:id="rId16"/>
    <p:sldLayoutId id="2147483731" r:id="rId17"/>
    <p:sldLayoutId id="2147483760" r:id="rId18"/>
    <p:sldLayoutId id="2147483732" r:id="rId19"/>
    <p:sldLayoutId id="2147483761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2" r:id="rId29"/>
    <p:sldLayoutId id="2147483741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2" r:id="rId47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tabLst>
          <a:tab pos="914400" algn="l"/>
        </a:tabLst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lnSpc>
          <a:spcPct val="150000"/>
        </a:lnSpc>
        <a:spcBef>
          <a:spcPts val="0"/>
        </a:spcBef>
        <a:buClr>
          <a:schemeClr val="tx1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ts val="675"/>
        </a:spcBef>
        <a:buClr>
          <a:schemeClr val="tx1"/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ts val="675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ts val="675"/>
        </a:spcBef>
        <a:buClr>
          <a:schemeClr val="tx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ts val="675"/>
        </a:spcBef>
        <a:buClr>
          <a:schemeClr val="tx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964" userDrawn="1">
          <p15:clr>
            <a:srgbClr val="F26B43"/>
          </p15:clr>
        </p15:guide>
        <p15:guide id="4" orient="horz" pos="864">
          <p15:clr>
            <a:srgbClr val="F26B43"/>
          </p15:clr>
        </p15:guide>
        <p15:guide id="5" orient="horz" pos="3936">
          <p15:clr>
            <a:srgbClr val="F26B43"/>
          </p15:clr>
        </p15:guide>
        <p15:guide id="6" pos="440">
          <p15:clr>
            <a:srgbClr val="F26B43"/>
          </p15:clr>
        </p15:guide>
        <p15:guide id="7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reeye.com/current-threats/what-is-a-zero-day-exploit.html#dismiss-lightbox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1.emf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sp.org/index.php/Source_Code_Analysis_Tools" TargetMode="Externa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ysdig.com/blog/20-docker-security-tools/" TargetMode="Externa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wasp.org/index.php/Category:Vulnerability_Scanning_Tools" TargetMode="Externa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D7A692-5A62-4808-ACDF-A203C9AD7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1" y="3345224"/>
            <a:ext cx="7956529" cy="783431"/>
          </a:xfrm>
        </p:spPr>
        <p:txBody>
          <a:bodyPr/>
          <a:lstStyle/>
          <a:p>
            <a:r>
              <a:rPr lang="en-US" sz="3600" dirty="0"/>
              <a:t>Prepping for the Zero Day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64281-A00E-4AA4-A926-28495382AE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Prepping for the Zombie Apocalypse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9A0827-2FAB-EF42-99B5-0084794DB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540" y="929532"/>
            <a:ext cx="3365500" cy="2235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A2CE3C5-1258-4E46-9602-AEEA3574B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1" y="929532"/>
            <a:ext cx="3365500" cy="2235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E2B7F9-C01D-C049-A7CE-5316CFF28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30" y="1019778"/>
            <a:ext cx="33655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1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F91E-A7CE-4D94-9FCE-6025ADB8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Eric Starr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EA9FB-47EE-4559-B523-7871F15C65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4088" y="1405890"/>
            <a:ext cx="5595112" cy="5680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DevOps Transformation Enterprise Architect / DevOps Evangelist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EF7C5-293E-4688-BE1D-CB071C256C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0CC304A5-05E3-AB4C-AE50-5774B2BB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12820"/>
            <a:ext cx="1891226" cy="2520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F4A41E-718A-E44E-9956-3A14008D4EAF}"/>
              </a:ext>
            </a:extLst>
          </p:cNvPr>
          <p:cNvSpPr txBox="1"/>
          <p:nvPr/>
        </p:nvSpPr>
        <p:spPr>
          <a:xfrm>
            <a:off x="2728686" y="1912820"/>
            <a:ext cx="5930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Senior Principal Engineer (TLCP)</a:t>
            </a:r>
          </a:p>
          <a:p>
            <a:pPr lvl="1"/>
            <a:endParaRPr lang="en-US" dirty="0"/>
          </a:p>
          <a:p>
            <a:r>
              <a:rPr lang="en-US" dirty="0"/>
              <a:t>Primary Focus:</a:t>
            </a:r>
          </a:p>
          <a:p>
            <a:pPr lvl="1"/>
            <a:r>
              <a:rPr lang="en-US" dirty="0"/>
              <a:t>To describe the “North Star” of DevOps maturity and help guide both technical and non-technical professionals across UHG to understand the DevOps goals and the principals and practices required to achieve those goals.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5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32E3-AE00-3E47-AF92-567D0F41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Zero Day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EA48-E10E-FD4E-BB57-AA03F6481E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  <a:latin typeface="Calisto MT" panose="02040603050505030304" pitchFamily="18" charset="77"/>
              </a:rPr>
              <a:t>A zero-day vulnerability, at its core, is a flaw. It is an unknown exploit in the wild that exposes a vulnerability in software or hardware and can create complicated problems well before anyone realizes something is wrong. In fact, a zero-day exploit leaves NO opportunity for detection.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100" dirty="0"/>
              <a:t>Quote from FireEye: </a:t>
            </a:r>
            <a:r>
              <a:rPr lang="en-US" sz="1100" dirty="0">
                <a:hlinkClick r:id="rId2"/>
              </a:rPr>
              <a:t>https://www.fireeye.com/current-threats/what-is-a-zero-day-exploit.html#dismiss-lightbox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45F7-BC28-654B-A326-1B36714EF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23D6-33D2-1641-8992-BE7264E4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Necessary to be Attacked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90E6-B1F0-464E-8973-3999E699FC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Developers</a:t>
            </a:r>
            <a:r>
              <a:rPr lang="en-US" dirty="0"/>
              <a:t> unknowingly create software that contains a vulnerability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Hackers discover the vulnerability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Hacker Sells Vulnerability Information To a Broker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Broker Sells Exploits to Attackers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Attackers use Exploits to Customize an Attack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Attack is launched.</a:t>
            </a:r>
          </a:p>
          <a:p>
            <a:pPr marL="500062" indent="-457200">
              <a:buFont typeface="+mj-lt"/>
              <a:buAutoNum type="arabicPeriod"/>
            </a:pPr>
            <a:endParaRPr lang="en-US" dirty="0"/>
          </a:p>
          <a:p>
            <a:pPr marL="42862" indent="0">
              <a:buNone/>
            </a:pPr>
            <a:r>
              <a:rPr lang="en-US" dirty="0"/>
              <a:t>Which of these 6 steps do you have any control over?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FF8D2-B2D6-1A46-ADC9-468631DDAA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31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 err="1"/>
              <a:t>Healthcare.gov</a:t>
            </a:r>
            <a:endParaRPr lang="en-US" sz="4400" b="1" dirty="0"/>
          </a:p>
          <a:p>
            <a:endParaRPr lang="en-US" sz="4400" b="1" dirty="0"/>
          </a:p>
        </p:txBody>
      </p:sp>
      <p:sp>
        <p:nvSpPr>
          <p:cNvPr id="14" name="Rectangle 13"/>
          <p:cNvSpPr/>
          <p:nvPr/>
        </p:nvSpPr>
        <p:spPr>
          <a:xfrm>
            <a:off x="2244323" y="4720879"/>
            <a:ext cx="4591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038" lvl="1" indent="0">
              <a:buNone/>
            </a:pPr>
            <a:r>
              <a:rPr lang="en-US" b="1" dirty="0">
                <a:solidFill>
                  <a:schemeClr val="bg1"/>
                </a:solidFill>
              </a:rPr>
              <a:t>Initial Launch Date:  October 01, 2013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043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41276" y="949276"/>
            <a:ext cx="8461448" cy="3244948"/>
          </a:xfrm>
        </p:spPr>
        <p:txBody>
          <a:bodyPr/>
          <a:lstStyle/>
          <a:p>
            <a:r>
              <a:rPr lang="en-US" sz="3600" dirty="0"/>
              <a:t>HealthCare.gov </a:t>
            </a:r>
          </a:p>
          <a:p>
            <a:r>
              <a:rPr lang="en-US" sz="3600" dirty="0"/>
              <a:t>Launched: October 1st of 2013</a:t>
            </a:r>
          </a:p>
          <a:p>
            <a:r>
              <a:rPr lang="en-US" sz="3600" dirty="0"/>
              <a:t>Delivered: </a:t>
            </a:r>
            <a:r>
              <a:rPr lang="en-US" sz="3600" u="sng" dirty="0"/>
              <a:t>on-time</a:t>
            </a:r>
            <a:r>
              <a:rPr lang="en-US" sz="3600" dirty="0"/>
              <a:t>, with </a:t>
            </a:r>
            <a:r>
              <a:rPr lang="en-US" sz="3600" u="sng" dirty="0"/>
              <a:t>all functionality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34D9C-FB55-394D-BAC7-D836A27CB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5" y="168120"/>
            <a:ext cx="2175401" cy="144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5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141D-9EA7-F247-A18A-971C632E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HealthCare.gov</a:t>
            </a:r>
            <a:r>
              <a:rPr lang="en-US" b="1" dirty="0"/>
              <a:t> – Initial Launch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695D7-3FD4-5846-A2D9-2E749FF78AEC}"/>
              </a:ext>
            </a:extLst>
          </p:cNvPr>
          <p:cNvSpPr txBox="1"/>
          <p:nvPr/>
        </p:nvSpPr>
        <p:spPr>
          <a:xfrm>
            <a:off x="354639" y="3281422"/>
            <a:ext cx="50500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Website Was Frequently Down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Customers Could Not Register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Users Could Not Login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Users Could not Enroll </a:t>
            </a:r>
          </a:p>
        </p:txBody>
      </p:sp>
      <p:graphicFrame>
        <p:nvGraphicFramePr>
          <p:cNvPr id="17" name="Diagram 16"/>
          <p:cNvGraphicFramePr/>
          <p:nvPr>
            <p:extLst/>
          </p:nvPr>
        </p:nvGraphicFramePr>
        <p:xfrm>
          <a:off x="3569217" y="1241982"/>
          <a:ext cx="5424727" cy="3779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00" y="1148569"/>
            <a:ext cx="1842867" cy="18346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1F2290F-F32A-8C4D-A528-F8ACE3D8AD92}"/>
              </a:ext>
            </a:extLst>
          </p:cNvPr>
          <p:cNvSpPr txBox="1"/>
          <p:nvPr/>
        </p:nvSpPr>
        <p:spPr>
          <a:xfrm>
            <a:off x="6729045" y="1280328"/>
            <a:ext cx="22133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0.38% Success Rate</a:t>
            </a:r>
          </a:p>
        </p:txBody>
      </p:sp>
    </p:spTree>
    <p:extLst>
      <p:ext uri="{BB962C8B-B14F-4D97-AF65-F5344CB8AC3E}">
        <p14:creationId xmlns:p14="http://schemas.microsoft.com/office/powerpoint/2010/main" val="4183199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Optum was asked to </a:t>
            </a:r>
          </a:p>
          <a:p>
            <a:r>
              <a:rPr lang="en-US" sz="4400" b="1" dirty="0"/>
              <a:t>help with the Massive Rescue Effort!</a:t>
            </a:r>
          </a:p>
          <a:p>
            <a:endParaRPr lang="en-US" sz="44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21" y="2724443"/>
            <a:ext cx="3382190" cy="2251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44323" y="4720879"/>
            <a:ext cx="4014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038" lvl="1" indent="0">
              <a:buNone/>
            </a:pPr>
            <a:r>
              <a:rPr lang="en-US" b="1" dirty="0">
                <a:solidFill>
                  <a:schemeClr val="bg1"/>
                </a:solidFill>
              </a:rPr>
              <a:t>New Launch Date:  Nov 30, 2013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88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7003" y="4689231"/>
            <a:ext cx="41077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085F7-13A5-DC47-BD95-A9A2FB2E6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435" y="1122338"/>
            <a:ext cx="4655401" cy="3925142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85800" y="1400176"/>
            <a:ext cx="4444218" cy="3471935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Poor Engineering Practices</a:t>
            </a:r>
            <a:endParaRPr lang="en-US" sz="1400" dirty="0"/>
          </a:p>
          <a:p>
            <a:r>
              <a:rPr lang="en-US" sz="1800" dirty="0"/>
              <a:t>Unit Tests were </a:t>
            </a:r>
            <a:r>
              <a:rPr lang="en-US" sz="1800" b="1" dirty="0">
                <a:solidFill>
                  <a:srgbClr val="FF0000"/>
                </a:solidFill>
              </a:rPr>
              <a:t>disabled</a:t>
            </a:r>
            <a:endParaRPr lang="en-US" sz="1800" dirty="0"/>
          </a:p>
          <a:p>
            <a:r>
              <a:rPr lang="en-US" sz="1800" b="1" dirty="0">
                <a:solidFill>
                  <a:srgbClr val="FF0000"/>
                </a:solidFill>
              </a:rPr>
              <a:t>No </a:t>
            </a:r>
            <a:r>
              <a:rPr lang="en-US" sz="1800" dirty="0"/>
              <a:t>Automated Functional Tests</a:t>
            </a:r>
          </a:p>
          <a:p>
            <a:r>
              <a:rPr lang="en-US" sz="1800" dirty="0"/>
              <a:t>Security Scan results </a:t>
            </a:r>
            <a:r>
              <a:rPr lang="en-US" sz="1800" b="1" dirty="0">
                <a:solidFill>
                  <a:srgbClr val="FF0000"/>
                </a:solidFill>
              </a:rPr>
              <a:t>ignored</a:t>
            </a:r>
            <a:endParaRPr lang="en-US" sz="1800" dirty="0"/>
          </a:p>
          <a:p>
            <a:r>
              <a:rPr lang="en-US" sz="1800" dirty="0"/>
              <a:t>Production Servers </a:t>
            </a:r>
            <a:r>
              <a:rPr lang="en-US" sz="1800" b="1" dirty="0">
                <a:solidFill>
                  <a:srgbClr val="FF0000"/>
                </a:solidFill>
              </a:rPr>
              <a:t>manually</a:t>
            </a:r>
            <a:r>
              <a:rPr lang="en-US" sz="1800" dirty="0"/>
              <a:t> monitored</a:t>
            </a:r>
          </a:p>
          <a:p>
            <a:pPr marL="0" indent="0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2000" dirty="0"/>
              <a:t>….to increase </a:t>
            </a:r>
            <a:r>
              <a:rPr lang="en-US" sz="2000" u="sng" dirty="0"/>
              <a:t>speed of delivery </a:t>
            </a:r>
            <a:r>
              <a:rPr lang="en-US" sz="2000" dirty="0"/>
              <a:t>and complete </a:t>
            </a:r>
            <a:r>
              <a:rPr lang="en-US" sz="2000" u="sng" dirty="0"/>
              <a:t>all the functionality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E141D-9EA7-F247-A18A-971C632E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HealthCare.gov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86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072579" y="1462427"/>
            <a:ext cx="6998843" cy="2987675"/>
          </a:xfrm>
        </p:spPr>
        <p:txBody>
          <a:bodyPr/>
          <a:lstStyle/>
          <a:p>
            <a:r>
              <a:rPr lang="en-US" dirty="0">
                <a:sym typeface="Wingdings" pitchFamily="2" charset="2"/>
              </a:rPr>
              <a:t>Spent Millions of dollars in a rescue effort, after production release, rather than spending a far less amount up front via Engineering Excellence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34D9C-FB55-394D-BAC7-D836A27CB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5" y="168120"/>
            <a:ext cx="2175401" cy="144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8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931633" y="759058"/>
            <a:ext cx="7280734" cy="3625385"/>
          </a:xfrm>
        </p:spPr>
        <p:txBody>
          <a:bodyPr/>
          <a:lstStyle/>
          <a:p>
            <a:r>
              <a:rPr lang="en-US" sz="2800" b="1" u="sng" dirty="0"/>
              <a:t>Software Delivery Priorities</a:t>
            </a:r>
          </a:p>
          <a:p>
            <a:endParaRPr lang="en-US" sz="1050" dirty="0"/>
          </a:p>
          <a:p>
            <a:r>
              <a:rPr lang="en-US" sz="2400" dirty="0"/>
              <a:t>Do you care more about </a:t>
            </a:r>
            <a:r>
              <a:rPr lang="en-US" sz="2400" dirty="0">
                <a:solidFill>
                  <a:srgbClr val="FF0000"/>
                </a:solidFill>
              </a:rPr>
              <a:t>delivering on time             </a:t>
            </a:r>
            <a:r>
              <a:rPr lang="en-US" sz="2400" dirty="0"/>
              <a:t>and with </a:t>
            </a:r>
            <a:r>
              <a:rPr lang="en-US" sz="2400" dirty="0">
                <a:solidFill>
                  <a:srgbClr val="FF0000"/>
                </a:solidFill>
              </a:rPr>
              <a:t>all of the functionality</a:t>
            </a:r>
            <a:r>
              <a:rPr lang="en-US" sz="2400" dirty="0"/>
              <a:t>?</a:t>
            </a:r>
          </a:p>
          <a:p>
            <a:r>
              <a:rPr lang="en-US" sz="2400" dirty="0"/>
              <a:t>OR</a:t>
            </a:r>
          </a:p>
          <a:p>
            <a:r>
              <a:rPr lang="en-US" sz="2400" dirty="0"/>
              <a:t>Do you value more </a:t>
            </a:r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Quality</a:t>
            </a:r>
            <a:r>
              <a:rPr lang="en-US" sz="2400" dirty="0"/>
              <a:t>, </a:t>
            </a:r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Security,</a:t>
            </a:r>
            <a:r>
              <a:rPr lang="en-US" sz="2400" dirty="0"/>
              <a:t> </a:t>
            </a:r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Reliability,</a:t>
            </a:r>
            <a:r>
              <a:rPr lang="en-US" sz="2400" dirty="0"/>
              <a:t> </a:t>
            </a:r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Cost,</a:t>
            </a:r>
            <a:r>
              <a:rPr lang="en-US" sz="2400" dirty="0"/>
              <a:t> and your </a:t>
            </a:r>
            <a:r>
              <a:rPr lang="en-US" sz="2400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Customer’s Experience</a:t>
            </a:r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3311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sz="quarter" idx="13"/>
            <p:extLst/>
          </p:nvPr>
        </p:nvGraphicFramePr>
        <p:xfrm>
          <a:off x="1806057" y="1138974"/>
          <a:ext cx="5531886" cy="3853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53338" y="1432548"/>
            <a:ext cx="2504160" cy="31253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If your </a:t>
            </a:r>
            <a:r>
              <a:rPr lang="en-US" b="1" dirty="0">
                <a:solidFill>
                  <a:schemeClr val="accent1"/>
                </a:solidFill>
              </a:rPr>
              <a:t>People</a:t>
            </a:r>
            <a:r>
              <a:rPr lang="en-US" dirty="0"/>
              <a:t> ignore good </a:t>
            </a:r>
            <a:r>
              <a:rPr lang="en-US" b="1" dirty="0">
                <a:solidFill>
                  <a:schemeClr val="accent1"/>
                </a:solidFill>
              </a:rPr>
              <a:t>Processes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Technologies…</a:t>
            </a:r>
          </a:p>
          <a:p>
            <a:pPr marL="0" indent="0" algn="ctr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2346D-39E4-FD4E-8BAE-788F2D10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People, Process,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DD9E3-ECA4-B94B-A07A-8C06C40EAD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88413" y="4889500"/>
            <a:ext cx="255587" cy="103188"/>
          </a:xfrm>
        </p:spPr>
        <p:txBody>
          <a:bodyPr/>
          <a:lstStyle/>
          <a:p>
            <a:fld id="{6575370D-4E78-C44F-8DB3-41D140BF8DE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498357" y="2657972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1049" y="2625909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0206" y="3959191"/>
            <a:ext cx="84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Tools</a:t>
            </a:r>
          </a:p>
        </p:txBody>
      </p:sp>
      <p:sp>
        <p:nvSpPr>
          <p:cNvPr id="12" name="Content Placeholder 6"/>
          <p:cNvSpPr txBox="1">
            <a:spLocks/>
          </p:cNvSpPr>
          <p:nvPr/>
        </p:nvSpPr>
        <p:spPr>
          <a:xfrm>
            <a:off x="6572031" y="1292763"/>
            <a:ext cx="2504160" cy="3125385"/>
          </a:xfrm>
          <a:prstGeom prst="rect">
            <a:avLst/>
          </a:prstGeom>
          <a:noFill/>
        </p:spPr>
        <p:txBody>
          <a:bodyPr vert="horz" lIns="0" tIns="0" rIns="0" bIns="0" rtlCol="0">
            <a:normAutofit fontScale="92500"/>
          </a:bodyPr>
          <a:lstStyle>
            <a:lvl1pPr marL="257175" indent="-257175" algn="l" defTabSz="6858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They will not have the </a:t>
            </a:r>
            <a:r>
              <a:rPr lang="en-US" b="1" dirty="0">
                <a:solidFill>
                  <a:schemeClr val="accent1"/>
                </a:solidFill>
              </a:rPr>
              <a:t>Skills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Culture</a:t>
            </a:r>
            <a:r>
              <a:rPr lang="en-US" dirty="0"/>
              <a:t>, or </a:t>
            </a:r>
            <a:r>
              <a:rPr lang="en-US" b="1" dirty="0">
                <a:solidFill>
                  <a:schemeClr val="accent1"/>
                </a:solidFill>
              </a:rPr>
              <a:t>Tools</a:t>
            </a:r>
            <a:r>
              <a:rPr lang="en-US" dirty="0"/>
              <a:t> to achieve Engineering Excellence and DevOps maturity.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082458" y="3179908"/>
            <a:ext cx="1029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7303" y="3611982"/>
            <a:ext cx="17439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/>
              <a:t>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3308" y="1730911"/>
            <a:ext cx="1144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/>
              <a:t>People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4881" y="3611982"/>
            <a:ext cx="1297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2400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701510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Security at </a:t>
            </a:r>
            <a:r>
              <a:rPr lang="en-US" sz="4400" b="1" dirty="0" err="1"/>
              <a:t>Healthcare.gov</a:t>
            </a:r>
            <a:endParaRPr lang="en-US" sz="4400" b="1" dirty="0"/>
          </a:p>
        </p:txBody>
      </p:sp>
      <p:sp>
        <p:nvSpPr>
          <p:cNvPr id="14" name="Rectangle 13"/>
          <p:cNvSpPr/>
          <p:nvPr/>
        </p:nvSpPr>
        <p:spPr>
          <a:xfrm>
            <a:off x="3776590" y="4720879"/>
            <a:ext cx="1590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0038" lvl="1" indent="0">
              <a:buNone/>
            </a:pPr>
            <a:r>
              <a:rPr lang="en-US" b="1" dirty="0">
                <a:solidFill>
                  <a:schemeClr val="bg1"/>
                </a:solidFill>
              </a:rPr>
              <a:t>2013-2018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33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8F60-860F-AA44-8D97-D7055491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Timeline for </a:t>
            </a:r>
            <a:r>
              <a:rPr lang="en-US" dirty="0" err="1"/>
              <a:t>Healthcare.gov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218A-8280-BE49-854C-9CE2DE7E6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60A8F-BC0E-A844-B1D4-9C511BC9CC1A}"/>
              </a:ext>
            </a:extLst>
          </p:cNvPr>
          <p:cNvSpPr/>
          <p:nvPr/>
        </p:nvSpPr>
        <p:spPr>
          <a:xfrm>
            <a:off x="160983" y="1327334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2013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727E9-5E10-0F47-9BE7-6C8F154F6598}"/>
              </a:ext>
            </a:extLst>
          </p:cNvPr>
          <p:cNvSpPr txBox="1"/>
          <p:nvPr/>
        </p:nvSpPr>
        <p:spPr>
          <a:xfrm>
            <a:off x="1150941" y="1379085"/>
            <a:ext cx="3839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Code Analysis Security Scan </a:t>
            </a:r>
          </a:p>
          <a:p>
            <a:r>
              <a:rPr lang="en-US" dirty="0">
                <a:solidFill>
                  <a:srgbClr val="FF0000"/>
                </a:solidFill>
              </a:rPr>
              <a:t>results were getting ignored</a:t>
            </a:r>
          </a:p>
        </p:txBody>
      </p:sp>
    </p:spTree>
    <p:extLst>
      <p:ext uri="{BB962C8B-B14F-4D97-AF65-F5344CB8AC3E}">
        <p14:creationId xmlns:p14="http://schemas.microsoft.com/office/powerpoint/2010/main" val="273990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8F60-860F-AA44-8D97-D7055491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Timeline for </a:t>
            </a:r>
            <a:r>
              <a:rPr lang="en-US" dirty="0" err="1"/>
              <a:t>Healthcare.gov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218A-8280-BE49-854C-9CE2DE7E6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60A8F-BC0E-A844-B1D4-9C511BC9CC1A}"/>
              </a:ext>
            </a:extLst>
          </p:cNvPr>
          <p:cNvSpPr/>
          <p:nvPr/>
        </p:nvSpPr>
        <p:spPr>
          <a:xfrm>
            <a:off x="160983" y="1327334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2013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727E9-5E10-0F47-9BE7-6C8F154F6598}"/>
              </a:ext>
            </a:extLst>
          </p:cNvPr>
          <p:cNvSpPr txBox="1"/>
          <p:nvPr/>
        </p:nvSpPr>
        <p:spPr>
          <a:xfrm>
            <a:off x="1150941" y="1379085"/>
            <a:ext cx="3839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Static Code Analysis Security Scan </a:t>
            </a:r>
          </a:p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results were getting ignored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BDC727-390C-5644-A14B-EE5FC3A78440}"/>
              </a:ext>
            </a:extLst>
          </p:cNvPr>
          <p:cNvSpPr/>
          <p:nvPr/>
        </p:nvSpPr>
        <p:spPr>
          <a:xfrm>
            <a:off x="655962" y="2225773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F650A-1CBE-574C-AE61-4C86A8477171}"/>
              </a:ext>
            </a:extLst>
          </p:cNvPr>
          <p:cNvSpPr txBox="1"/>
          <p:nvPr/>
        </p:nvSpPr>
        <p:spPr>
          <a:xfrm>
            <a:off x="1713590" y="2087045"/>
            <a:ext cx="633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Obama administration said a </a:t>
            </a:r>
            <a:r>
              <a:rPr lang="en-US" dirty="0">
                <a:solidFill>
                  <a:srgbClr val="FF0000"/>
                </a:solidFill>
              </a:rPr>
              <a:t>breach had occurred</a:t>
            </a:r>
            <a:r>
              <a:rPr lang="en-US" dirty="0"/>
              <a:t> but that no personal consumer information was stolen. </a:t>
            </a:r>
          </a:p>
        </p:txBody>
      </p:sp>
    </p:spTree>
    <p:extLst>
      <p:ext uri="{BB962C8B-B14F-4D97-AF65-F5344CB8AC3E}">
        <p14:creationId xmlns:p14="http://schemas.microsoft.com/office/powerpoint/2010/main" val="3043386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8F60-860F-AA44-8D97-D7055491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Timeline for </a:t>
            </a:r>
            <a:r>
              <a:rPr lang="en-US" dirty="0" err="1"/>
              <a:t>Healthcare.gov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218A-8280-BE49-854C-9CE2DE7E6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60A8F-BC0E-A844-B1D4-9C511BC9CC1A}"/>
              </a:ext>
            </a:extLst>
          </p:cNvPr>
          <p:cNvSpPr/>
          <p:nvPr/>
        </p:nvSpPr>
        <p:spPr>
          <a:xfrm>
            <a:off x="160983" y="1327334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2013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727E9-5E10-0F47-9BE7-6C8F154F6598}"/>
              </a:ext>
            </a:extLst>
          </p:cNvPr>
          <p:cNvSpPr txBox="1"/>
          <p:nvPr/>
        </p:nvSpPr>
        <p:spPr>
          <a:xfrm>
            <a:off x="1150941" y="1379085"/>
            <a:ext cx="3839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Static Code Analysis Security Scan </a:t>
            </a:r>
          </a:p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results were getting ignored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BDC727-390C-5644-A14B-EE5FC3A78440}"/>
              </a:ext>
            </a:extLst>
          </p:cNvPr>
          <p:cNvSpPr/>
          <p:nvPr/>
        </p:nvSpPr>
        <p:spPr>
          <a:xfrm>
            <a:off x="655962" y="2225773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F650A-1CBE-574C-AE61-4C86A8477171}"/>
              </a:ext>
            </a:extLst>
          </p:cNvPr>
          <p:cNvSpPr txBox="1"/>
          <p:nvPr/>
        </p:nvSpPr>
        <p:spPr>
          <a:xfrm>
            <a:off x="1713590" y="2087045"/>
            <a:ext cx="633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The Obama administration said a breach had occurred but that no personal consumer information was stolen.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EF0A6D-E396-B642-9B9B-DA3A02C98CEA}"/>
              </a:ext>
            </a:extLst>
          </p:cNvPr>
          <p:cNvSpPr/>
          <p:nvPr/>
        </p:nvSpPr>
        <p:spPr>
          <a:xfrm>
            <a:off x="1150941" y="3124212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1DE3-3055-EA4E-9A4D-9A2434FCB790}"/>
              </a:ext>
            </a:extLst>
          </p:cNvPr>
          <p:cNvSpPr txBox="1"/>
          <p:nvPr/>
        </p:nvSpPr>
        <p:spPr>
          <a:xfrm>
            <a:off x="2292817" y="2895758"/>
            <a:ext cx="6622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report by the Heath and Human Services inspector general said that </a:t>
            </a:r>
            <a:r>
              <a:rPr lang="en-US" dirty="0">
                <a:solidFill>
                  <a:srgbClr val="FF0000"/>
                </a:solidFill>
              </a:rPr>
              <a:t>sensitive data on millions of consumers</a:t>
            </a:r>
            <a:r>
              <a:rPr lang="en-US" dirty="0"/>
              <a:t> was being </a:t>
            </a:r>
            <a:r>
              <a:rPr lang="en-US" dirty="0">
                <a:solidFill>
                  <a:srgbClr val="FF0000"/>
                </a:solidFill>
              </a:rPr>
              <a:t>stored in a system with fundamental security risks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5813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8F60-860F-AA44-8D97-D7055491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Timeline for </a:t>
            </a:r>
            <a:r>
              <a:rPr lang="en-US" dirty="0" err="1"/>
              <a:t>Healthcare.gov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218A-8280-BE49-854C-9CE2DE7E6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160A8F-BC0E-A844-B1D4-9C511BC9CC1A}"/>
              </a:ext>
            </a:extLst>
          </p:cNvPr>
          <p:cNvSpPr/>
          <p:nvPr/>
        </p:nvSpPr>
        <p:spPr>
          <a:xfrm>
            <a:off x="160983" y="1327334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Nov 2013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727E9-5E10-0F47-9BE7-6C8F154F6598}"/>
              </a:ext>
            </a:extLst>
          </p:cNvPr>
          <p:cNvSpPr txBox="1"/>
          <p:nvPr/>
        </p:nvSpPr>
        <p:spPr>
          <a:xfrm>
            <a:off x="1150941" y="1379085"/>
            <a:ext cx="3839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Static Code Analysis Security Scan </a:t>
            </a:r>
          </a:p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results were getting ignored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BDC727-390C-5644-A14B-EE5FC3A78440}"/>
              </a:ext>
            </a:extLst>
          </p:cNvPr>
          <p:cNvSpPr/>
          <p:nvPr/>
        </p:nvSpPr>
        <p:spPr>
          <a:xfrm>
            <a:off x="655962" y="2225773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F650A-1CBE-574C-AE61-4C86A8477171}"/>
              </a:ext>
            </a:extLst>
          </p:cNvPr>
          <p:cNvSpPr txBox="1"/>
          <p:nvPr/>
        </p:nvSpPr>
        <p:spPr>
          <a:xfrm>
            <a:off x="1713590" y="2087045"/>
            <a:ext cx="6330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The Obama administration said a breach had occurred but that no personal consumer information was stolen.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EF0A6D-E396-B642-9B9B-DA3A02C98CEA}"/>
              </a:ext>
            </a:extLst>
          </p:cNvPr>
          <p:cNvSpPr/>
          <p:nvPr/>
        </p:nvSpPr>
        <p:spPr>
          <a:xfrm>
            <a:off x="1150941" y="3124212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F1DE3-3055-EA4E-9A4D-9A2434FCB790}"/>
              </a:ext>
            </a:extLst>
          </p:cNvPr>
          <p:cNvSpPr txBox="1"/>
          <p:nvPr/>
        </p:nvSpPr>
        <p:spPr>
          <a:xfrm>
            <a:off x="2292817" y="2895758"/>
            <a:ext cx="6622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 report by the Heath and Human Services inspector general said that sensitive data on millions of consumers was being stored in a system with fundamental security risks.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D1D6A91-958C-6243-A80E-36D5F3B70DA4}"/>
              </a:ext>
            </a:extLst>
          </p:cNvPr>
          <p:cNvSpPr/>
          <p:nvPr/>
        </p:nvSpPr>
        <p:spPr>
          <a:xfrm>
            <a:off x="1645920" y="4022650"/>
            <a:ext cx="989958" cy="663542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Oct 2018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8EAA3-93AE-694B-8D7E-2D9B1A6E8862}"/>
              </a:ext>
            </a:extLst>
          </p:cNvPr>
          <p:cNvSpPr txBox="1"/>
          <p:nvPr/>
        </p:nvSpPr>
        <p:spPr>
          <a:xfrm>
            <a:off x="2723949" y="4022650"/>
            <a:ext cx="564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estimated </a:t>
            </a:r>
            <a:r>
              <a:rPr lang="en-US" dirty="0">
                <a:solidFill>
                  <a:srgbClr val="FF0000"/>
                </a:solidFill>
              </a:rPr>
              <a:t>75,000 files compromised</a:t>
            </a:r>
            <a:r>
              <a:rPr lang="en-US" dirty="0"/>
              <a:t>; </a:t>
            </a:r>
            <a:r>
              <a:rPr lang="en-US" i="1" dirty="0">
                <a:solidFill>
                  <a:schemeClr val="accent1"/>
                </a:solidFill>
              </a:rPr>
              <a:t>officials say open enrollment starting Nov. 1 will not be impacted</a:t>
            </a:r>
          </a:p>
        </p:txBody>
      </p:sp>
    </p:spTree>
    <p:extLst>
      <p:ext uri="{BB962C8B-B14F-4D97-AF65-F5344CB8AC3E}">
        <p14:creationId xmlns:p14="http://schemas.microsoft.com/office/powerpoint/2010/main" val="3542509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45251-F191-294B-9B0D-A894AFED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94EEE-4DAD-E344-B297-11CCDE3C5E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People</a:t>
            </a:r>
          </a:p>
          <a:p>
            <a:pPr lvl="1"/>
            <a:r>
              <a:rPr lang="en-US" dirty="0"/>
              <a:t>Shared Vision:  Technology and Business with a Shared Vision of what is acceptable and what is not.</a:t>
            </a:r>
          </a:p>
          <a:p>
            <a:pPr lvl="1"/>
            <a:r>
              <a:rPr lang="en-US" dirty="0"/>
              <a:t>Continuous Learning for everyone (Business, Executives, Developers, Agile Coaches,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lvl="1"/>
            <a:r>
              <a:rPr lang="en-US" dirty="0"/>
              <a:t>Developers: Deep Technical Training on Source Code Security Vulnerabilities (OWASP TOP 10) and the X as Code (e.g. Building Secure Docker containers, Networking,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r>
              <a:rPr lang="en-US" dirty="0"/>
              <a:t>Processes</a:t>
            </a:r>
          </a:p>
          <a:p>
            <a:pPr lvl="1"/>
            <a:r>
              <a:rPr lang="en-US" dirty="0"/>
              <a:t>Engineering Excellence:  DevOps, Agile,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Automate everything</a:t>
            </a:r>
          </a:p>
          <a:p>
            <a:r>
              <a:rPr lang="en-US" dirty="0"/>
              <a:t>Tools</a:t>
            </a:r>
          </a:p>
          <a:p>
            <a:pPr lvl="1"/>
            <a:r>
              <a:rPr lang="en-US" dirty="0"/>
              <a:t>What Tools are within the strategic long term direction of the company and which are required today.</a:t>
            </a:r>
          </a:p>
          <a:p>
            <a:pPr lvl="1"/>
            <a:r>
              <a:rPr lang="en-US" dirty="0"/>
              <a:t>Everything as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C2F60-449C-E045-970C-10350FF58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26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5655-3073-E740-9FE7-09A16DCD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05473"/>
            <a:ext cx="7991856" cy="473202"/>
          </a:xfrm>
        </p:spPr>
        <p:txBody>
          <a:bodyPr/>
          <a:lstStyle/>
          <a:p>
            <a:r>
              <a:rPr lang="en-US" dirty="0"/>
              <a:t>Developers – The First Line of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B9FB6-F7AA-6A4E-89A8-271C0B0E79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With the “everything as code” movement Developers become more responsible for protecting against vulnerabilities than ever before.  They become the 1</a:t>
            </a:r>
            <a:r>
              <a:rPr lang="en-US" baseline="30000" dirty="0"/>
              <a:t>st</a:t>
            </a:r>
            <a:r>
              <a:rPr lang="en-US" dirty="0"/>
              <a:t> line of defense.</a:t>
            </a:r>
          </a:p>
          <a:p>
            <a:r>
              <a:rPr lang="en-US" dirty="0"/>
              <a:t>Application </a:t>
            </a:r>
            <a:r>
              <a:rPr lang="en-US" dirty="0">
                <a:solidFill>
                  <a:schemeClr val="accent1"/>
                </a:solidFill>
              </a:rPr>
              <a:t>Code</a:t>
            </a:r>
          </a:p>
          <a:p>
            <a:r>
              <a:rPr lang="en-US" dirty="0"/>
              <a:t>Infrastructure as </a:t>
            </a:r>
            <a:r>
              <a:rPr lang="en-US" dirty="0">
                <a:solidFill>
                  <a:schemeClr val="accent1"/>
                </a:solidFill>
              </a:rPr>
              <a:t>Code</a:t>
            </a:r>
            <a:r>
              <a:rPr lang="en-US" dirty="0"/>
              <a:t>/Configuration/Networking</a:t>
            </a:r>
          </a:p>
          <a:p>
            <a:r>
              <a:rPr lang="en-US" b="1" i="1" dirty="0"/>
              <a:t>Pipeline as </a:t>
            </a:r>
            <a:r>
              <a:rPr lang="en-US" b="1" i="1" dirty="0">
                <a:solidFill>
                  <a:schemeClr val="accent1"/>
                </a:solidFill>
              </a:rPr>
              <a:t>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8576C-0470-0C4A-A1BF-837D172153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66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Security in the Pipeline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647343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Automation with a Pipeline</a:t>
            </a:r>
          </a:p>
          <a:p>
            <a:r>
              <a:rPr lang="en-US" sz="4400" b="1" dirty="0"/>
              <a:t>(CICD)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967468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7859-9789-3644-868C-F2E02616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14437"/>
            <a:ext cx="7991856" cy="473202"/>
          </a:xfrm>
        </p:spPr>
        <p:txBody>
          <a:bodyPr/>
          <a:lstStyle/>
          <a:p>
            <a:r>
              <a:rPr lang="en-US" dirty="0"/>
              <a:t>DevOps Beginners Discover the </a:t>
            </a:r>
            <a:br>
              <a:rPr lang="en-US" dirty="0"/>
            </a:br>
            <a:r>
              <a:rPr lang="en-US" dirty="0"/>
              <a:t>Power of Automation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A48C5-2746-9B4E-A5AB-7A57F6411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737A6E-EBD7-C04C-99E4-9BB2CA69ED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762125" y="1585912"/>
            <a:ext cx="58674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1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3EDD-E118-FF4A-AC94-1F5E4FDA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without a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B2BE7-C1BF-FF41-91C6-F7590B6B6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EC373-EC98-CC48-89D6-DA409AAFAA7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452091" y="1406525"/>
            <a:ext cx="6487467" cy="32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96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A382-40F9-124B-87F0-B53FADEB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with a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57955-A6B1-F744-ACD3-5E69BEB28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Content Placeholder 36">
            <a:extLst>
              <a:ext uri="{FF2B5EF4-FFF2-40B4-BE49-F238E27FC236}">
                <a16:creationId xmlns:a16="http://schemas.microsoft.com/office/drawing/2014/main" id="{0AABEAEA-F6C9-C845-B309-9FF89638B0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401506" y="1406525"/>
            <a:ext cx="6588638" cy="327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20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What Security Scans are important in your CICD Pipeline?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28395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CICD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003B-62D4-254F-AF2B-432C77BA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	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517805" y="2500234"/>
            <a:ext cx="177997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6459494" y="3169295"/>
            <a:ext cx="1872049" cy="1564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6320481" y="2606100"/>
            <a:ext cx="1858521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168611" y="3771900"/>
            <a:ext cx="4151870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168611" y="3305801"/>
            <a:ext cx="37997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Injecting security checks into the pipeline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D5D938-73B1-A24F-A7C0-1A50317D232C}"/>
              </a:ext>
            </a:extLst>
          </p:cNvPr>
          <p:cNvCxnSpPr/>
          <p:nvPr/>
        </p:nvCxnSpPr>
        <p:spPr>
          <a:xfrm flipV="1">
            <a:off x="3343556" y="3883795"/>
            <a:ext cx="472646" cy="843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A910C2-30B6-294C-8BC1-23AD9644BD1E}"/>
              </a:ext>
            </a:extLst>
          </p:cNvPr>
          <p:cNvCxnSpPr/>
          <p:nvPr/>
        </p:nvCxnSpPr>
        <p:spPr>
          <a:xfrm flipV="1">
            <a:off x="3945434" y="3890657"/>
            <a:ext cx="472646" cy="843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35FB5D-2B29-DF44-928F-010C8F4DCA89}"/>
              </a:ext>
            </a:extLst>
          </p:cNvPr>
          <p:cNvCxnSpPr/>
          <p:nvPr/>
        </p:nvCxnSpPr>
        <p:spPr>
          <a:xfrm flipV="1">
            <a:off x="3625153" y="3887226"/>
            <a:ext cx="472646" cy="843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1776C76-FD0D-8A46-9F42-A41C974423B6}"/>
              </a:ext>
            </a:extLst>
          </p:cNvPr>
          <p:cNvSpPr txBox="1"/>
          <p:nvPr/>
        </p:nvSpPr>
        <p:spPr>
          <a:xfrm rot="18002108">
            <a:off x="3193903" y="4152036"/>
            <a:ext cx="5597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6A835-D529-CB40-BD8A-CB5AEA5D3B6B}"/>
              </a:ext>
            </a:extLst>
          </p:cNvPr>
          <p:cNvSpPr txBox="1"/>
          <p:nvPr/>
        </p:nvSpPr>
        <p:spPr>
          <a:xfrm rot="18002108">
            <a:off x="3290105" y="4184529"/>
            <a:ext cx="8963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container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1EEA4-5DED-8943-A5D2-403F090C4182}"/>
              </a:ext>
            </a:extLst>
          </p:cNvPr>
          <p:cNvSpPr txBox="1"/>
          <p:nvPr/>
        </p:nvSpPr>
        <p:spPr>
          <a:xfrm rot="18002108">
            <a:off x="3697737" y="4191392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runtime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4294-EB7E-3640-AE1D-EB99F2AE7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18" y="2996820"/>
            <a:ext cx="699549" cy="190958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527F591-53B9-654E-A211-C0256ABED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360019"/>
              </p:ext>
            </p:extLst>
          </p:nvPr>
        </p:nvGraphicFramePr>
        <p:xfrm>
          <a:off x="818527" y="946284"/>
          <a:ext cx="7315200" cy="1817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1170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 Build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94944" y="1595460"/>
            <a:ext cx="177997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6636633" y="2264521"/>
            <a:ext cx="1872049" cy="1564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6497620" y="1701326"/>
            <a:ext cx="1858521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345750" y="2867126"/>
            <a:ext cx="4151870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345750" y="2401027"/>
            <a:ext cx="37997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Injecting security checks into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4294-EB7E-3640-AE1D-EB99F2AE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57" y="2092046"/>
            <a:ext cx="699549" cy="190958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C8C71-E3F4-264E-BD79-A7847FEECD27}"/>
              </a:ext>
            </a:extLst>
          </p:cNvPr>
          <p:cNvCxnSpPr>
            <a:cxnSpLocks/>
          </p:cNvCxnSpPr>
          <p:nvPr/>
        </p:nvCxnSpPr>
        <p:spPr>
          <a:xfrm flipV="1">
            <a:off x="3731726" y="3053330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98945-4832-3143-A274-5B35F45A6CBE}"/>
              </a:ext>
            </a:extLst>
          </p:cNvPr>
          <p:cNvSpPr txBox="1"/>
          <p:nvPr/>
        </p:nvSpPr>
        <p:spPr>
          <a:xfrm rot="18002108">
            <a:off x="1635069" y="358054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Compile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43402-5DD6-AA41-BAB5-11AD79DC2C55}"/>
              </a:ext>
            </a:extLst>
          </p:cNvPr>
          <p:cNvSpPr txBox="1"/>
          <p:nvPr/>
        </p:nvSpPr>
        <p:spPr>
          <a:xfrm rot="18002108">
            <a:off x="2669830" y="3454125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Tests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3E247-F5B4-6041-93DE-98D252C18F93}"/>
              </a:ext>
            </a:extLst>
          </p:cNvPr>
          <p:cNvSpPr txBox="1"/>
          <p:nvPr/>
        </p:nvSpPr>
        <p:spPr>
          <a:xfrm rot="18002108">
            <a:off x="3026286" y="3712970"/>
            <a:ext cx="159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Coverage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9F60CA-7489-9A47-A919-3AC2963B9DB7}"/>
              </a:ext>
            </a:extLst>
          </p:cNvPr>
          <p:cNvSpPr txBox="1"/>
          <p:nvPr/>
        </p:nvSpPr>
        <p:spPr>
          <a:xfrm rot="18002108">
            <a:off x="3899459" y="356619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Sonar Scan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170230-79C9-D041-AB99-ACBF819A92BA}"/>
              </a:ext>
            </a:extLst>
          </p:cNvPr>
          <p:cNvSpPr txBox="1"/>
          <p:nvPr/>
        </p:nvSpPr>
        <p:spPr>
          <a:xfrm rot="18002108">
            <a:off x="4601124" y="362059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Fortify Scan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AB581-D16D-1E40-8A9B-C1571E6DDE17}"/>
              </a:ext>
            </a:extLst>
          </p:cNvPr>
          <p:cNvSpPr txBox="1"/>
          <p:nvPr/>
        </p:nvSpPr>
        <p:spPr>
          <a:xfrm>
            <a:off x="210762" y="4719546"/>
            <a:ext cx="7021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OWASP SAST Tools:  </a:t>
            </a:r>
            <a:r>
              <a:rPr lang="en-US" sz="1400" dirty="0">
                <a:hlinkClick r:id="rId3"/>
              </a:rPr>
              <a:t>https://www.owasp.org/index.php/Source_Code_Analysis_Tools</a:t>
            </a:r>
            <a:endParaRPr lang="en-US" sz="1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45E1D3-D844-E44A-972D-2C6739AA63A8}"/>
              </a:ext>
            </a:extLst>
          </p:cNvPr>
          <p:cNvCxnSpPr>
            <a:cxnSpLocks/>
          </p:cNvCxnSpPr>
          <p:nvPr/>
        </p:nvCxnSpPr>
        <p:spPr>
          <a:xfrm flipV="1">
            <a:off x="2243548" y="3029622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1745BE-777C-D842-A916-2A90524BF8BE}"/>
              </a:ext>
            </a:extLst>
          </p:cNvPr>
          <p:cNvCxnSpPr>
            <a:cxnSpLocks/>
          </p:cNvCxnSpPr>
          <p:nvPr/>
        </p:nvCxnSpPr>
        <p:spPr>
          <a:xfrm flipV="1">
            <a:off x="2987637" y="3071196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37BB16-D4EC-EB4C-9BDF-191648903DB9}"/>
              </a:ext>
            </a:extLst>
          </p:cNvPr>
          <p:cNvCxnSpPr>
            <a:cxnSpLocks/>
          </p:cNvCxnSpPr>
          <p:nvPr/>
        </p:nvCxnSpPr>
        <p:spPr>
          <a:xfrm flipV="1">
            <a:off x="4475815" y="3071196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3876A-5B3C-044A-905B-C152730A05B1}"/>
              </a:ext>
            </a:extLst>
          </p:cNvPr>
          <p:cNvCxnSpPr>
            <a:cxnSpLocks/>
          </p:cNvCxnSpPr>
          <p:nvPr/>
        </p:nvCxnSpPr>
        <p:spPr>
          <a:xfrm flipV="1">
            <a:off x="5219904" y="3071196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A8744FE-57DA-D44D-89F1-6CF1A939649B}"/>
              </a:ext>
            </a:extLst>
          </p:cNvPr>
          <p:cNvSpPr txBox="1"/>
          <p:nvPr/>
        </p:nvSpPr>
        <p:spPr>
          <a:xfrm>
            <a:off x="3619099" y="162666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SAST</a:t>
            </a:r>
          </a:p>
        </p:txBody>
      </p:sp>
    </p:spTree>
    <p:extLst>
      <p:ext uri="{BB962C8B-B14F-4D97-AF65-F5344CB8AC3E}">
        <p14:creationId xmlns:p14="http://schemas.microsoft.com/office/powerpoint/2010/main" val="152286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 Build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94944" y="1595460"/>
            <a:ext cx="177997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6636633" y="2264521"/>
            <a:ext cx="1872049" cy="1564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6497620" y="1701326"/>
            <a:ext cx="1858521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345750" y="2867126"/>
            <a:ext cx="4151870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345750" y="2401027"/>
            <a:ext cx="37997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Injecting security checks into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4294-EB7E-3640-AE1D-EB99F2AE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57" y="2092046"/>
            <a:ext cx="699549" cy="190958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C8C71-E3F4-264E-BD79-A7847FEECD27}"/>
              </a:ext>
            </a:extLst>
          </p:cNvPr>
          <p:cNvCxnSpPr>
            <a:cxnSpLocks/>
          </p:cNvCxnSpPr>
          <p:nvPr/>
        </p:nvCxnSpPr>
        <p:spPr>
          <a:xfrm flipV="1">
            <a:off x="3731726" y="3053330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98945-4832-3143-A274-5B35F45A6CBE}"/>
              </a:ext>
            </a:extLst>
          </p:cNvPr>
          <p:cNvSpPr txBox="1"/>
          <p:nvPr/>
        </p:nvSpPr>
        <p:spPr>
          <a:xfrm rot="18002108">
            <a:off x="1500418" y="358054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 Build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3E247-F5B4-6041-93DE-98D252C18F93}"/>
              </a:ext>
            </a:extLst>
          </p:cNvPr>
          <p:cNvSpPr txBox="1"/>
          <p:nvPr/>
        </p:nvSpPr>
        <p:spPr>
          <a:xfrm rot="18002108">
            <a:off x="4426817" y="3597681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to Repo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170230-79C9-D041-AB99-ACBF819A92BA}"/>
              </a:ext>
            </a:extLst>
          </p:cNvPr>
          <p:cNvSpPr txBox="1"/>
          <p:nvPr/>
        </p:nvSpPr>
        <p:spPr>
          <a:xfrm rot="18002108">
            <a:off x="3140067" y="3487996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Docker Scan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45E1D3-D844-E44A-972D-2C6739AA63A8}"/>
              </a:ext>
            </a:extLst>
          </p:cNvPr>
          <p:cNvCxnSpPr>
            <a:cxnSpLocks/>
          </p:cNvCxnSpPr>
          <p:nvPr/>
        </p:nvCxnSpPr>
        <p:spPr>
          <a:xfrm flipV="1">
            <a:off x="2243548" y="3029622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3876A-5B3C-044A-905B-C152730A05B1}"/>
              </a:ext>
            </a:extLst>
          </p:cNvPr>
          <p:cNvCxnSpPr>
            <a:cxnSpLocks/>
          </p:cNvCxnSpPr>
          <p:nvPr/>
        </p:nvCxnSpPr>
        <p:spPr>
          <a:xfrm flipV="1">
            <a:off x="5219904" y="3071196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BBCF462-676E-3F49-B98A-1D2405DDFFE9}"/>
              </a:ext>
            </a:extLst>
          </p:cNvPr>
          <p:cNvSpPr/>
          <p:nvPr/>
        </p:nvSpPr>
        <p:spPr>
          <a:xfrm>
            <a:off x="278001" y="4739900"/>
            <a:ext cx="7935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862" indent="0">
              <a:buNone/>
            </a:pPr>
            <a:r>
              <a:rPr lang="en-US" sz="1400" dirty="0"/>
              <a:t>Docker Container Scanning Tools: </a:t>
            </a:r>
            <a:r>
              <a:rPr lang="en-US" sz="1400" dirty="0">
                <a:hlinkClick r:id="rId3"/>
              </a:rPr>
              <a:t>https://sysdig.com/blog/20-docker-security-tools/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189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– Pre-Prod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51F9D2-FB39-C54B-844F-ABAE5B7C4AB5}"/>
              </a:ext>
            </a:extLst>
          </p:cNvPr>
          <p:cNvSpPr/>
          <p:nvPr/>
        </p:nvSpPr>
        <p:spPr>
          <a:xfrm>
            <a:off x="694944" y="1595460"/>
            <a:ext cx="1779974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4E97DD-61C5-0149-BE48-D235C3271EA1}"/>
              </a:ext>
            </a:extLst>
          </p:cNvPr>
          <p:cNvSpPr/>
          <p:nvPr/>
        </p:nvSpPr>
        <p:spPr>
          <a:xfrm>
            <a:off x="6636633" y="2264521"/>
            <a:ext cx="1872049" cy="15646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Most Amazing Application in the World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7A5AA5-B012-5B44-84EA-D045B855CCA9}"/>
              </a:ext>
            </a:extLst>
          </p:cNvPr>
          <p:cNvSpPr/>
          <p:nvPr/>
        </p:nvSpPr>
        <p:spPr>
          <a:xfrm>
            <a:off x="6497620" y="1701326"/>
            <a:ext cx="1858521" cy="50013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Production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F22A553-4A07-5D47-A50B-9D715B55E833}"/>
              </a:ext>
            </a:extLst>
          </p:cNvPr>
          <p:cNvCxnSpPr/>
          <p:nvPr/>
        </p:nvCxnSpPr>
        <p:spPr>
          <a:xfrm>
            <a:off x="2345750" y="2867126"/>
            <a:ext cx="4151870" cy="0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AEC26AF-DAC2-8D4F-9838-4BAA17D83B6A}"/>
              </a:ext>
            </a:extLst>
          </p:cNvPr>
          <p:cNvSpPr txBox="1"/>
          <p:nvPr/>
        </p:nvSpPr>
        <p:spPr>
          <a:xfrm>
            <a:off x="2345750" y="2401027"/>
            <a:ext cx="37997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Injecting security checks into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4294-EB7E-3640-AE1D-EB99F2AE7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57" y="2092046"/>
            <a:ext cx="699549" cy="190958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9C8C71-E3F4-264E-BD79-A7847FEECD27}"/>
              </a:ext>
            </a:extLst>
          </p:cNvPr>
          <p:cNvCxnSpPr>
            <a:cxnSpLocks/>
          </p:cNvCxnSpPr>
          <p:nvPr/>
        </p:nvCxnSpPr>
        <p:spPr>
          <a:xfrm flipV="1">
            <a:off x="4227786" y="3053330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98945-4832-3143-A274-5B35F45A6CBE}"/>
              </a:ext>
            </a:extLst>
          </p:cNvPr>
          <p:cNvSpPr txBox="1"/>
          <p:nvPr/>
        </p:nvSpPr>
        <p:spPr>
          <a:xfrm rot="18002108">
            <a:off x="1311063" y="3720811"/>
            <a:ext cx="1984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Deploy to Non-Prod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3E247-F5B4-6041-93DE-98D252C18F93}"/>
              </a:ext>
            </a:extLst>
          </p:cNvPr>
          <p:cNvSpPr txBox="1"/>
          <p:nvPr/>
        </p:nvSpPr>
        <p:spPr>
          <a:xfrm rot="18002108">
            <a:off x="3407790" y="3644048"/>
            <a:ext cx="1892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Performance Tests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170230-79C9-D041-AB99-ACBF819A92BA}"/>
              </a:ext>
            </a:extLst>
          </p:cNvPr>
          <p:cNvSpPr txBox="1"/>
          <p:nvPr/>
        </p:nvSpPr>
        <p:spPr>
          <a:xfrm rot="17931439">
            <a:off x="2458275" y="3638390"/>
            <a:ext cx="1840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accent1"/>
                </a:solidFill>
              </a:rPr>
              <a:t>Automated Tests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245E1D3-D844-E44A-972D-2C6739AA63A8}"/>
              </a:ext>
            </a:extLst>
          </p:cNvPr>
          <p:cNvCxnSpPr>
            <a:cxnSpLocks/>
          </p:cNvCxnSpPr>
          <p:nvPr/>
        </p:nvCxnSpPr>
        <p:spPr>
          <a:xfrm flipV="1">
            <a:off x="2243548" y="3029622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3876A-5B3C-044A-905B-C152730A05B1}"/>
              </a:ext>
            </a:extLst>
          </p:cNvPr>
          <p:cNvCxnSpPr>
            <a:cxnSpLocks/>
          </p:cNvCxnSpPr>
          <p:nvPr/>
        </p:nvCxnSpPr>
        <p:spPr>
          <a:xfrm flipV="1">
            <a:off x="5219904" y="3071196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F1A080-A15A-6747-93A0-A7B17E32C555}"/>
              </a:ext>
            </a:extLst>
          </p:cNvPr>
          <p:cNvCxnSpPr>
            <a:cxnSpLocks/>
          </p:cNvCxnSpPr>
          <p:nvPr/>
        </p:nvCxnSpPr>
        <p:spPr>
          <a:xfrm flipV="1">
            <a:off x="3235667" y="3058942"/>
            <a:ext cx="712209" cy="128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F2BFC4-5F76-0840-A81E-8CEB0D4144A6}"/>
              </a:ext>
            </a:extLst>
          </p:cNvPr>
          <p:cNvSpPr txBox="1"/>
          <p:nvPr/>
        </p:nvSpPr>
        <p:spPr>
          <a:xfrm rot="18002108">
            <a:off x="4629554" y="3544959"/>
            <a:ext cx="1540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Deploy to Prod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57BAA-4CF8-AC40-B5FA-20D53C33B496}"/>
              </a:ext>
            </a:extLst>
          </p:cNvPr>
          <p:cNvSpPr/>
          <p:nvPr/>
        </p:nvSpPr>
        <p:spPr>
          <a:xfrm>
            <a:off x="118872" y="4774669"/>
            <a:ext cx="83898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>
              <a:buNone/>
            </a:pPr>
            <a:r>
              <a:rPr lang="en-US" sz="1400" dirty="0"/>
              <a:t>OWASP DAST Tools: </a:t>
            </a:r>
            <a:r>
              <a:rPr lang="en-US" sz="1400" dirty="0">
                <a:hlinkClick r:id="rId3"/>
              </a:rPr>
              <a:t>https://www.owasp.org/index.php/Category:Vulnerability_Scanning_Tools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9A724-50CD-6B45-B445-25F383A405DB}"/>
              </a:ext>
            </a:extLst>
          </p:cNvPr>
          <p:cNvSpPr txBox="1">
            <a:spLocks noChangeAspect="1"/>
          </p:cNvSpPr>
          <p:nvPr/>
        </p:nvSpPr>
        <p:spPr>
          <a:xfrm rot="17897503">
            <a:off x="2851246" y="3670825"/>
            <a:ext cx="1705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1" dirty="0">
                <a:solidFill>
                  <a:schemeClr val="accent1"/>
                </a:solidFill>
              </a:rPr>
              <a:t>Contrast Results are </a:t>
            </a:r>
          </a:p>
          <a:p>
            <a:r>
              <a:rPr lang="en-US" sz="1000" b="1" i="1" dirty="0">
                <a:solidFill>
                  <a:schemeClr val="accent1"/>
                </a:solidFill>
              </a:rPr>
              <a:t>generated and uploaded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17B0B-27F8-934E-8D5C-D3321486D34C}"/>
              </a:ext>
            </a:extLst>
          </p:cNvPr>
          <p:cNvSpPr txBox="1"/>
          <p:nvPr/>
        </p:nvSpPr>
        <p:spPr>
          <a:xfrm>
            <a:off x="3349592" y="1559293"/>
            <a:ext cx="1642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IAST or DAST</a:t>
            </a:r>
          </a:p>
        </p:txBody>
      </p:sp>
    </p:spTree>
    <p:extLst>
      <p:ext uri="{BB962C8B-B14F-4D97-AF65-F5344CB8AC3E}">
        <p14:creationId xmlns:p14="http://schemas.microsoft.com/office/powerpoint/2010/main" val="76791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A382-40F9-124B-87F0-B53FADEB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Skipping Security Steps to go Faster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57955-A6B1-F744-ACD3-5E69BEB28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DCBB9-6228-2E4E-AF1D-61E088197235}"/>
              </a:ext>
            </a:extLst>
          </p:cNvPr>
          <p:cNvSpPr txBox="1"/>
          <p:nvPr/>
        </p:nvSpPr>
        <p:spPr>
          <a:xfrm>
            <a:off x="3193452" y="3583080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skip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FBF72-00D8-9148-B698-A2701A3D22BA}"/>
              </a:ext>
            </a:extLst>
          </p:cNvPr>
          <p:cNvSpPr txBox="1"/>
          <p:nvPr/>
        </p:nvSpPr>
        <p:spPr>
          <a:xfrm>
            <a:off x="5181793" y="1126956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skip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45318-473C-3543-853D-62D163BB7052}"/>
              </a:ext>
            </a:extLst>
          </p:cNvPr>
          <p:cNvSpPr txBox="1"/>
          <p:nvPr/>
        </p:nvSpPr>
        <p:spPr>
          <a:xfrm>
            <a:off x="7067921" y="1146199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skip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B8C1E4-0F90-9B45-B0EC-6B9C36261916}"/>
              </a:ext>
            </a:extLst>
          </p:cNvPr>
          <p:cNvSpPr/>
          <p:nvPr/>
        </p:nvSpPr>
        <p:spPr>
          <a:xfrm>
            <a:off x="108518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</a:t>
            </a:r>
          </a:p>
          <a:p>
            <a:pPr algn="ctr"/>
            <a:r>
              <a:rPr lang="en-US" sz="1400" dirty="0"/>
              <a:t>Code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AD196F-0FB7-A74C-9E9E-437D1E84710C}"/>
              </a:ext>
            </a:extLst>
          </p:cNvPr>
          <p:cNvSpPr/>
          <p:nvPr/>
        </p:nvSpPr>
        <p:spPr>
          <a:xfrm>
            <a:off x="299677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Unit Tests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DA0954-7CC5-B045-9468-3962E541FF4D}"/>
              </a:ext>
            </a:extLst>
          </p:cNvPr>
          <p:cNvSpPr/>
          <p:nvPr/>
        </p:nvSpPr>
        <p:spPr>
          <a:xfrm>
            <a:off x="490836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Sonar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3DAB1B-97BC-4648-98F6-9B35340A4DFA}"/>
              </a:ext>
            </a:extLst>
          </p:cNvPr>
          <p:cNvSpPr/>
          <p:nvPr/>
        </p:nvSpPr>
        <p:spPr>
          <a:xfrm>
            <a:off x="6819955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Fortify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CDCE7AE-8E26-7B45-87C8-61AED7845DB7}"/>
              </a:ext>
            </a:extLst>
          </p:cNvPr>
          <p:cNvSpPr/>
          <p:nvPr/>
        </p:nvSpPr>
        <p:spPr>
          <a:xfrm>
            <a:off x="108518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</a:t>
            </a:r>
            <a:r>
              <a:rPr lang="en-US" sz="1050" dirty="0"/>
              <a:t>Container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70876D-E50B-B54A-A869-016D892A46A5}"/>
              </a:ext>
            </a:extLst>
          </p:cNvPr>
          <p:cNvSpPr/>
          <p:nvPr/>
        </p:nvSpPr>
        <p:spPr>
          <a:xfrm>
            <a:off x="299677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Scan</a:t>
            </a:r>
            <a:r>
              <a:rPr lang="en-US" sz="1600" dirty="0"/>
              <a:t> </a:t>
            </a:r>
            <a:r>
              <a:rPr lang="en-US" sz="1050" dirty="0"/>
              <a:t>Container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8CDE6A5-F814-8E40-99C7-DDE460F8605D}"/>
              </a:ext>
            </a:extLst>
          </p:cNvPr>
          <p:cNvSpPr/>
          <p:nvPr/>
        </p:nvSpPr>
        <p:spPr>
          <a:xfrm>
            <a:off x="490836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to Repo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B32F17B-B7FF-1345-B979-5AF0AAA6C7FF}"/>
              </a:ext>
            </a:extLst>
          </p:cNvPr>
          <p:cNvSpPr/>
          <p:nvPr/>
        </p:nvSpPr>
        <p:spPr>
          <a:xfrm>
            <a:off x="1085184" y="3906438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Deploy to non-prod</a:t>
            </a:r>
            <a:endParaRPr lang="en-US" sz="1050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168BBE-3D74-E742-8D1F-72573073DC45}"/>
              </a:ext>
            </a:extLst>
          </p:cNvPr>
          <p:cNvSpPr/>
          <p:nvPr/>
        </p:nvSpPr>
        <p:spPr>
          <a:xfrm>
            <a:off x="2996774" y="3906438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Auto Tests</a:t>
            </a:r>
            <a:endParaRPr lang="en-US" sz="1050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7B865B9-5F20-5649-9A45-82BC2C64DF96}"/>
              </a:ext>
            </a:extLst>
          </p:cNvPr>
          <p:cNvSpPr/>
          <p:nvPr/>
        </p:nvSpPr>
        <p:spPr>
          <a:xfrm>
            <a:off x="4908364" y="3906437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Performance Tests</a:t>
            </a:r>
            <a:endParaRPr lang="en-US" sz="105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C3D273-138C-E74E-B2F4-D216A4454B43}"/>
              </a:ext>
            </a:extLst>
          </p:cNvPr>
          <p:cNvCxnSpPr>
            <a:stCxn id="9" idx="3"/>
            <a:endCxn id="18" idx="1"/>
          </p:cNvCxnSpPr>
          <p:nvPr/>
        </p:nvCxnSpPr>
        <p:spPr>
          <a:xfrm>
            <a:off x="2423957" y="1799239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DD94746-C400-754D-A476-49BA6BA22AD2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4335547" y="1799239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19DC75-86E3-694C-86B2-80C47A92D9A5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247137" y="1799239"/>
            <a:ext cx="57281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6879A0-3EEC-4B48-A7A8-A185BB79A2D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2423957" y="3008975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2BEB43-53BA-6E41-BC72-5990F46F577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4335547" y="3008975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331E39-1863-8C47-9FEC-70FD73FF2119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2423957" y="4218712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540F3A-8701-7247-8C9D-4F4F39F48A39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335547" y="4218711"/>
            <a:ext cx="572817" cy="1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B47E269-29A6-AC43-BDAA-D202651F515A}"/>
              </a:ext>
            </a:extLst>
          </p:cNvPr>
          <p:cNvSpPr/>
          <p:nvPr/>
        </p:nvSpPr>
        <p:spPr>
          <a:xfrm>
            <a:off x="7170362" y="3627358"/>
            <a:ext cx="1604597" cy="10997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Most </a:t>
            </a:r>
          </a:p>
          <a:p>
            <a:pPr algn="ctr"/>
            <a:r>
              <a:rPr lang="en-US" sz="1400" dirty="0"/>
              <a:t>Amazing</a:t>
            </a:r>
          </a:p>
          <a:p>
            <a:pPr algn="ctr"/>
            <a:r>
              <a:rPr lang="en-US" sz="1400" dirty="0">
                <a:ln w="9525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50800" dir="5400000" sx="2000" sy="2000" algn="ctr" rotWithShape="0">
                    <a:srgbClr val="000000">
                      <a:alpha val="43137"/>
                    </a:srgbClr>
                  </a:outerShdw>
                </a:effectLst>
              </a:rPr>
              <a:t>Embarrassing</a:t>
            </a:r>
            <a:r>
              <a:rPr lang="en-US" sz="1400" dirty="0"/>
              <a:t> Application </a:t>
            </a:r>
          </a:p>
          <a:p>
            <a:pPr algn="ctr"/>
            <a:r>
              <a:rPr lang="en-US" sz="1400" dirty="0"/>
              <a:t>in the World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F82703-4F29-604A-B739-806CE570818F}"/>
              </a:ext>
            </a:extLst>
          </p:cNvPr>
          <p:cNvSpPr txBox="1"/>
          <p:nvPr/>
        </p:nvSpPr>
        <p:spPr>
          <a:xfrm>
            <a:off x="7137754" y="329582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Production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C50527C-5141-B246-8F02-DF663881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92" y="1338002"/>
            <a:ext cx="526314" cy="1436695"/>
          </a:xfrm>
          <a:prstGeom prst="rect">
            <a:avLst/>
          </a:prstGeom>
        </p:spPr>
      </p:pic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9A7203CE-2394-194F-8C13-7E523F5A3C3D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H="1">
            <a:off x="1085184" y="1799239"/>
            <a:ext cx="7073544" cy="1209736"/>
          </a:xfrm>
          <a:prstGeom prst="bentConnector5">
            <a:avLst>
              <a:gd name="adj1" fmla="val -3232"/>
              <a:gd name="adj2" fmla="val 50000"/>
              <a:gd name="adj3" fmla="val 103232"/>
            </a:avLst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83529DB-24E5-F24A-949B-AA9D76B9A9B0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H="1">
            <a:off x="1085184" y="3008975"/>
            <a:ext cx="5161953" cy="1209737"/>
          </a:xfrm>
          <a:prstGeom prst="bentConnector5">
            <a:avLst>
              <a:gd name="adj1" fmla="val -4429"/>
              <a:gd name="adj2" fmla="val 50000"/>
              <a:gd name="adj3" fmla="val 104429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E527F77-E871-E14D-94AF-74AD5E9C3679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247137" y="4171014"/>
            <a:ext cx="923225" cy="6228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BF398C8-9C8F-CE40-902D-4145AE336C8C}"/>
              </a:ext>
            </a:extLst>
          </p:cNvPr>
          <p:cNvSpPr txBox="1"/>
          <p:nvPr/>
        </p:nvSpPr>
        <p:spPr>
          <a:xfrm>
            <a:off x="1085183" y="1171727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Source Code Build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E74456-EEC8-304B-AF9A-CE3F0D5CEB51}"/>
              </a:ext>
            </a:extLst>
          </p:cNvPr>
          <p:cNvSpPr txBox="1"/>
          <p:nvPr/>
        </p:nvSpPr>
        <p:spPr>
          <a:xfrm>
            <a:off x="1085183" y="237334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Container Build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1012F3-9B8E-4940-A0D3-CADEF3818792}"/>
              </a:ext>
            </a:extLst>
          </p:cNvPr>
          <p:cNvSpPr txBox="1"/>
          <p:nvPr/>
        </p:nvSpPr>
        <p:spPr>
          <a:xfrm>
            <a:off x="1085183" y="358308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Runtime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CF3753-5C99-754C-BB15-229B409892E5}"/>
              </a:ext>
            </a:extLst>
          </p:cNvPr>
          <p:cNvSpPr txBox="1"/>
          <p:nvPr/>
        </p:nvSpPr>
        <p:spPr>
          <a:xfrm>
            <a:off x="71088" y="992470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Developer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A49682-E9C7-294E-92C2-80A29234F0BC}"/>
              </a:ext>
            </a:extLst>
          </p:cNvPr>
          <p:cNvSpPr txBox="1"/>
          <p:nvPr/>
        </p:nvSpPr>
        <p:spPr>
          <a:xfrm>
            <a:off x="3178041" y="2376700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skip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9F016E-FE01-3144-809C-B052BA2F78BE}"/>
              </a:ext>
            </a:extLst>
          </p:cNvPr>
          <p:cNvCxnSpPr>
            <a:cxnSpLocks/>
          </p:cNvCxnSpPr>
          <p:nvPr/>
        </p:nvCxnSpPr>
        <p:spPr>
          <a:xfrm flipH="1" flipV="1">
            <a:off x="3227438" y="4080658"/>
            <a:ext cx="827918" cy="18071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5951EB-CE68-D949-9073-A9832CF8CF4A}"/>
              </a:ext>
            </a:extLst>
          </p:cNvPr>
          <p:cNvCxnSpPr>
            <a:cxnSpLocks/>
          </p:cNvCxnSpPr>
          <p:nvPr/>
        </p:nvCxnSpPr>
        <p:spPr>
          <a:xfrm flipH="1" flipV="1">
            <a:off x="3178041" y="2944346"/>
            <a:ext cx="827918" cy="18071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35F342-39C6-D14A-B096-861ABF96E03A}"/>
              </a:ext>
            </a:extLst>
          </p:cNvPr>
          <p:cNvCxnSpPr>
            <a:cxnSpLocks/>
          </p:cNvCxnSpPr>
          <p:nvPr/>
        </p:nvCxnSpPr>
        <p:spPr>
          <a:xfrm flipH="1" flipV="1">
            <a:off x="5058632" y="1691003"/>
            <a:ext cx="983276" cy="2259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522860-B325-034B-9888-9836C97F0632}"/>
              </a:ext>
            </a:extLst>
          </p:cNvPr>
          <p:cNvCxnSpPr>
            <a:cxnSpLocks/>
          </p:cNvCxnSpPr>
          <p:nvPr/>
        </p:nvCxnSpPr>
        <p:spPr>
          <a:xfrm flipH="1" flipV="1">
            <a:off x="6989384" y="1698416"/>
            <a:ext cx="983276" cy="2259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ECD326-988D-564E-8E77-13298B6DB680}"/>
              </a:ext>
            </a:extLst>
          </p:cNvPr>
          <p:cNvCxnSpPr>
            <a:cxnSpLocks/>
          </p:cNvCxnSpPr>
          <p:nvPr/>
        </p:nvCxnSpPr>
        <p:spPr>
          <a:xfrm flipH="1" flipV="1">
            <a:off x="7489342" y="3952000"/>
            <a:ext cx="935944" cy="4124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3CE6F21-C418-4448-989D-C1C164D2AD0F}"/>
              </a:ext>
            </a:extLst>
          </p:cNvPr>
          <p:cNvSpPr txBox="1"/>
          <p:nvPr/>
        </p:nvSpPr>
        <p:spPr>
          <a:xfrm>
            <a:off x="315793" y="4565269"/>
            <a:ext cx="6854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Adding Speed to a Delivery with Poor Quality, Security or Reliability = Continuous Delivery </a:t>
            </a:r>
            <a:r>
              <a:rPr lang="en-US" sz="1200" dirty="0">
                <a:solidFill>
                  <a:srgbClr val="FF0000"/>
                </a:solidFill>
              </a:rPr>
              <a:t>Failure</a:t>
            </a:r>
            <a:r>
              <a:rPr lang="en-US" sz="1200" dirty="0">
                <a:solidFill>
                  <a:schemeClr val="accent6"/>
                </a:solidFill>
              </a:rPr>
              <a:t>!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4756C8-2846-7245-A082-233E7FC08E79}"/>
              </a:ext>
            </a:extLst>
          </p:cNvPr>
          <p:cNvCxnSpPr>
            <a:cxnSpLocks/>
          </p:cNvCxnSpPr>
          <p:nvPr/>
        </p:nvCxnSpPr>
        <p:spPr>
          <a:xfrm flipH="1" flipV="1">
            <a:off x="5938787" y="4600930"/>
            <a:ext cx="519765" cy="20297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379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A382-40F9-124B-87F0-B53FADEB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CICD with High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57955-A6B1-F744-ACD3-5E69BEB28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B8C1E4-0F90-9B45-B0EC-6B9C36261916}"/>
              </a:ext>
            </a:extLst>
          </p:cNvPr>
          <p:cNvSpPr/>
          <p:nvPr/>
        </p:nvSpPr>
        <p:spPr>
          <a:xfrm>
            <a:off x="108518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</a:t>
            </a:r>
          </a:p>
          <a:p>
            <a:pPr algn="ctr"/>
            <a:r>
              <a:rPr lang="en-US" sz="1400" dirty="0"/>
              <a:t>Code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AD196F-0FB7-A74C-9E9E-437D1E84710C}"/>
              </a:ext>
            </a:extLst>
          </p:cNvPr>
          <p:cNvSpPr/>
          <p:nvPr/>
        </p:nvSpPr>
        <p:spPr>
          <a:xfrm>
            <a:off x="299677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Unit Tests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DA0954-7CC5-B045-9468-3962E541FF4D}"/>
              </a:ext>
            </a:extLst>
          </p:cNvPr>
          <p:cNvSpPr/>
          <p:nvPr/>
        </p:nvSpPr>
        <p:spPr>
          <a:xfrm>
            <a:off x="4908364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Sonar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3DAB1B-97BC-4648-98F6-9B35340A4DFA}"/>
              </a:ext>
            </a:extLst>
          </p:cNvPr>
          <p:cNvSpPr/>
          <p:nvPr/>
        </p:nvSpPr>
        <p:spPr>
          <a:xfrm>
            <a:off x="6819955" y="1486965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Fortify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CDCE7AE-8E26-7B45-87C8-61AED7845DB7}"/>
              </a:ext>
            </a:extLst>
          </p:cNvPr>
          <p:cNvSpPr/>
          <p:nvPr/>
        </p:nvSpPr>
        <p:spPr>
          <a:xfrm>
            <a:off x="108518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</a:t>
            </a:r>
            <a:r>
              <a:rPr lang="en-US" sz="1050" dirty="0"/>
              <a:t>Container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70876D-E50B-B54A-A869-016D892A46A5}"/>
              </a:ext>
            </a:extLst>
          </p:cNvPr>
          <p:cNvSpPr/>
          <p:nvPr/>
        </p:nvSpPr>
        <p:spPr>
          <a:xfrm>
            <a:off x="299677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Scan</a:t>
            </a:r>
            <a:r>
              <a:rPr lang="en-US" sz="1600" dirty="0"/>
              <a:t> </a:t>
            </a:r>
            <a:r>
              <a:rPr lang="en-US" sz="1050" dirty="0"/>
              <a:t>Container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8CDE6A5-F814-8E40-99C7-DDE460F8605D}"/>
              </a:ext>
            </a:extLst>
          </p:cNvPr>
          <p:cNvSpPr/>
          <p:nvPr/>
        </p:nvSpPr>
        <p:spPr>
          <a:xfrm>
            <a:off x="4908364" y="2696701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Upload to Repo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B32F17B-B7FF-1345-B979-5AF0AAA6C7FF}"/>
              </a:ext>
            </a:extLst>
          </p:cNvPr>
          <p:cNvSpPr/>
          <p:nvPr/>
        </p:nvSpPr>
        <p:spPr>
          <a:xfrm>
            <a:off x="1085184" y="3906438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Deploy to non-prod</a:t>
            </a:r>
            <a:endParaRPr lang="en-US" sz="1050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168BBE-3D74-E742-8D1F-72573073DC45}"/>
              </a:ext>
            </a:extLst>
          </p:cNvPr>
          <p:cNvSpPr/>
          <p:nvPr/>
        </p:nvSpPr>
        <p:spPr>
          <a:xfrm>
            <a:off x="2996774" y="3906438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Auto Tests</a:t>
            </a:r>
            <a:endParaRPr lang="en-US" sz="1050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7B865B9-5F20-5649-9A45-82BC2C64DF96}"/>
              </a:ext>
            </a:extLst>
          </p:cNvPr>
          <p:cNvSpPr/>
          <p:nvPr/>
        </p:nvSpPr>
        <p:spPr>
          <a:xfrm>
            <a:off x="4908364" y="3906437"/>
            <a:ext cx="1338773" cy="62454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Performance Tests</a:t>
            </a:r>
            <a:endParaRPr lang="en-US" sz="105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C3D273-138C-E74E-B2F4-D216A4454B43}"/>
              </a:ext>
            </a:extLst>
          </p:cNvPr>
          <p:cNvCxnSpPr>
            <a:stCxn id="9" idx="3"/>
            <a:endCxn id="18" idx="1"/>
          </p:cNvCxnSpPr>
          <p:nvPr/>
        </p:nvCxnSpPr>
        <p:spPr>
          <a:xfrm>
            <a:off x="2423957" y="1799239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DD94746-C400-754D-A476-49BA6BA22AD2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4335547" y="1799239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19DC75-86E3-694C-86B2-80C47A92D9A5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247137" y="1799239"/>
            <a:ext cx="57281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26879A0-3EEC-4B48-A7A8-A185BB79A2D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2423957" y="3008975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2BEB43-53BA-6E41-BC72-5990F46F577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>
            <a:off x="4335547" y="3008975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331E39-1863-8C47-9FEC-70FD73FF2119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2423957" y="4218712"/>
            <a:ext cx="572817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540F3A-8701-7247-8C9D-4F4F39F48A39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335547" y="4218711"/>
            <a:ext cx="572817" cy="1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B47E269-29A6-AC43-BDAA-D202651F515A}"/>
              </a:ext>
            </a:extLst>
          </p:cNvPr>
          <p:cNvSpPr/>
          <p:nvPr/>
        </p:nvSpPr>
        <p:spPr>
          <a:xfrm>
            <a:off x="7170362" y="3627358"/>
            <a:ext cx="1604597" cy="10997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Most </a:t>
            </a:r>
          </a:p>
          <a:p>
            <a:pPr algn="ctr"/>
            <a:r>
              <a:rPr lang="en-US" sz="1400" dirty="0"/>
              <a:t>Amazing Application </a:t>
            </a:r>
          </a:p>
          <a:p>
            <a:pPr algn="ctr"/>
            <a:r>
              <a:rPr lang="en-US" sz="1400" dirty="0"/>
              <a:t>in the World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F82703-4F29-604A-B739-806CE570818F}"/>
              </a:ext>
            </a:extLst>
          </p:cNvPr>
          <p:cNvSpPr txBox="1"/>
          <p:nvPr/>
        </p:nvSpPr>
        <p:spPr>
          <a:xfrm>
            <a:off x="7137754" y="329582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Production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C50527C-5141-B246-8F02-DF663881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92" y="1338002"/>
            <a:ext cx="526314" cy="1436695"/>
          </a:xfrm>
          <a:prstGeom prst="rect">
            <a:avLst/>
          </a:prstGeom>
        </p:spPr>
      </p:pic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9A7203CE-2394-194F-8C13-7E523F5A3C3D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H="1">
            <a:off x="1085184" y="1799239"/>
            <a:ext cx="7073544" cy="1209736"/>
          </a:xfrm>
          <a:prstGeom prst="bentConnector5">
            <a:avLst>
              <a:gd name="adj1" fmla="val -3232"/>
              <a:gd name="adj2" fmla="val 50000"/>
              <a:gd name="adj3" fmla="val 103232"/>
            </a:avLst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83529DB-24E5-F24A-949B-AA9D76B9A9B0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H="1">
            <a:off x="1085184" y="3008975"/>
            <a:ext cx="5161953" cy="1209737"/>
          </a:xfrm>
          <a:prstGeom prst="bentConnector5">
            <a:avLst>
              <a:gd name="adj1" fmla="val -4429"/>
              <a:gd name="adj2" fmla="val 50000"/>
              <a:gd name="adj3" fmla="val 104429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E527F77-E871-E14D-94AF-74AD5E9C3679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247137" y="4171014"/>
            <a:ext cx="923225" cy="6228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BF398C8-9C8F-CE40-902D-4145AE336C8C}"/>
              </a:ext>
            </a:extLst>
          </p:cNvPr>
          <p:cNvSpPr txBox="1"/>
          <p:nvPr/>
        </p:nvSpPr>
        <p:spPr>
          <a:xfrm>
            <a:off x="1085183" y="1171727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Source Code Build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E74456-EEC8-304B-AF9A-CE3F0D5CEB51}"/>
              </a:ext>
            </a:extLst>
          </p:cNvPr>
          <p:cNvSpPr txBox="1"/>
          <p:nvPr/>
        </p:nvSpPr>
        <p:spPr>
          <a:xfrm>
            <a:off x="1085183" y="2373344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Container Build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1012F3-9B8E-4940-A0D3-CADEF3818792}"/>
              </a:ext>
            </a:extLst>
          </p:cNvPr>
          <p:cNvSpPr txBox="1"/>
          <p:nvPr/>
        </p:nvSpPr>
        <p:spPr>
          <a:xfrm>
            <a:off x="1085183" y="358308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Runtime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CF3753-5C99-754C-BB15-229B409892E5}"/>
              </a:ext>
            </a:extLst>
          </p:cNvPr>
          <p:cNvSpPr txBox="1"/>
          <p:nvPr/>
        </p:nvSpPr>
        <p:spPr>
          <a:xfrm>
            <a:off x="71088" y="992470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Developer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2E028A-CDD7-6D48-A8FF-DA72AB48BF9D}"/>
              </a:ext>
            </a:extLst>
          </p:cNvPr>
          <p:cNvSpPr txBox="1"/>
          <p:nvPr/>
        </p:nvSpPr>
        <p:spPr>
          <a:xfrm>
            <a:off x="220263" y="4572875"/>
            <a:ext cx="65996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Adding Speed to a Delivery with Quality, Security or Reliability = Continuous Delivery </a:t>
            </a:r>
            <a:r>
              <a:rPr lang="en-US" sz="1200" dirty="0">
                <a:solidFill>
                  <a:schemeClr val="accent3"/>
                </a:solidFill>
              </a:rPr>
              <a:t>Success</a:t>
            </a:r>
            <a:r>
              <a:rPr lang="en-US" sz="1200" dirty="0">
                <a:solidFill>
                  <a:schemeClr val="accent6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24341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What About Container Security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566230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008F-86EB-E744-B2D9-62E8B021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ACA93-7985-204E-AA74-64333279BF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Eliminate All Potential Attack Vectors</a:t>
            </a:r>
          </a:p>
          <a:p>
            <a:pPr lvl="1"/>
            <a:r>
              <a:rPr lang="en-US" dirty="0"/>
              <a:t>Small and light weight containers</a:t>
            </a:r>
          </a:p>
          <a:p>
            <a:pPr lvl="2"/>
            <a:r>
              <a:rPr lang="en-US" dirty="0"/>
              <a:t>SSH</a:t>
            </a:r>
          </a:p>
          <a:p>
            <a:pPr lvl="1"/>
            <a:r>
              <a:rPr lang="en-US" dirty="0"/>
              <a:t>Service Account can only do exactly what is required (no root)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DD007-083A-2840-B4FF-D7D9D653AE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96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What About Network Security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875489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A17C-D522-4247-A85C-0F567F93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323402"/>
            <a:ext cx="7991856" cy="473202"/>
          </a:xfrm>
        </p:spPr>
        <p:txBody>
          <a:bodyPr/>
          <a:lstStyle/>
          <a:p>
            <a:r>
              <a:rPr lang="en-US" dirty="0"/>
              <a:t>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6E549-CEE0-CC49-B3B9-302A782DA9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9394" y="1042155"/>
            <a:ext cx="7982712" cy="990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Castle with Moat – Trust Everything Behind the Firewall</a:t>
            </a:r>
          </a:p>
          <a:p>
            <a:pPr lvl="1"/>
            <a:r>
              <a:rPr lang="en-US" sz="2000" dirty="0"/>
              <a:t>No TLS/SSL/HTTPS (no encryption)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C42F6-84C7-DB43-B946-627529EBC7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68D553-DB6A-B34B-80D6-0339036B2E4F}"/>
              </a:ext>
            </a:extLst>
          </p:cNvPr>
          <p:cNvSpPr txBox="1">
            <a:spLocks/>
          </p:cNvSpPr>
          <p:nvPr/>
        </p:nvSpPr>
        <p:spPr>
          <a:xfrm>
            <a:off x="439394" y="2466586"/>
            <a:ext cx="7982712" cy="1300413"/>
          </a:xfrm>
          <a:prstGeom prst="rect">
            <a:avLst/>
          </a:prstGeom>
          <a:noFill/>
        </p:spPr>
        <p:txBody>
          <a:bodyPr vert="horz" lIns="0" tIns="0" rIns="0" bIns="0" rtlCol="0">
            <a:normAutofit lnSpcReduction="10000"/>
          </a:bodyPr>
          <a:lstStyle>
            <a:lvl1pPr marL="257175" indent="-257175" algn="l" defTabSz="6858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ts val="675"/>
              </a:spcBef>
              <a:buClr>
                <a:schemeClr val="tx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Zero Trust – Assume the Attacker </a:t>
            </a:r>
          </a:p>
          <a:p>
            <a:pPr marL="0" indent="0">
              <a:buFont typeface="Arial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has already breached the Network</a:t>
            </a:r>
          </a:p>
          <a:p>
            <a:pPr lvl="1"/>
            <a:r>
              <a:rPr lang="en-US" sz="2000" dirty="0"/>
              <a:t>Everything Requires TLS/SSL/HTTPS (encryption)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D4536-341E-3C4D-8F68-5E551E990279}"/>
              </a:ext>
            </a:extLst>
          </p:cNvPr>
          <p:cNvSpPr txBox="1"/>
          <p:nvPr/>
        </p:nvSpPr>
        <p:spPr>
          <a:xfrm>
            <a:off x="3376362" y="1896800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VS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19CBC1-04DE-7249-8B63-E09996696373}"/>
              </a:ext>
            </a:extLst>
          </p:cNvPr>
          <p:cNvSpPr/>
          <p:nvPr/>
        </p:nvSpPr>
        <p:spPr>
          <a:xfrm>
            <a:off x="6168351" y="1213472"/>
            <a:ext cx="2361077" cy="2362643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FDB92A-CBF0-9D40-909E-DD1642BBE9F7}"/>
              </a:ext>
            </a:extLst>
          </p:cNvPr>
          <p:cNvSpPr/>
          <p:nvPr/>
        </p:nvSpPr>
        <p:spPr>
          <a:xfrm>
            <a:off x="6513897" y="1558710"/>
            <a:ext cx="1669983" cy="1672165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D8A09-B909-DE44-B09B-9105C61D3CDD}"/>
              </a:ext>
            </a:extLst>
          </p:cNvPr>
          <p:cNvSpPr/>
          <p:nvPr/>
        </p:nvSpPr>
        <p:spPr>
          <a:xfrm>
            <a:off x="7138735" y="1940479"/>
            <a:ext cx="847023" cy="2435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04022B-F080-5D45-9D73-BE93A5264EAE}"/>
              </a:ext>
            </a:extLst>
          </p:cNvPr>
          <p:cNvSpPr/>
          <p:nvPr/>
        </p:nvSpPr>
        <p:spPr>
          <a:xfrm>
            <a:off x="7138735" y="2264615"/>
            <a:ext cx="847023" cy="24352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68BC3-8E58-7040-8ECF-6109A10D7EC5}"/>
              </a:ext>
            </a:extLst>
          </p:cNvPr>
          <p:cNvSpPr/>
          <p:nvPr/>
        </p:nvSpPr>
        <p:spPr>
          <a:xfrm>
            <a:off x="7138736" y="2588751"/>
            <a:ext cx="847023" cy="243526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3B6B0-CCEF-6A40-979A-A2DE7DD31FE0}"/>
              </a:ext>
            </a:extLst>
          </p:cNvPr>
          <p:cNvSpPr txBox="1"/>
          <p:nvPr/>
        </p:nvSpPr>
        <p:spPr>
          <a:xfrm>
            <a:off x="7008037" y="1281711"/>
            <a:ext cx="681702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firewall</a:t>
            </a:r>
          </a:p>
        </p:txBody>
      </p:sp>
    </p:spTree>
    <p:extLst>
      <p:ext uri="{BB962C8B-B14F-4D97-AF65-F5344CB8AC3E}">
        <p14:creationId xmlns:p14="http://schemas.microsoft.com/office/powerpoint/2010/main" val="1015172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1660525" y="1387403"/>
            <a:ext cx="5822950" cy="2181102"/>
          </a:xfrm>
        </p:spPr>
        <p:txBody>
          <a:bodyPr/>
          <a:lstStyle/>
          <a:p>
            <a:r>
              <a:rPr lang="en-US" sz="4400" b="1" dirty="0"/>
              <a:t>What Else Can We Do?</a:t>
            </a:r>
          </a:p>
          <a:p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35389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3241-FAC4-9C43-9CB5-DE7830E6D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I Left Anything 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93131-8D00-2342-8AAA-5E914CDF08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Automate the Security Scan in your Pipeline.</a:t>
            </a:r>
          </a:p>
          <a:p>
            <a:pPr lvl="1"/>
            <a:r>
              <a:rPr lang="en-US" sz="1800" dirty="0"/>
              <a:t>Guarantee that it is impossible to deploy to production without running through all security scan tools in your pipeline</a:t>
            </a:r>
          </a:p>
          <a:p>
            <a:r>
              <a:rPr lang="en-US" sz="1800" dirty="0"/>
              <a:t>Docker Container Security</a:t>
            </a:r>
          </a:p>
          <a:p>
            <a:r>
              <a:rPr lang="en-US" sz="1800" dirty="0"/>
              <a:t>Network Security</a:t>
            </a:r>
          </a:p>
          <a:p>
            <a:r>
              <a:rPr lang="en-US" dirty="0">
                <a:solidFill>
                  <a:schemeClr val="accent1"/>
                </a:solidFill>
              </a:rPr>
              <a:t>What Else Can We Do?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Teach Developers OWASP Top Ten Security Vulnerabilities and How to Avoid Them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Anything Else?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2A45E-F60D-7A45-9C4B-8551587EA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792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F74F-8BEA-2F41-AF00-C619D5CB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DevOps Principles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195FAA-B00C-CA40-92EA-83F57DF89FA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211942" y="1034823"/>
            <a:ext cx="6787629" cy="38549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09247-8FF9-F948-B393-60DBD52353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5370D-4E78-C44F-8DB3-41D140BF8DE9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008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DB91-B0FD-354A-B7B3-29D63B52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 North Star</a:t>
            </a: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923C1139-059E-544D-873E-86CBF30AB261}"/>
              </a:ext>
            </a:extLst>
          </p:cNvPr>
          <p:cNvSpPr/>
          <p:nvPr/>
        </p:nvSpPr>
        <p:spPr>
          <a:xfrm>
            <a:off x="2857500" y="1605635"/>
            <a:ext cx="3429000" cy="3429000"/>
          </a:xfrm>
          <a:prstGeom prst="star5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DD6EF-A2E7-1A4C-993C-04D23DBDE571}"/>
              </a:ext>
            </a:extLst>
          </p:cNvPr>
          <p:cNvSpPr txBox="1"/>
          <p:nvPr/>
        </p:nvSpPr>
        <p:spPr>
          <a:xfrm>
            <a:off x="3979530" y="1097804"/>
            <a:ext cx="118494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Speed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E9EEB-1BCF-854B-B832-1C60578B2E93}"/>
              </a:ext>
            </a:extLst>
          </p:cNvPr>
          <p:cNvSpPr txBox="1"/>
          <p:nvPr/>
        </p:nvSpPr>
        <p:spPr>
          <a:xfrm>
            <a:off x="6372163" y="2591095"/>
            <a:ext cx="143500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9E8A6-0C70-0847-B5C3-305D3D0587E5}"/>
              </a:ext>
            </a:extLst>
          </p:cNvPr>
          <p:cNvSpPr txBox="1"/>
          <p:nvPr/>
        </p:nvSpPr>
        <p:spPr>
          <a:xfrm>
            <a:off x="5827783" y="4526804"/>
            <a:ext cx="12618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Quality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42A7E-B1B7-874F-AEEB-7A6F17D011D9}"/>
              </a:ext>
            </a:extLst>
          </p:cNvPr>
          <p:cNvSpPr txBox="1"/>
          <p:nvPr/>
        </p:nvSpPr>
        <p:spPr>
          <a:xfrm>
            <a:off x="1771602" y="4526803"/>
            <a:ext cx="16658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Reliability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EAAD8-12AC-B644-ADBA-5F4A28EC0F97}"/>
              </a:ext>
            </a:extLst>
          </p:cNvPr>
          <p:cNvSpPr txBox="1"/>
          <p:nvPr/>
        </p:nvSpPr>
        <p:spPr>
          <a:xfrm>
            <a:off x="1866352" y="2558388"/>
            <a:ext cx="89639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76992" y="2904636"/>
            <a:ext cx="1990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Engineering Excellence</a:t>
            </a:r>
          </a:p>
        </p:txBody>
      </p:sp>
    </p:spTree>
    <p:extLst>
      <p:ext uri="{BB962C8B-B14F-4D97-AF65-F5344CB8AC3E}">
        <p14:creationId xmlns:p14="http://schemas.microsoft.com/office/powerpoint/2010/main" val="60371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UHG">
  <a:themeElements>
    <a:clrScheme name="UGH Theme colors">
      <a:dk1>
        <a:srgbClr val="424242"/>
      </a:dk1>
      <a:lt1>
        <a:srgbClr val="FFFFFF"/>
      </a:lt1>
      <a:dk2>
        <a:srgbClr val="424242"/>
      </a:dk2>
      <a:lt2>
        <a:srgbClr val="DADADA"/>
      </a:lt2>
      <a:accent1>
        <a:srgbClr val="003C71"/>
      </a:accent1>
      <a:accent2>
        <a:srgbClr val="0066F5"/>
      </a:accent2>
      <a:accent3>
        <a:srgbClr val="009104"/>
      </a:accent3>
      <a:accent4>
        <a:srgbClr val="AACE15"/>
      </a:accent4>
      <a:accent5>
        <a:srgbClr val="FCAE00"/>
      </a:accent5>
      <a:accent6>
        <a:srgbClr val="FFDA03"/>
      </a:accent6>
      <a:hlink>
        <a:srgbClr val="0066F5"/>
      </a:hlink>
      <a:folHlink>
        <a:srgbClr val="0066F5"/>
      </a:folHlink>
    </a:clrScheme>
    <a:fontScheme name="UnitedHealth Grou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HG_BrandRefresh_PPT__opt220_nophotos_16-9-MV" id="{115E492A-1337-476D-B556-3D627CFA40B0}" vid="{CBC53A3B-B7F6-435C-906E-313CA276B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C84DC1AF0AA74E86B30FB83D58FFAC" ma:contentTypeVersion="21" ma:contentTypeDescription="Create a new document." ma:contentTypeScope="" ma:versionID="4b80edce987bb7575eeed5c4c4851971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62b37e1f0a60323fad4d4a885905895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/>
    <Synchronization>Asynchronous</Synchronization>
    <Type>10002</Type>
    <SequenceNumber>10000</SequenceNumber>
    <Url/>
    <Assembly>Optum_EPI_Common, Version=1.0.0.0, Culture=neutral, PublicKeyToken=f1423e9e7790b317</Assembly>
    <Class>Optum_EPI_Common.Event_Receivers.Auditing.AuditingEvents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7D95CE8-B64C-4BBF-9AD2-B1B555F7AE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AFA080-7381-4A49-A180-D43F226DE7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405FE7-467C-420A-A587-D84024DA00D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0C8E744A-D351-4BA2-B694-CBBBF8BF0952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UHG_BrandRefresh_PPT__opt220_nophotos_16-9-MV</Template>
  <TotalTime>11645</TotalTime>
  <Words>1814</Words>
  <Application>Microsoft Macintosh PowerPoint</Application>
  <PresentationFormat>On-screen Show (16:9)</PresentationFormat>
  <Paragraphs>338</Paragraphs>
  <Slides>39</Slides>
  <Notes>24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ＭＳ Ｐゴシック</vt:lpstr>
      <vt:lpstr>Arial</vt:lpstr>
      <vt:lpstr>Calibri</vt:lpstr>
      <vt:lpstr>Calisto MT</vt:lpstr>
      <vt:lpstr>Wingdings</vt:lpstr>
      <vt:lpstr>UHG</vt:lpstr>
      <vt:lpstr>think-cell Slide</vt:lpstr>
      <vt:lpstr>PowerPoint Presentation</vt:lpstr>
      <vt:lpstr>Eric Starr</vt:lpstr>
      <vt:lpstr>What is a Zero Day Attack</vt:lpstr>
      <vt:lpstr>Steps Necessary to be Attacked</vt:lpstr>
      <vt:lpstr>PowerPoint Presentation</vt:lpstr>
      <vt:lpstr>PowerPoint Presentation</vt:lpstr>
      <vt:lpstr>HealthCare.gov – Initial Launch</vt:lpstr>
      <vt:lpstr>PowerPoint Presentation</vt:lpstr>
      <vt:lpstr>HealthCare.gov</vt:lpstr>
      <vt:lpstr>PowerPoint Presentation</vt:lpstr>
      <vt:lpstr>PowerPoint Presentation</vt:lpstr>
      <vt:lpstr>People, Process, Technology</vt:lpstr>
      <vt:lpstr>PowerPoint Presentation</vt:lpstr>
      <vt:lpstr>Security Timeline for Healthcare.gov</vt:lpstr>
      <vt:lpstr>Security Timeline for Healthcare.gov</vt:lpstr>
      <vt:lpstr>Security Timeline for Healthcare.gov</vt:lpstr>
      <vt:lpstr>Security Timeline for Healthcare.gov</vt:lpstr>
      <vt:lpstr>PowerPoint Presentation</vt:lpstr>
      <vt:lpstr>Developers – The First Line of Defense</vt:lpstr>
      <vt:lpstr>PowerPoint Presentation</vt:lpstr>
      <vt:lpstr>PowerPoint Presentation</vt:lpstr>
      <vt:lpstr>DevOps Beginners Discover the  Power of Automation</vt:lpstr>
      <vt:lpstr>Automation without a Pipeline</vt:lpstr>
      <vt:lpstr>Automation with a Pipeline</vt:lpstr>
      <vt:lpstr>PowerPoint Presentation</vt:lpstr>
      <vt:lpstr>Pipeline CICD Phases</vt:lpstr>
      <vt:lpstr>Source Code Build</vt:lpstr>
      <vt:lpstr>Docker Container Build</vt:lpstr>
      <vt:lpstr>Runtime – Pre-Prod</vt:lpstr>
      <vt:lpstr>Skipping Security Steps to go Faster</vt:lpstr>
      <vt:lpstr>CICD with High Security</vt:lpstr>
      <vt:lpstr>PowerPoint Presentation</vt:lpstr>
      <vt:lpstr>Container Security</vt:lpstr>
      <vt:lpstr>PowerPoint Presentation</vt:lpstr>
      <vt:lpstr>Network Security</vt:lpstr>
      <vt:lpstr>PowerPoint Presentation</vt:lpstr>
      <vt:lpstr>Have I Left Anything Out?</vt:lpstr>
      <vt:lpstr>3 DevOps Principles</vt:lpstr>
      <vt:lpstr>DevOps North Star</vt:lpstr>
    </vt:vector>
  </TitlesOfParts>
  <Company>UnitedHealth Group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Viens</dc:creator>
  <cp:lastModifiedBy>Microsoft Office User</cp:lastModifiedBy>
  <cp:revision>162</cp:revision>
  <dcterms:created xsi:type="dcterms:W3CDTF">2017-06-27T01:28:41Z</dcterms:created>
  <dcterms:modified xsi:type="dcterms:W3CDTF">2019-10-14T16:26:50Z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0x01010036C84DC1AF0AA74E86B30FB83D58FFAC</vt:lpwstr>
  </property>
</Properties>
</file>